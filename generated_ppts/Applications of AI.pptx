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Introduction: Applications of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Welcome to the 'Applications of AI' unit, exploring foundational and modern AI paradigms.</a:t>
            </a:r>
          </a:p>
          <a:p>
            <a:r>
              <a:t>This unit delves into both symbolic AI approaches, focusing on knowledge representation and reasoning.</a:t>
            </a:r>
          </a:p>
          <a:p>
            <a:r>
              <a:t>We will also explore the paradigm shift towards machine learning, understanding its core concepts and methodologies.</a:t>
            </a:r>
          </a:p>
          <a:p>
            <a:r>
              <a:t>Emphasis will be placed on practical applications and the underlying theoretical principles of each AI technique.</a:t>
            </a:r>
          </a:p>
          <a:p>
            <a:r>
              <a:t>Prepare to engage with concepts from formal logic to complex data-driven predictive models.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Logic and Reasoning: The Foundation of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Logic and reasoning form the cornerstone of symbolic AI, enabling systems to infer new knowledge from existing facts.</a:t>
            </a:r>
          </a:p>
          <a:p>
            <a:r>
              <a:t>This approach aims to mimic human rational thought processes, making explicit knowledge manageable.</a:t>
            </a:r>
          </a:p>
          <a:p>
            <a:r>
              <a:t>Knowledge representation in logic involves encoding information as a set of logical sentences or propositions.</a:t>
            </a:r>
          </a:p>
          <a:p>
            <a:r>
              <a:t>Reasoning mechanisms then apply inference rules to deduce conclusions, ensuring their validity.</a:t>
            </a:r>
          </a:p>
          <a:p>
            <a:r>
              <a:t>It provides a clear, verifiable framework for AI systems, crucial in domains requiring transparency and justification.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Propositional Logic: Basic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Propositional logic (PL) is the simplest form of logic, dealing with statements that are either true or false.</a:t>
            </a:r>
          </a:p>
          <a:p>
            <a:r>
              <a:t>Atomic propositions are basic declarative sentences (e.g., 'It is raining'), represented by symbols (P, Q, R).</a:t>
            </a:r>
          </a:p>
          <a:p>
            <a:r>
              <a:t>Compound propositions are formed by connecting atomic propositions using logical connectives.</a:t>
            </a:r>
          </a:p>
          <a:p>
            <a:r>
              <a:t>Key connectives include AND (∧), OR (∨), NOT (¬), IMPLIES (→), and EQUIVALENCE (↔).</a:t>
            </a:r>
          </a:p>
          <a:p>
            <a:r>
              <a:t>Truth tables are used to define the semantics of these connectives and determine the truth value of complex statements.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and Semantics of Propositional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Syntax dictates the well-formed formulas (WFFs) in PL, ensuring grammatically correct logical expressions.</a:t>
            </a:r>
          </a:p>
          <a:p>
            <a:r>
              <a:t>A WFF is either an atomic proposition or formed by applying connectives to existing WFFs according to rules.</a:t>
            </a:r>
          </a:p>
          <a:p>
            <a:r>
              <a:t>Semantics assigns meaning to WFFs by defining their truth values based on interpretations (truth assignments to atoms).</a:t>
            </a:r>
          </a:p>
          <a:p>
            <a:r>
              <a:t>An interpretation is a mapping from propositional symbols to truth values (True/False).</a:t>
            </a:r>
          </a:p>
          <a:p>
            <a:r>
              <a:t>A model is an interpretation where all sentences in a knowledge base are true; it represents a possible world.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in Propositional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Inference in PL involves deriving new logical sentences from a set of initial sentences (knowledge base) using inference rules.</a:t>
            </a:r>
          </a:p>
          <a:p>
            <a:r>
              <a:t>Modus Ponens is a fundamental rule: From (P → Q) and P, infer Q.</a:t>
            </a:r>
          </a:p>
          <a:p>
            <a:r>
              <a:t>Resolution is a powerful inference rule, particularly useful for automated theorem proving by refutation.</a:t>
            </a:r>
          </a:p>
          <a:p>
            <a:r>
              <a:t>Forward chaining starts with known facts and applies rules to infer new facts until the goal is reached.</a:t>
            </a:r>
          </a:p>
          <a:p>
            <a:r>
              <a:t>Backward chaining starts from the goal and works backward to find facts that support it, proving its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of Propositional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PL lacks the ability to represent relationships between objects or express general statements about groups of objects.</a:t>
            </a:r>
          </a:p>
          <a:p>
            <a:r>
              <a:t>It cannot quantify over variables, making it difficult to express statements like 'All birds can fly'.</a:t>
            </a:r>
          </a:p>
          <a:p>
            <a:r>
              <a:t>Each specific instance or fact requires its own unique propositional symbol, leading to a proliferation of symbols.</a:t>
            </a:r>
          </a:p>
          <a:p>
            <a:r>
              <a:t>For example, to state 'Socrates is a human' and 'Plato is a human' requires two distinct propositions.</a:t>
            </a:r>
          </a:p>
          <a:p>
            <a:r>
              <a:t>These limitations restrict its applicability to complex real-world problems requiring fine-grained detail and generalization.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Predicate Logic (First-Order Logic): Expanding Expressiveness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Predicate Logic, also known as First-Order Logic (FOL), overcomes the limitations of Propositional Logic.</a:t>
            </a:r>
          </a:p>
          <a:p>
            <a:r>
              <a:t>It allows for the representation of objects, properties of objects, and relationships between objects.</a:t>
            </a:r>
          </a:p>
          <a:p>
            <a:r>
              <a:t>FOL is a more expressive language for knowledge representation, capable of capturing more nuanced meanings.</a:t>
            </a:r>
          </a:p>
          <a:p>
            <a:r>
              <a:t>It forms the basis for many advanced AI systems, particularly in areas like logical reasoning and knowledge graphs.</a:t>
            </a:r>
          </a:p>
          <a:p>
            <a:r>
              <a:t>FOL introduces predicates, functions, and quantifiers, enabling rich and detailed declarative knowledge.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of Predicate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FOL syntax includes constants (specific objects: 'John', '2'), variables (x, y, z for any object).</a:t>
            </a:r>
          </a:p>
          <a:p>
            <a:r>
              <a:t>Predicates represent properties of objects (e.g., 'IsHuman(John)') or relations between objects (e.g., 'Likes(John, Mary)').</a:t>
            </a:r>
          </a:p>
          <a:p>
            <a:r>
              <a:t>Functions map tuples of objects to single objects (e.g., 'FatherOf(John)' returns John's father).</a:t>
            </a:r>
          </a:p>
          <a:p>
            <a:r>
              <a:t>Atomic sentences are formed by a predicate symbol followed by a list of terms (constants, variables, functions).</a:t>
            </a:r>
          </a:p>
          <a:p>
            <a:r>
              <a:t>Complex sentences are built using logical connectives (¬, ∧, ∨, →, ↔) and quantifiers (∀, ∃) on atomic sentences.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Semantics of Predicate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Semantics in FOL assigns meaning to terms and formulas within an interpretation or model.</a:t>
            </a:r>
          </a:p>
          <a:p>
            <a:r>
              <a:t>An interpretation specifies a domain of discourse (a set of objects) and maps constants to objects, predicates to relations, and functions to functions over this domain.</a:t>
            </a:r>
          </a:p>
          <a:p>
            <a:r>
              <a:t>A ground term refers to an object in the domain, while a variable can refer to any object.</a:t>
            </a:r>
          </a:p>
          <a:p>
            <a:r>
              <a:t>The truth value of an atomic sentence is determined by whether the objects referred to by its terms satisfy the relation defined by the predicate.</a:t>
            </a:r>
          </a:p>
          <a:p>
            <a:r>
              <a:t>The truth of complex sentences is evaluated based on the truth values of their components and the definitions of connectives and quantifiers.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Quantifiers and Their 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Quantifiers allow expressing statements about collections of objects rather than just individuals.</a:t>
            </a:r>
          </a:p>
          <a:p>
            <a:r>
              <a:t>The Universal Quantifier (∀, 'for all') asserts that a property holds for every object in the domain.</a:t>
            </a:r>
          </a:p>
          <a:p>
            <a:r>
              <a:t>Example: ∀x (IsHuman(x) → HasTwoLegs(x)) means 'All humans have two legs'.</a:t>
            </a:r>
          </a:p>
          <a:p>
            <a:r>
              <a:t>The Existential Quantifier (∃, 'there exists') asserts that a property holds for at least one object in the domain.</a:t>
            </a:r>
          </a:p>
          <a:p>
            <a:r>
              <a:t>Example: ∃x (IsStudent(x) ∧ StudiesAI(x)) means 'There exists at least one student who studies AI'.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in Predicate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Inference in FOL is more complex than PL due to variables and quantifiers, requiring more sophisticated methods.</a:t>
            </a:r>
          </a:p>
          <a:p>
            <a:r>
              <a:t>Generalization (Universal Elimination) allows inferring specific instances from universally quantified statements.</a:t>
            </a:r>
          </a:p>
          <a:p>
            <a:r>
              <a:t>Unification is a key process that finds substitutions for variables to make two logical expressions identical.</a:t>
            </a:r>
          </a:p>
          <a:p>
            <a:r>
              <a:t>Resolution in FOL extends propositional resolution by incorporating unification to handle variables and generate new clauses.</a:t>
            </a:r>
          </a:p>
          <a:p>
            <a:r>
              <a:t>Skolemization is used to eliminate existential quantifiers by introducing Skolem constants or functions to simplify formulas for resolution.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Semantic Networks: Visualizing Knowledge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Semantic Networks are a knowledge representation technique that visually represents concepts and their relationships.</a:t>
            </a:r>
          </a:p>
          <a:p>
            <a:r>
              <a:t>They use a graph structure where nodes represent concepts, objects, or events.</a:t>
            </a:r>
          </a:p>
          <a:p>
            <a:r>
              <a:t>Arcs (or links) represent relationships between these nodes, illustrating how concepts connect.</a:t>
            </a:r>
          </a:p>
          <a:p>
            <a:r>
              <a:t>Semantic networks are intuitive and human-readable, making complex relationships easier to understand.</a:t>
            </a:r>
          </a:p>
          <a:p>
            <a:r>
              <a:t>They provide a flexible way to model diverse types of knowledge, from taxonomic hierarchies to causal relationships.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are Semantic Networks?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semantic network is a directed or undirected graph consisting of nodes and labeled edges (arcs).</a:t>
            </a:r>
          </a:p>
          <a:p>
            <a:r>
              <a:t>Nodes typically represent entities, attributes, or values (e.g., 'Dog', 'Mammal', 'HasTail').</a:t>
            </a:r>
          </a:p>
          <a:p>
            <a:r>
              <a:t>Edges represent semantic relations between nodes (e.g., 'is-a', 'has-part', 'can-do').</a:t>
            </a:r>
          </a:p>
          <a:p>
            <a:r>
              <a:t>The 'is-a' link is particularly important for representing class-subclass relationships and inheritance.</a:t>
            </a:r>
          </a:p>
          <a:p>
            <a:r>
              <a:t>Early examples include Quillian's Teachable Language Comprehender and the network models used in natural language processing.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Components of Semantic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Nodes: Abstract concepts, concrete objects, or instances in the knowledge domain.</a:t>
            </a:r>
          </a:p>
          <a:p>
            <a:r>
              <a:t>Edges (Links/Arcs): Labeled connections between nodes, representing specific relationships.</a:t>
            </a:r>
          </a:p>
          <a:p>
            <a:r>
              <a:t>Common link types: 'is-a' (subclass/superclass), 'part-of' (component/whole), 'has-property' (object/attribute).</a:t>
            </a:r>
          </a:p>
          <a:p>
            <a:r>
              <a:t>Directed edges indicate the direction of the relationship (e.g., 'A_is_a_B' implies 'A' is a specific kind of 'B').</a:t>
            </a:r>
          </a:p>
          <a:p>
            <a:r>
              <a:t>The network's structure allows for visual representation of ontological relationships and object properties.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Inheritance and Default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Semantic networks inherently support inheritance, where properties of a superclass are inherited by its subclasses.</a:t>
            </a:r>
          </a:p>
          <a:p>
            <a:r>
              <a:t>For example, if 'Mammal has-property Warm-Blooded', then 'Dog', being a 'is-a Mammal', inherits 'Warm-Blooded'.</a:t>
            </a:r>
          </a:p>
          <a:p>
            <a:r>
              <a:t>This reduces redundancy in knowledge representation and allows for efficient retrieval of information.</a:t>
            </a:r>
          </a:p>
          <a:p>
            <a:r>
              <a:t>Default reasoning can also be modeled, allowing subclasses to override inherited properties (e.g., 'Ostrich is-a Bird' but 'Ostrich can-not fly').</a:t>
            </a:r>
          </a:p>
          <a:p>
            <a:r>
              <a:t>However, managing exceptions and conflicting inherited properties can become complex in large networks.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Strengths and Weaknesses of Semantic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Strengths: Intuitive visual representation, good for hierarchical and relational knowledge, efficient inheritance mechanisms.</a:t>
            </a:r>
          </a:p>
          <a:p>
            <a:r>
              <a:t>They are particularly effective for knowledge domains with well-defined categories and relationships.</a:t>
            </a:r>
          </a:p>
          <a:p>
            <a:r>
              <a:t>Weaknesses: Representing complex logical constructs (e.g., disjunction, negation, quantification) can be awkward or impossible.</a:t>
            </a:r>
          </a:p>
          <a:p>
            <a:r>
              <a:t>The meaning of links can sometimes be ambiguous without strict formalization, leading to misinterpretations.</a:t>
            </a:r>
          </a:p>
          <a:p>
            <a:r>
              <a:t>Scalability issues arise with extremely large networks where managing consistency and search paths becomes challenging.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Beyond Simple Networks: Structured Knowledge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While semantic networks are powerful, they can become cumbersome for representing highly structured, stereotypical knowledge.</a:t>
            </a:r>
          </a:p>
          <a:p>
            <a:r>
              <a:t>Complex real-world scenarios often involve knowledge that is organized into typical situations, objects, or events.</a:t>
            </a:r>
          </a:p>
          <a:p>
            <a:r>
              <a:t>This led to the development of more organized knowledge representation schemes like frames and scripts.</a:t>
            </a:r>
          </a:p>
          <a:p>
            <a:r>
              <a:t>These approaches aim to capture the 'common sense' expectations associated with various entities and situations.</a:t>
            </a:r>
          </a:p>
          <a:p>
            <a:r>
              <a:t>They provide a framework for organizing related pieces of information into coherent, reusable units.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Frames: Structure and Slots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frame is a data structure for representing a stereotypical situation, object, or event.</a:t>
            </a:r>
          </a:p>
          <a:p>
            <a:r>
              <a:t>It consists of a collection of 'slots' and 'fillers' that describe the attributes and values of the entity being represented.</a:t>
            </a:r>
          </a:p>
          <a:p>
            <a:r>
              <a:t>Slots can contain various types of information: default values, rules, procedures, other frames, or even pointers to other frames.</a:t>
            </a:r>
          </a:p>
          <a:p>
            <a:r>
              <a:t>Example: A 'Car' frame might have slots for 'Manufacturer', 'Model', 'Color', 'EngineType', 'Number_of_Wheels'.</a:t>
            </a:r>
          </a:p>
          <a:p>
            <a:r>
              <a:t>Frames provide a strong organizational principle, allowing for structured knowledge representation.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Frame Inheritance and Demons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Frames support inheritance, similar to object-oriented programming, where a sub-frame inherits slots and values from its super-frame.</a:t>
            </a:r>
          </a:p>
          <a:p>
            <a:r>
              <a:t>This allows for creating hierarchies of frames, reducing redundancy and promoting reusability of knowledge.</a:t>
            </a:r>
          </a:p>
          <a:p>
            <a:r>
              <a:t>Default values in slots can be overridden by specific instances or sub-frames, allowing for exceptions.</a:t>
            </a:r>
          </a:p>
          <a:p>
            <a:r>
              <a:t>Demons (or procedural attachments) are procedures associated with slots, triggered when a slot is accessed or modified.</a:t>
            </a:r>
          </a:p>
          <a:p>
            <a:r>
              <a:t>Examples of demons include 'if-added' (execute when a value is added) and 'if-needed' (compute a value if requested).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Scripts: Representing Event Sequences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Scripts are a specialized type of frame, proposed by Roger Schank, designed to represent stereotypical sequences of events.</a:t>
            </a:r>
          </a:p>
          <a:p>
            <a:r>
              <a:t>They provide a structured representation for common situations like 'going to a restaurant' or 'visiting a doctor'.</a:t>
            </a:r>
          </a:p>
          <a:p>
            <a:r>
              <a:t>A script consists of a set of slots describing components like entry conditions, roles, props, scenes, and results.</a:t>
            </a:r>
          </a:p>
          <a:p>
            <a:r>
              <a:t>The 'scenes' slot outlines the sequence of actions and events that typically occur in that situation.</a:t>
            </a:r>
          </a:p>
          <a:p>
            <a:r>
              <a:t>Scripts help AI systems understand and generate narratives by providing expectations about event flow.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Advantages and Applications of Frames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Advantages: Provide a structured and organized way to represent complex knowledge, support default reasoning and inheritance, and handle expectations.</a:t>
            </a:r>
          </a:p>
          <a:p>
            <a:r>
              <a:t>Frames are excellent for representing objects, concepts, and classes in a hierarchical manner.</a:t>
            </a:r>
          </a:p>
          <a:p>
            <a:r>
              <a:t>Scripts are highly effective for understanding and generating stories or common social situations.</a:t>
            </a:r>
          </a:p>
          <a:p>
            <a:r>
              <a:t>Applications include natural language understanding, story comprehension, planning, and expert systems.</a:t>
            </a:r>
          </a:p>
          <a:p>
            <a:r>
              <a:t>They allow AI systems to make reasonable inferences based on typical knowledge without requiring exhaustive logical deduction for every detail.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Expert Systems: Emulating Human Expertise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Expert Systems (ES) are AI programs designed to emulate the decision-making ability of a human expert in a specific domain.</a:t>
            </a:r>
          </a:p>
          <a:p>
            <a:r>
              <a:t>They leverage a vast amount of domain-specific knowledge, often heuristic, to solve complex problems.</a:t>
            </a:r>
          </a:p>
          <a:p>
            <a:r>
              <a:t>Unlike conventional programs, ES separate knowledge from control, making them flexible and easier to update.</a:t>
            </a:r>
          </a:p>
          <a:p>
            <a:r>
              <a:t>Early ES, like MYCIN for medical diagnosis, demonstrated significant success in their narrow domains.</a:t>
            </a:r>
          </a:p>
          <a:p>
            <a:r>
              <a:t>They aim to provide advice, explanations, and justifications, making their reasoning transparent to the user.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of an Expert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Knowledge Base: Contains facts, rules, and heuristics about the domain, typically expressed as IF-THEN rules.</a:t>
            </a:r>
          </a:p>
          <a:p>
            <a:r>
              <a:t>Inference Engine: The 'brain' that processes the knowledge base and makes deductions or provides recommendations.</a:t>
            </a:r>
          </a:p>
          <a:p>
            <a:r>
              <a:t>Working Memory/Blackboard: Stores facts about the current problem instance, gathered from the user or sensors.</a:t>
            </a:r>
          </a:p>
          <a:p>
            <a:r>
              <a:t>User Interface: Facilitates communication between the user and the expert system, often including explanation facilities.</a:t>
            </a:r>
          </a:p>
          <a:p>
            <a:r>
              <a:t>Knowledge Acquisition Subsystem: Tools and methods used to elicit, formalize, and store knowledge from human experts.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Knowledge Acquisition and Representation in 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Knowledge acquisition is the process of extracting, structuring, and organizing knowledge from human experts.</a:t>
            </a:r>
          </a:p>
          <a:p>
            <a:r>
              <a:t>This often involves interviews, observation, and analysis of case studies by a 'knowledge engineer'.</a:t>
            </a:r>
          </a:p>
          <a:p>
            <a:r>
              <a:t>Representation typically uses production rules (IF-THEN statements) due to their modularity and expressiveness for heuristic knowledge.</a:t>
            </a:r>
          </a:p>
          <a:p>
            <a:r>
              <a:t>Example: IF (patient has fever) AND (patient has cough) THEN (patient might have flu).</a:t>
            </a:r>
          </a:p>
          <a:p>
            <a:r>
              <a:t>Other representation methods like semantic networks and frames can also be integrated for richer knowledge models.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Inference Engines: Forward and Backward Chaining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inference engine determines how the ES uses its knowledge to reach conclusions.</a:t>
            </a:r>
          </a:p>
          <a:p>
            <a:r>
              <a:t>Forward Chaining (data-driven): Starts with known facts in the working memory and applies rules to deduce new facts.</a:t>
            </a:r>
          </a:p>
          <a:p>
            <a:r>
              <a:t>It proceeds until no more rules can be fired or a goal is reached; suitable for prediction or monitoring.</a:t>
            </a:r>
          </a:p>
          <a:p>
            <a:r>
              <a:t>Backward Chaining (goal-driven): Starts with a hypothetical conclusion (goal) and works backward to find facts that support it.</a:t>
            </a:r>
          </a:p>
          <a:p>
            <a:r>
              <a:t>It queries the user for unknown facts if needed; suitable for diagnosis or recommendation tasks.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and Limitations of Expert Systems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Applications: Medical diagnosis (MYCIN), financial planning, fault detection, configuration (R1/XCON), scheduling, and process control.</a:t>
            </a:r>
          </a:p>
          <a:p>
            <a:r>
              <a:t>ES are particularly valuable in domains where human expertise is scarce or needs to be widely distributed.</a:t>
            </a:r>
          </a:p>
          <a:p>
            <a:r>
              <a:t>Limitations: Knowledge acquisition is a bottleneck, as eliciting expert knowledge is time-consuming and difficult.</a:t>
            </a:r>
          </a:p>
          <a:p>
            <a:r>
              <a:t>Brittleness: ES perform poorly outside their specific domain of expertise; they lack common sense reasoning.</a:t>
            </a:r>
          </a:p>
          <a:p>
            <a:r>
              <a:t>Maintenance: Keeping the knowledge base updated and consistent can be challenging and costly over time.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 to Machine Learning: A New Paradigm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Machine Learning (ML) is a subfield of AI focused on enabling systems to learn from data without explicit programming.</a:t>
            </a:r>
          </a:p>
          <a:p>
            <a:r>
              <a:t>Instead of rules explicitly encoded by humans, ML models learn patterns and make decisions or predictions.</a:t>
            </a:r>
          </a:p>
          <a:p>
            <a:r>
              <a:t>This paradigm shift allows AI systems to adapt, generalize, and perform tasks in complex, dynamic environments.</a:t>
            </a:r>
          </a:p>
          <a:p>
            <a:r>
              <a:t>ML algorithms build a mathematical model based on sample data, known as 'training data', to make predictions or decisions.</a:t>
            </a:r>
          </a:p>
          <a:p>
            <a:r>
              <a:t>It has become pervasive, powering applications from search engines and recommendation systems to medical diagnosis and autonomous vehicles.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Machine Learning?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At its core, ML is about creating algorithms that can 'learn' from data to perform a task.</a:t>
            </a:r>
          </a:p>
          <a:p>
            <a:r>
              <a:t>Learning here refers to optimizing a performance criterion using example data or past experiences.</a:t>
            </a:r>
          </a:p>
          <a:p>
            <a:r>
              <a:t>A computer program is said to learn from experience E with respect to some class of tasks T and performance measure P if its performance at tasks in T, as measured by P, improves with experience E (Tom Mitchell).</a:t>
            </a:r>
          </a:p>
          <a:p>
            <a:r>
              <a:t>Key elements include Data (input for learning), Model (the learned representation), and Algorithm (the learning process itself).</a:t>
            </a:r>
          </a:p>
          <a:p>
            <a:r>
              <a:t>The goal is often generalization: the ability of a model to perform well on unseen data after training.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Machine Learning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Supervised Learning: Learning from labeled data, where the model is given input-output pairs (e.g., classification, regression).</a:t>
            </a:r>
          </a:p>
          <a:p>
            <a:r>
              <a:t>Unsupervised Learning: Discovering patterns in unlabeled data, without explicit target outputs (e.g., clustering, dimensionality reduction).</a:t>
            </a:r>
          </a:p>
          <a:p>
            <a:r>
              <a:t>Reinforcement Learning: Learning through interaction with an environment, receiving rewards or penalties for actions (e.g., game playing, robotics).</a:t>
            </a:r>
          </a:p>
          <a:p>
            <a:r>
              <a:t>Semi-supervised Learning: Combines small amounts of labeled data with large amounts of unlabeled data for training.</a:t>
            </a:r>
          </a:p>
          <a:p>
            <a:r>
              <a:t>Self-supervised Learning: A form of unsupervised learning where the data provides its own supervision signal.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Machine Learning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Definition: Clearly define the task, objectives, and available data.</a:t>
            </a:r>
          </a:p>
          <a:p>
            <a:r>
              <a:t>Data Collection &amp; Preprocessing: Gather relevant data, clean it, handle missing values, and prepare it for model training.</a:t>
            </a:r>
          </a:p>
          <a:p>
            <a:r>
              <a:t>Feature Engineering: Selecting, transforming, or creating relevant features from raw data to improve model performance.</a:t>
            </a:r>
          </a:p>
          <a:p>
            <a:r>
              <a:t>Model Selection &amp; Training: Choose an appropriate ML algorithm and train it on the prepared data.</a:t>
            </a:r>
          </a:p>
          <a:p>
            <a:r>
              <a:t>Model Evaluation &amp; Deployment: Assess the model's performance using metrics and deploy it for real-world use.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Components: Data, Model, Learning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Data: The raw material for machine learning, consisting of observations, measurements, or instances.</a:t>
            </a:r>
          </a:p>
          <a:p>
            <a:r>
              <a:t>It typically includes features (input variables) and, for supervised tasks, labels (target output variables).</a:t>
            </a:r>
          </a:p>
          <a:p>
            <a:r>
              <a:t>Model: The mathematical representation learned from the data, which captures underlying patterns and relationships.</a:t>
            </a:r>
          </a:p>
          <a:p>
            <a:r>
              <a:t>It can be a set of weights in a neural network, splits in a decision tree, or parameters in a regression equation.</a:t>
            </a:r>
          </a:p>
          <a:p>
            <a:r>
              <a:t>Learning Algorithm: The computational procedure that processes the data to build or adjust the model.</a:t>
            </a:r>
          </a:p>
          <a:p>
            <a:r>
              <a:t>It often involves optimization techniques to minimize an error function or maximize a performance metric.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Supervised Learning: Learning from Labeled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Supervised learning is a paradigm where an algorithm learns a mapping from input features to output labels.</a:t>
            </a:r>
          </a:p>
          <a:p>
            <a:r>
              <a:t>It requires a dataset where each input instance is explicitly paired with its correct output or 'ground truth'.</a:t>
            </a:r>
          </a:p>
          <a:p>
            <a:r>
              <a:t>The algorithm's goal is to learn a general rule that maps inputs to outputs, which can then predict outputs for new, unseen inputs.</a:t>
            </a:r>
          </a:p>
          <a:p>
            <a:r>
              <a:t>This process is akin to a student learning under the guidance of a 'supervisor' who provides correct answers.</a:t>
            </a:r>
          </a:p>
          <a:p>
            <a:r>
              <a:t>Common applications include image classification, spam detection, medical diagnosis, and predicting house prices.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Labeled Data and 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Labeled data consists of input-output pairs (x, y), where 'x' represents input features and 'y' is the corresponding label.</a:t>
            </a:r>
          </a:p>
          <a:p>
            <a:r>
              <a:t>Labels are crucial; they provide the target variable the model aims to predict or classify.</a:t>
            </a:r>
          </a:p>
          <a:p>
            <a:r>
              <a:t>Features are individual measurable properties or characteristics of the phenomenon being observed.</a:t>
            </a:r>
          </a:p>
          <a:p>
            <a:r>
              <a:t>Feature engineering is the process of selecting, transforming, or creating new features from raw data.</a:t>
            </a:r>
          </a:p>
          <a:p>
            <a:r>
              <a:t>Effective feature engineering significantly impacts model performance and is often more critical than algorithm choice.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Supervised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Classification: Predicting a discrete class label (e.g., spam/not spam, disease A/B/C, cat/dog).</a:t>
            </a:r>
          </a:p>
          <a:p>
            <a:r>
              <a:t>The output is a categorical value, choosing one from a predefined set of categories.</a:t>
            </a:r>
          </a:p>
          <a:p>
            <a:r>
              <a:t>Regression: Predicting a continuous numerical value (e.g., house prices, temperature, stock values).</a:t>
            </a:r>
          </a:p>
          <a:p>
            <a:r>
              <a:t>The output is a real number, allowing for predictions along a continuous spectrum.</a:t>
            </a:r>
          </a:p>
          <a:p>
            <a:r>
              <a:t>Other tasks include object detection, semantic segmentation, and sequence-to-sequence prediction.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Examples of Supervised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Linear Regression: A simple model for predicting a continuous output, assuming a linear relationship between features and target.</a:t>
            </a:r>
          </a:p>
          <a:p>
            <a:r>
              <a:t>Logistic Regression: Despite its name, used for binary classification, modeling the probability of an event.</a:t>
            </a:r>
          </a:p>
          <a:p>
            <a:r>
              <a:t>Decision Trees: Tree-like models where internal nodes represent tests on features, branches represent outcomes, and leaf nodes represent class labels or values.</a:t>
            </a:r>
          </a:p>
          <a:p>
            <a:r>
              <a:t>Support Vector Machines (SVMs): Powerful algorithms for classification and regression that find the optimal hyperplane to separate data points.</a:t>
            </a:r>
          </a:p>
          <a:p>
            <a:r>
              <a:t>K-Nearest Neighbors (KNN): A non-parametric, instance-based learning algorithm that classifies new data points based on the majority class of their 'k' nearest neighbors.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and Considerations in 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Quality: The performance of supervised models is highly dependent on the quality and quantity of labeled training data.</a:t>
            </a:r>
          </a:p>
          <a:p>
            <a:r>
              <a:t>Overfitting: When a model learns the training data too well, including noise, leading to poor generalization on unseen data.</a:t>
            </a:r>
          </a:p>
          <a:p>
            <a:r>
              <a:t>Underfitting: When a model is too simple to capture the underlying patterns in the data, resulting in high error on both training and test data.</a:t>
            </a:r>
          </a:p>
          <a:p>
            <a:r>
              <a:t>Bias-Variance Trade-off: A fundamental concept balancing model complexity against its ability to generalize.</a:t>
            </a:r>
          </a:p>
          <a:p>
            <a:r>
              <a:t>Labeling Cost: Acquiring accurately labeled data can be expensive and time-consuming, especially for large datasets.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Unsupervised Learning: Discovering Hidden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Unsupervised learning deals with unlabeled data, where there are no explicit output labels or target variables.</a:t>
            </a:r>
          </a:p>
          <a:p>
            <a:r>
              <a:t>The primary goal is to discover hidden structures, patterns, or relationships within the input data itself.</a:t>
            </a:r>
          </a:p>
          <a:p>
            <a:r>
              <a:t>It aims to understand the intrinsic organization of the data without external guidance or prior knowledge of outcomes.</a:t>
            </a:r>
          </a:p>
          <a:p>
            <a:r>
              <a:t>This approach is particularly useful when labels are unavailable, difficult, or expensive to obtain.</a:t>
            </a:r>
          </a:p>
          <a:p>
            <a:r>
              <a:t>Applications include customer segmentation, anomaly detection, data compression, and feature learning.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Unlabeled Data and Pattern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Unlabeled data consists only of input features (x), without corresponding output labels (y).</a:t>
            </a:r>
          </a:p>
          <a:p>
            <a:r>
              <a:t>The algorithms must infer structures or properties directly from the distribution of the input features.</a:t>
            </a:r>
          </a:p>
          <a:p>
            <a:r>
              <a:t>Pattern discovery involves identifying inherent groupings, dimensions, or relationships that are not explicitly provided.</a:t>
            </a:r>
          </a:p>
          <a:p>
            <a:r>
              <a:t>This often leads to insights that might not be immediately obvious through manual inspection of the data.</a:t>
            </a:r>
          </a:p>
          <a:p>
            <a:r>
              <a:t>Unsupervised learning can reveal underlying categories or concepts that were previously unknown.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Common Unsupervised Learning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Clustering: Grouping data points into clusters such that points in the same cluster are more similar to each other than to those in other clusters.</a:t>
            </a:r>
          </a:p>
          <a:p>
            <a:r>
              <a:t>Dimensionality Reduction: Reducing the number of random variables under consideration by obtaining a set of principal variables.</a:t>
            </a:r>
          </a:p>
          <a:p>
            <a:r>
              <a:t>Anomaly Detection: Identifying rare items, events, or observations that deviate significantly from the majority of the data.</a:t>
            </a:r>
          </a:p>
          <a:p>
            <a:r>
              <a:t>Association Rule Mining: Discovering interesting relationships or associations among items in large datasets (e.g., market basket analysis).</a:t>
            </a:r>
          </a:p>
          <a:p>
            <a:r>
              <a:t>Generative Models: Learning the underlying probability distribution of the data to generate new, similar data instances.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Examples of Unsupervised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K-Means Clustering: An iterative algorithm that partitions data into K predefined clusters, assigning each data point to the cluster with the nearest mean.</a:t>
            </a:r>
          </a:p>
          <a:p>
            <a:r>
              <a:t>Hierarchical Clustering: Builds a hierarchy of clusters, either by starting with individual points and merging them (agglomerative) or starting with one large cluster and splitting it (divisive).</a:t>
            </a:r>
          </a:p>
          <a:p>
            <a:r>
              <a:t>Principal Component Analysis (PCA): A linear dimensionality reduction technique that transforms data to a new coordinate system where the greatest variance lies on the first coordinate (principal component).</a:t>
            </a:r>
          </a:p>
          <a:p>
            <a:r>
              <a:t>Autoencoders: Neural networks trained to reconstruct their input, learning a compressed representation (encoding) in the process.</a:t>
            </a:r>
          </a:p>
          <a:p>
            <a:r>
              <a:t>DBSCAN (Density-Based Spatial Clustering of Applications with Noise): A clustering algorithm that groups together points that are closely packed together, marking as outliers points that lie alone in low-density regions.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 and Interpretation in Unsupervised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Applications: Customer segmentation, anomaly detection (e.g., fraud detection), genetic analysis, document summarization, image compression.</a:t>
            </a:r>
          </a:p>
          <a:p>
            <a:r>
              <a:t>In marketing, clustering can identify distinct customer segments for targeted campaigns.</a:t>
            </a:r>
          </a:p>
          <a:p>
            <a:r>
              <a:t>Dimensionality reduction helps visualize high-dimensional data and mitigate the curse of dimensionality.</a:t>
            </a:r>
          </a:p>
          <a:p>
            <a:r>
              <a:t>Interpretation of results can be more challenging than supervised learning due to the lack of ground truth labels.</a:t>
            </a:r>
          </a:p>
          <a:p>
            <a:r>
              <a:t>Often, human domain expertise is required to assign meaning and practical value to the discovered patterns or clusters.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Classification and Regression: Predicting Outcomes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Classification and Regression are the two primary types of supervised machine learning tasks.</a:t>
            </a:r>
          </a:p>
          <a:p>
            <a:r>
              <a:t>Both involve predicting an output variable (target) based on input features, but they differ in the nature of the target.</a:t>
            </a:r>
          </a:p>
          <a:p>
            <a:r>
              <a:t>Understanding the distinction is crucial for selecting the appropriate model and evaluation metrics.</a:t>
            </a:r>
          </a:p>
          <a:p>
            <a:r>
              <a:t>The choice between classification and regression depends entirely on the type of problem being addressed and the nature of the desired prediction.</a:t>
            </a:r>
          </a:p>
          <a:p>
            <a:r>
              <a:t>Many real-world problems can be framed as either a classification or a regression task.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Classification: Predicting Discrete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Classification is the task of predicting a discrete, categorical label for a given input instance.</a:t>
            </a:r>
          </a:p>
          <a:p>
            <a:r>
              <a:t>The output variable is qualitative and belongs to a predefined set of classes or categories.</a:t>
            </a:r>
          </a:p>
          <a:p>
            <a:r>
              <a:t>Examples: binary classification (spam/not spam, diseased/healthy) or multi-class classification (dog/cat/bird, sentiment: positive/negative/neutral).</a:t>
            </a:r>
          </a:p>
          <a:p>
            <a:r>
              <a:t>The model learns to map input features to one of these discrete classes.</a:t>
            </a:r>
          </a:p>
          <a:p>
            <a:r>
              <a:t>Evaluation often focuses on metrics like accuracy, precision, recall, and F1-score, which measure how well the model assigns correct categories.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Classification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Logistic Regression: A linear model for binary classification, estimating the probability of a given input belonging to a particular class.</a:t>
            </a:r>
          </a:p>
          <a:p>
            <a:r>
              <a:t>Support Vector Machines (SVM): Finds an optimal hyperplane that best separates data points into different classes, maximizing the margin between them.</a:t>
            </a:r>
          </a:p>
          <a:p>
            <a:r>
              <a:t>K-Nearest Neighbors (KNN): Classifies a new data point by finding the 'k' closest points in the training data and assigning the majority class.</a:t>
            </a:r>
          </a:p>
          <a:p>
            <a:r>
              <a:t>Decision Trees &amp; Random Forests: Tree-based models that make decisions by recursively splitting data based on features, with Random Forests combining multiple trees to improve robustness.</a:t>
            </a:r>
          </a:p>
          <a:p>
            <a:r>
              <a:t>Naive Bayes: A probabilistic classifier based on Bayes' theorem with strong independence assumptions between features, often effective for text classification.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Regression: Predicting Continuous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Regression is the task of predicting a continuous numerical value for a given input instance.</a:t>
            </a:r>
          </a:p>
          <a:p>
            <a:r>
              <a:t>The output variable is quantitative and can take any value within a range.</a:t>
            </a:r>
          </a:p>
          <a:p>
            <a:r>
              <a:t>Examples: predicting house prices, stock market fluctuations, temperature, or a person's age.</a:t>
            </a:r>
          </a:p>
          <a:p>
            <a:r>
              <a:t>The model learns a function that estimates the relationship between input features and the continuous target.</a:t>
            </a:r>
          </a:p>
          <a:p>
            <a:r>
              <a:t>Evaluation focuses on metrics like Mean Squared Error (MSE), Root Mean Squared Error (RMSE), and R-squared, which measure the proximity of predictions to actual values.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Regression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Linear Regression: Models a linear relationship between input features and the continuous target variable (y = mx + b).</a:t>
            </a:r>
          </a:p>
          <a:p>
            <a:r>
              <a:t>Polynomial Regression: Extends linear regression by modeling a non-linear relationship using polynomial functions of the features.</a:t>
            </a:r>
          </a:p>
          <a:p>
            <a:r>
              <a:t>Decision Tree Regressor: A tree-based model that predicts a continuous value by partitioning the feature space into regions and taking the average target value within each region.</a:t>
            </a:r>
          </a:p>
          <a:p>
            <a:r>
              <a:t>Random Forest Regressor: An ensemble method that combines multiple decision tree regressors to improve prediction accuracy and reduce overfitting.</a:t>
            </a:r>
          </a:p>
          <a:p>
            <a:r>
              <a:t>Support Vector Regression (SVR): An extension of SVMs that uses a similar principle to find a function that best fits the data within a specified margin of error.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Metrics: Assessing Model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Evaluation metrics are quantitative measures used to assess how well a machine learning model performs.</a:t>
            </a:r>
          </a:p>
          <a:p>
            <a:r>
              <a:t>Choosing appropriate metrics is crucial for understanding a model's strengths, weaknesses, and suitability for a task.</a:t>
            </a:r>
          </a:p>
          <a:p>
            <a:r>
              <a:t>Different tasks (classification vs. regression) require different sets of metrics to meaningfully quantify performance.</a:t>
            </a:r>
          </a:p>
          <a:p>
            <a:r>
              <a:t>Metrics help in comparing different models, fine-tuning hyperparameters, and ensuring generalization to unseen data.</a:t>
            </a:r>
          </a:p>
          <a:p>
            <a:r>
              <a:t>It's important to select metrics that align with the specific goals and real-world implications of the AI application.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 for Classification: Accuracy, Precision, Recall, F1-Score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Accuracy: The proportion of correctly classified instances out of the total instances. (TP+TN)/(TP+TN+FP+FN)</a:t>
            </a:r>
          </a:p>
          <a:p>
            <a:r>
              <a:t>Precision: The proportion of true positive predictions among all positive predictions. (TP)/(TP+FP) - measures relevance of positive predictions.</a:t>
            </a:r>
          </a:p>
          <a:p>
            <a:r>
              <a:t>Recall (Sensitivity): The proportion of true positive predictions among all actual positive instances. (TP)/(TP+FN) - measures how many actual positives were caught.</a:t>
            </a:r>
          </a:p>
          <a:p>
            <a:r>
              <a:t>F1-Score: The harmonic mean of Precision and Recall, providing a single metric that balances both. 2 * (Precision * Recall) / (Precision + Recall).</a:t>
            </a:r>
          </a:p>
          <a:p>
            <a:r>
              <a:t>These metrics are particularly important when dealing with imbalanced datasets where accuracy alone can be misleading.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Confusion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Confusion Matrix is a table used to summarize the performance of a classification algorithm.</a:t>
            </a:r>
          </a:p>
          <a:p>
            <a:r>
              <a:t>It displays the number of True Positives (TP), True Negatives (TN), False Positives (FP), and False Negatives (FN).</a:t>
            </a:r>
          </a:p>
          <a:p>
            <a:r>
              <a:t>True Positives (TP): Correctly predicted positive instances (e.g., predicted spam, actually spam).</a:t>
            </a:r>
          </a:p>
          <a:p>
            <a:r>
              <a:t>True Negatives (TN): Correctly predicted negative instances (e.g., predicted not spam, actually not spam).</a:t>
            </a:r>
          </a:p>
          <a:p>
            <a:r>
              <a:t>False Positives (FP) / Type I Error: Incorrectly predicted positive instances (e.g., predicted spam, actually not spam).</a:t>
            </a:r>
          </a:p>
          <a:p>
            <a:r>
              <a:t>False Negatives (FN) / Type II Error: Incorrectly predicted negative instances (e.g., predicted not spam, actually spam).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 for Regression: MSE, RMSE, MAE, R-squared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Mean Squared Error (MSE): The average of the squared differences between predicted and actual values. Penalizes larger errors more.</a:t>
            </a:r>
          </a:p>
          <a:p>
            <a:r>
              <a:t>Root Mean Squared Error (RMSE): The square root of the MSE, bringing the error back to the original units of the target variable. Easier to interpret.</a:t>
            </a:r>
          </a:p>
          <a:p>
            <a:r>
              <a:t>Mean Absolute Error (MAE): The average of the absolute differences between predicted and actual values. Less sensitive to outliers than MSE/RMSE.</a:t>
            </a:r>
          </a:p>
          <a:p>
            <a:r>
              <a:t>R-squared (Coefficient of Determination): Represents the proportion of variance in the dependent variable that is predictable from the independent variables.</a:t>
            </a:r>
          </a:p>
          <a:p>
            <a:r>
              <a:t>R-squared values range from 0 to 1, where higher values indicate a better fit (1 means the model explains all variability).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Overfitting, Underfitting, and Cross-Validation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Overfitting: Occurs when a model learns the training data too well, including noise, leading to poor generalization on new data.</a:t>
            </a:r>
          </a:p>
          <a:p>
            <a:r>
              <a:t>Underfitting: Occurs when a model is too simple to capture the underlying patterns in the data, performing poorly on both training and test data.</a:t>
            </a:r>
          </a:p>
          <a:p>
            <a:r>
              <a:t>Cross-Validation: A resampling procedure used to evaluate ML models on a limited data sample, improving robustness of evaluation.</a:t>
            </a:r>
          </a:p>
          <a:p>
            <a:r>
              <a:t>K-Fold Cross-Validation: Divides the dataset into K folds; the model is trained on K-1 folds and validated on the remaining fold, repeating K times.</a:t>
            </a:r>
          </a:p>
          <a:p>
            <a:r>
              <a:t>This helps in getting a more reliable estimate of a model's performance on unseen data and in detecting overfitting.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