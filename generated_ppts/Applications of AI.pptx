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and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 often aims to enable machines to think and reason like humans or to solve complex problems intelligently.</a:t>
            </a:r>
          </a:p>
          <a:p>
            <a:r>
              <a:t>Symbolic AI, a foundational paradigm, heavily relies on formal logic systems to represent knowledge and perform inference.</a:t>
            </a:r>
          </a:p>
          <a:p>
            <a:r>
              <a:t>Logic provides a precise, unambiguous language for encoding information and rules, facilitating automated reasoning processes.</a:t>
            </a:r>
          </a:p>
          <a:p>
            <a:r>
              <a:t>It allows for explicit representation of facts and relationships, making it possible to derive new conclusions through logical deduction.</a:t>
            </a:r>
          </a:p>
          <a:p>
            <a:r>
              <a:t>Early AI systems, like theorem provers and expert systems, demonstrated the power of logical approaches in problem-solving.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Propositional Logic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Propositional logic (or propositional calculus) is the simplest form of logic, dealing with propositions as atomic declarative statements that are either true or false.</a:t>
            </a:r>
          </a:p>
          <a:p>
            <a:r>
              <a:t>Propositions are represented by propositional variables (e.g., P, Q, R), which stand for statements like 'It is raining' or 'The sky is blue.'</a:t>
            </a:r>
          </a:p>
          <a:p>
            <a:r>
              <a:t>Logical connectives combine propositions to form more complex sentences: negation (¬), conjunction (∧), disjunction (∨), implication (→), and biconditional (↔).</a:t>
            </a:r>
          </a:p>
          <a:p>
            <a:r>
              <a:t>The truth value of a compound proposition is determined solely by the truth values of its constituent propositions and the definitions of the connectives.</a:t>
            </a:r>
          </a:p>
          <a:p>
            <a:r>
              <a:t>It forms the basis for understanding more complex logical systems by defining the fundamental operations on truth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Tables and Logical Equivalences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truth table systematically lists all possible truth assignments for propositional variables and the resulting truth values for a compound proposition.</a:t>
            </a:r>
          </a:p>
          <a:p>
            <a:r>
              <a:t>Truth tables are essential for determining the validity of arguments, identifying tautologies (always true), contradictions (always false), and contingencies.</a:t>
            </a:r>
          </a:p>
          <a:p>
            <a:r>
              <a:t>Logical equivalence means two propositions have the same truth value for all possible truth assignments of their variables, denoted by P ≡ Q.</a:t>
            </a:r>
          </a:p>
          <a:p>
            <a:r>
              <a:t>Key equivalences include De Morgan's Laws (¬(P∧Q) ≡ ¬P∨¬Q), distributive laws, and the definition of implication (P→Q ≡ ¬P∨Q).</a:t>
            </a:r>
          </a:p>
          <a:p>
            <a:r>
              <a:t>Understanding logical equivalences is crucial for simplifying logical expressions, proving theorems, and transforming knowledge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Rules in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rules are patterns of reasoning that allow us to deduce new propositions (conclusions) from existing ones (premises) while preserving truth.</a:t>
            </a:r>
          </a:p>
          <a:p>
            <a:r>
              <a:t>The most fundamental inference rule is Modus Ponens: From P and P→Q, we can infer Q. This is a sound rule, meaning if premises are true, conclusion is true.</a:t>
            </a:r>
          </a:p>
          <a:p>
            <a:r>
              <a:t>Other common rules include Modus Tollens (from ¬Q and P→Q, infer ¬P), Hypothetical Syllogism (from P→Q and Q→R, infer P→R), and Conjunction Introduction.</a:t>
            </a:r>
          </a:p>
          <a:p>
            <a:r>
              <a:t>These rules form the basis of deductive reasoning, enabling AI systems to draw valid conclusions from a knowledge base.</a:t>
            </a:r>
          </a:p>
          <a:p>
            <a:r>
              <a:t>A proof in propositional logic is a sequence of propositions, where each proposition is either a premise or follows from previous propositions by an inference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Propositional logic lacks the ability to represent the internal structure of propositions or relationships between objects.</a:t>
            </a:r>
          </a:p>
          <a:p>
            <a:r>
              <a:t>It cannot express quantified statements like 'All humans are mortal' or 'There exists a number greater than 10.'</a:t>
            </a:r>
          </a:p>
          <a:p>
            <a:r>
              <a:t>To represent 'All students passed the exam,' one would need a separate propositional variable for each student, leading to an explosion of propositions for larger domains.</a:t>
            </a:r>
          </a:p>
          <a:p>
            <a:r>
              <a:t>This limitation makes it unsuitable for complex domains where objects, their properties, and relationships need to be explicitly modeled.</a:t>
            </a:r>
          </a:p>
          <a:p>
            <a:r>
              <a:t>Predicate logic extends propositional logic to overcome these limitations by introducing predicates, terms, and quantifiers, allowing for a richer knowledge representation.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Predicate logic, also known as First-Order Logic (FOL) or First-Order Predicate Calculus, is a powerful extension of propositional logic.</a:t>
            </a:r>
          </a:p>
          <a:p>
            <a:r>
              <a:t>It allows for the representation of complex knowledge involving objects, properties of objects, and relationships between objects.</a:t>
            </a:r>
          </a:p>
          <a:p>
            <a:r>
              <a:t>Unlike propositional logic which treats propositions as atomic, FOL decomposes propositions into predicates, terms (constants, variables, functions), and quantifiers.</a:t>
            </a:r>
          </a:p>
          <a:p>
            <a:r>
              <a:t>This expressive power makes FOL a cornerstone for knowledge representation in AI, enabling more granular and detailed reasoning.</a:t>
            </a:r>
          </a:p>
          <a:p>
            <a:r>
              <a:t>It provides a formal language for expressing statements like 'Socrates is a man' (Man(Socrates)) or 'All men are mortal' (∀x (Man(x) → Mortal(x))).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Quantifiers: Universal and Existential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Quantifiers are symbols that specify the range or scope of variables in a logical expression.</a:t>
            </a:r>
          </a:p>
          <a:p>
            <a:r>
              <a:t>The Universal Quantifier (∀, 'for all' or 'for every') asserts that a statement holds true for every object in the domain of discourse. Example: ∀x P(x) means P(x) is true for all x.</a:t>
            </a:r>
          </a:p>
          <a:p>
            <a:r>
              <a:t>The Existential Quantifier (∃, 'there exists' or 'for some') asserts that a statement holds true for at least one object in the domain. Example: ∃x P(x) means there is at least one x for which P(x) is true.</a:t>
            </a:r>
          </a:p>
          <a:p>
            <a:r>
              <a:t>Quantifiers allow us to make general statements about collections of objects without enumerating each instance individually.</a:t>
            </a:r>
          </a:p>
          <a:p>
            <a:r>
              <a:t>Their proper use is essential for representing general knowledge, rules, and constraints within a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Terms, Predicates, and Atomic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Terms in FOL refer to objects in the domain. They can be: Constants (e.g., 'Socrates'), Variables (e.g., x, y), or Functions (e.g., MotherOf(John)).</a:t>
            </a:r>
          </a:p>
          <a:p>
            <a:r>
              <a:t>Predicates represent properties of objects or relationships between objects. They take one or more terms as arguments and evaluate to true or false. Examples: Man(Socrates), Loves(John, Mary).</a:t>
            </a:r>
          </a:p>
          <a:p>
            <a:r>
              <a:t>An atomic sentence is formed by a predicate symbol followed by a list of terms enclosed in parentheses. These are the basic building blocks of complex FOL sentences.</a:t>
            </a:r>
          </a:p>
          <a:p>
            <a:r>
              <a:t>Complex sentences are formed by combining atomic sentences using logical connectives (¬, ∧, ∨, →, ↔) and quantifiers, similar to propositional logic.</a:t>
            </a:r>
          </a:p>
          <a:p>
            <a:r>
              <a:t>The ability to decompose statements into these components provides a rich framework for structured knowledge representation.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Rules in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rules from propositional logic (Modus Ponens, Modus Tollens, etc.) still apply to predicate logic, operating on fully instantiated sentences.</a:t>
            </a:r>
          </a:p>
          <a:p>
            <a:r>
              <a:t>New inference rules are introduced specifically for handling quantifiers, such as Universal Instantiation (UI) and Existential Generalization (EG).</a:t>
            </a:r>
          </a:p>
          <a:p>
            <a:r>
              <a:t>Universal Instantiation (UI): From ∀x P(x), infer P(c) for any constant c in the domain.</a:t>
            </a:r>
          </a:p>
          <a:p>
            <a:r>
              <a:t>Existential Instantiation (EI): From ∃x P(x), infer P(k) for some new constant k (Skolem constant) that has not been used before.</a:t>
            </a:r>
          </a:p>
          <a:p>
            <a:r>
              <a:t>These rules enable AI systems to reason about general statements and specific instances within a knowledge base, allowing for complex deductions.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Principle in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Resolution Principle is a powerful inference rule often used in automated theorem proving and logic programming (e.g., Prolog).</a:t>
            </a:r>
          </a:p>
          <a:p>
            <a:r>
              <a:t>It operates on clauses (disjunctions of literals) after converting all sentences in a knowledge base to Conjunctive Normal Form (CNF).</a:t>
            </a:r>
          </a:p>
          <a:p>
            <a:r>
              <a:t>The goal is to prove a sentence by refutation: assume its negation, add it to the knowledge base, and attempt to derive a contradiction (the empty clause).</a:t>
            </a:r>
          </a:p>
          <a:p>
            <a:r>
              <a:t>The core resolution step involves taking two clauses with complementary literals (e.g., P and ¬P) and producing a new clause (resolvent).</a:t>
            </a:r>
          </a:p>
          <a:p>
            <a:r>
              <a:t>For predicate logic, unification is required before resolution, finding substitutions for variables to make two literals identical.</a:t>
            </a:r>
          </a:p>
          <a:p>
            <a:r>
              <a:t>Resolution is sound and complete for first-order logic, capable of proving any valid conclusion that logically follows from premises.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Semantic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networks are a knowledge representation technique that uses a graph structure to represent concepts and the relationships between them.</a:t>
            </a:r>
          </a:p>
          <a:p>
            <a:r>
              <a:t>Developed in the 1960s, they aim to model human semantic memory and are intuitive for representing taxonomic and associative knowledge.</a:t>
            </a:r>
          </a:p>
          <a:p>
            <a:r>
              <a:t>The network consists of nodes (or concepts) and links (or arcs) connecting these nodes, representing relationships.</a:t>
            </a:r>
          </a:p>
          <a:p>
            <a:r>
              <a:t>Nodes typically represent objects, concepts, or events, while links represent the relationships between them (e.g., 'is-a', 'has-a', 'part-of').</a:t>
            </a:r>
          </a:p>
          <a:p>
            <a:r>
              <a:t>This visual and structured approach makes semantic networks easy to understand and effective for certain types of knowledge organization and retrieval.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Nodes and Arcs: Representing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Nodes: Depicted as circles or rectangles, representing entities like individuals ('Socrates'), classes ('Human'), or properties ('Color').</a:t>
            </a:r>
          </a:p>
          <a:p>
            <a:r>
              <a:t>Arcs (Links/Edges): Connect nodes and represent labeled, directed relationships between them.</a:t>
            </a:r>
          </a:p>
          <a:p>
            <a:r>
              <a:t>Common link types include: IS-A (or AKO - A Kind Of) for class-subclass relationships (e.g., 'Dog IS-A Mammal').</a:t>
            </a:r>
          </a:p>
          <a:p>
            <a:r>
              <a:t>HAS-A (or PART-OF) for part-whole relationships (e.g., 'Car HAS-A Wheel').</a:t>
            </a:r>
          </a:p>
          <a:p>
            <a:r>
              <a:t>Other links can represent attributes, actions (Agent, Object), or temporal relations.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and IS-A/HAS-A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Inheritance: A key feature where properties and attributes defined for a superclass are automatically inherited by its subclasses through IS-A links.</a:t>
            </a:r>
          </a:p>
          <a:p>
            <a:r>
              <a:t>For example, if 'Mammal' has 'has_warm_blood,' then 'Dog' (which IS-A Mammal) inherits this property, promoting knowledge efficiency.</a:t>
            </a:r>
          </a:p>
          <a:p>
            <a:r>
              <a:t>IS-A (A Kind Of) links define taxonomic hierarchies and are crucial for enabling property inheritance from parent to child nodes.</a:t>
            </a:r>
          </a:p>
          <a:p>
            <a:r>
              <a:t>HAS-A (Part-Of) links represent meronymic relationships, where one entity is a component of another, but typically do not support property inheritance in the same way as IS-A.</a:t>
            </a:r>
          </a:p>
          <a:p>
            <a:r>
              <a:t>The interplay of IS-A and HAS-A allows for comprehensive modeling of object hierarchies and their compositions, forming a robust structure for knowledge organization.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 of Semantic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Intuitive and visual representation, flexible for various relationships, efficient inheritance mechanisms, and supports path finding for information retrieval.</a:t>
            </a:r>
          </a:p>
          <a:p>
            <a:r>
              <a:t>Disadvantages: Lack of formal semantics can lead to ambiguity in interpretation of nodes and links.</a:t>
            </a:r>
          </a:p>
          <a:p>
            <a:r>
              <a:t>Limited expressiveness for complex logical statements, quantifiers, or higher-order relationships found in predicate logic.</a:t>
            </a:r>
          </a:p>
          <a:p>
            <a:r>
              <a:t>Can face scalability challenges for very large knowledge bases, becoming unwieldy and difficult to manage.</a:t>
            </a:r>
          </a:p>
          <a:p>
            <a:r>
              <a:t>Inference mechanisms are often heuristic and lack the formal soundness and completeness of logic-based systems.</a:t>
            </a:r>
          </a:p>
          <a:p>
            <a:r>
              <a:t>No standardized representation for link types, making integration and interoperability difficult across different networks.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Extensions (e.g., Description Logics)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Applications: Used in Natural Language Processing (NLP) for word sense disambiguation, knowledge-based systems, information retrieval, and cognitive modeling.</a:t>
            </a:r>
          </a:p>
          <a:p>
            <a:r>
              <a:t>Conceptual Graphs: A logic-based notation for semantic networks, providing a formal foundation in first-order logic.</a:t>
            </a:r>
          </a:p>
          <a:p>
            <a:r>
              <a:t>Description Logics (DLs): A family of formal knowledge representation languages, a subset of first-order logic, balancing expressiveness and tractability.</a:t>
            </a:r>
          </a:p>
          <a:p>
            <a:r>
              <a:t>DLs are the logical underpinning of ontologies and the Semantic Web, enabling robust inference and reasoning.</a:t>
            </a:r>
          </a:p>
          <a:p>
            <a:r>
              <a:t>RDF (Resource Description Framework) and OWL (Web Ontology Language): W3C standards for representing knowledge on the Semantic Web, essentially formalized and highly expressive semantic networks.</a:t>
            </a:r>
          </a:p>
          <a:p>
            <a:r>
              <a:t>These extensions address traditional semantic network limitations by providing formal semantics, increased expressiveness, and robust inference mechanisms.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Frames, introduced by Marvin Minsky in 1974, are a knowledge representation technique inspired by how humans organize their knowledge about stereotypical situations.</a:t>
            </a:r>
          </a:p>
          <a:p>
            <a:r>
              <a:t>A frame is a data structure representing a stereotypical object, concept, or event, acting as a template for a situation.</a:t>
            </a:r>
          </a:p>
          <a:p>
            <a:r>
              <a:t>Each frame consists of a collection of 'slots,' which represent attributes or properties associated with the concept the frame describes.</a:t>
            </a:r>
          </a:p>
          <a:p>
            <a:r>
              <a:t>Slots can hold values (actual data) or 'facets' which describe aspects of the slot itself, such as default values, data types, or procedural attachments.</a:t>
            </a:r>
          </a:p>
          <a:p>
            <a:r>
              <a:t>Frames provide a structured, object-oriented approach to knowledge representation, facilitating efficient retrieval and reasoning about specific instances.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Slots and Facets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Slots: Core components of a frame, representing attributes, properties, or relationships of the entity the frame describes (e.g., 'Manufacturer', 'Model' in a Car frame).</a:t>
            </a:r>
          </a:p>
          <a:p>
            <a:r>
              <a:t>Slots can be filled with specific values for an instance (e.g., MyCar.Color = 'Red').</a:t>
            </a:r>
          </a:p>
          <a:p>
            <a:r>
              <a:t>Facets: Provide additional information or constraints about a slot, defining how its value is determined, interpreted, or constrained.</a:t>
            </a:r>
          </a:p>
          <a:p>
            <a:r>
              <a:t>Common facets include: Default values (e.g., NumberOfDoors default to 4 for a Sedan frame).</a:t>
            </a:r>
          </a:p>
          <a:p>
            <a:r>
              <a:t>Value type and Range: Specify data type and permissible values (e.g., EngineSize between 1.0 and 5.0 liters).</a:t>
            </a:r>
          </a:p>
          <a:p>
            <a:r>
              <a:t>If-added/If-needed procedures (Demons): Functions triggered when a value is added or requested, allowing for procedural knowledge.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and Defaults in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Inheritance: Frames are organized into hierarchies, allowing properties (slots and facets) to be inherited from more general frames to more specific ones, reducing redundancy.</a:t>
            </a:r>
          </a:p>
          <a:p>
            <a:r>
              <a:t>A 'subframe' (instance or subclass) automatically inherits all slots and their facets from its 'superframe' (parent class).</a:t>
            </a:r>
          </a:p>
          <a:p>
            <a:r>
              <a:t>This mechanism significantly reduces redundancy and simplifies knowledge management; changes to a superframe propagate to subframes.</a:t>
            </a:r>
          </a:p>
          <a:p>
            <a:r>
              <a:t>Defaults: A crucial aspect allowing specification of default values for slots. If an instance doesn't explicitly provide a value, the default from its superframe is used.</a:t>
            </a:r>
          </a:p>
          <a:p>
            <a:r>
              <a:t>Defaults capture stereotypical knowledge and enable efficient reasoning by making reasonable assumptions when information is incomplete.</a:t>
            </a:r>
          </a:p>
          <a:p>
            <a:r>
              <a:t>Example: A 'Bird' frame might have 'CanFly: Yes (default)', but a 'Penguin' subframe could override this to 'CanFly: No', handling exceptions gracefully.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Scripts, introduced by Roger Schank and Robert Abelson, are knowledge representation techniques designed to represent stereotypical sequences of events.</a:t>
            </a:r>
          </a:p>
          <a:p>
            <a:r>
              <a:t>They are structured representations of common situations, detailing the roles, props, and sequence of actions that typically occur.</a:t>
            </a:r>
          </a:p>
          <a:p>
            <a:r>
              <a:t>Scripts are particularly useful for understanding natural language text and making inferences about unstated actions in familiar contexts.</a:t>
            </a:r>
          </a:p>
          <a:p>
            <a:r>
              <a:t>They help to fill in the gaps in understanding by providing a default sequence of events when encountering incomplete narratives.</a:t>
            </a:r>
          </a:p>
          <a:p>
            <a:r>
              <a:t>The concept is based on the idea that much of human understanding relies on pre-existing knowledge about how common events unfold.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Components and Event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script typically has several key components: Entry Conditions, Props, Roles, Scenes, and Results.</a:t>
            </a:r>
          </a:p>
          <a:p>
            <a:r>
              <a:t>Entry Conditions: Conditions that must be true for the script to be activated (e.g., hungry and has money for 'Restaurant Script').</a:t>
            </a:r>
          </a:p>
          <a:p>
            <a:r>
              <a:t>Props: Objects central to the script (e.g., tables, menu, food for 'Restaurant Script').</a:t>
            </a:r>
          </a:p>
          <a:p>
            <a:r>
              <a:t>Roles: Actors involved (e.g., customer, waiter, chef).</a:t>
            </a:r>
          </a:p>
          <a:p>
            <a:r>
              <a:t>Results: Conditions true after script completion (e.g., customer no longer hungry, less money).</a:t>
            </a:r>
          </a:p>
          <a:p>
            <a:r>
              <a:t>Event Sequences (Scenes): The core of a script, detailing the causal and temporal ordering of events. For 'Restaurant Script': Entering, Ordering, Eating, Exiting.</a:t>
            </a:r>
          </a:p>
          <a:p>
            <a:r>
              <a:t>Scripts allow AI systems to predict subsequent actions, resolve ambiguities, and answer questions about a situation based on a learned pattern of events.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 Systems (ES) are computer programs designed to emulate the decision-making ability of a human expert in a specific domain.</a:t>
            </a:r>
          </a:p>
          <a:p>
            <a:r>
              <a:t>They were among the first truly successful applications of AI, emerging prominently in the 1970s and 1980s.</a:t>
            </a:r>
          </a:p>
          <a:p>
            <a:r>
              <a:t>The core idea is to capture, store, and apply knowledge from human experts to solve complex problems that typically require human intelligence.</a:t>
            </a:r>
          </a:p>
          <a:p>
            <a:r>
              <a:t>ES are particularly useful in domains where human expertise is scarce, expensive, or needed quickly and consistently.</a:t>
            </a:r>
          </a:p>
          <a:p>
            <a:r>
              <a:t>Early examples include MYCIN (medical diagnosis) and DENDRAL (chemical structure identification).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typical Expert System consists of several key components: Knowledge Base, Inference Engine, Working Memory, User Interface, Explanation Module, and Knowledge Acquisition Module.</a:t>
            </a:r>
          </a:p>
          <a:p>
            <a:r>
              <a:t>Knowledge Base: Contains domain-specific facts and rules acquired from human experts, forming the 'brain' of the ES.</a:t>
            </a:r>
          </a:p>
          <a:p>
            <a:r>
              <a:t>Inference Engine: The reasoning mechanism that processes the knowledge base to draw conclusions or make decisions by applying rules to facts.</a:t>
            </a:r>
          </a:p>
          <a:p>
            <a:r>
              <a:t>Working Memory (Fact Base): Temporary storage for facts specific to the current problem instance, including initial data and inferred conclusions.</a:t>
            </a:r>
          </a:p>
          <a:p>
            <a:r>
              <a:t>User Interface: Provides a means for the user to interact with the system, input data, and receive explanations.</a:t>
            </a:r>
          </a:p>
          <a:p>
            <a:r>
              <a:t>Explanation Module: Justifies the system's reasoning process and conclusions, enhancing transparency and trustworthiness.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Representation in 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primary challenge in building an ES is the 'knowledge acquisition bottleneck': extracting, formalizing, and representing expert knowledge.</a:t>
            </a:r>
          </a:p>
          <a:p>
            <a:r>
              <a:t>Production Rules (If-Then Rules): The most common form of knowledge representation, connecting conditions (antecedents) to actions or conclusions (consequents).</a:t>
            </a:r>
          </a:p>
          <a:p>
            <a:r>
              <a:t>Example Rule: IF (symptom is fever) AND (symptom is cough) THEN (diagnosis is flu).</a:t>
            </a:r>
          </a:p>
          <a:p>
            <a:r>
              <a:t>Semantic Networks and Frames: Also used, especially for representing hierarchical or categorical knowledge and relationships between concepts.</a:t>
            </a:r>
          </a:p>
          <a:p>
            <a:r>
              <a:t>Objects and Attributes: In some systems, knowledge is represented using object-attribute-value triples.</a:t>
            </a:r>
          </a:p>
          <a:p>
            <a:r>
              <a:t>The choice of representation depends on the domain, type of expertise, and the intended inference mechanism, being critical for accurate and efficient reasoning.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Engines: Forward and 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Inference Engine is the active component that applies knowledge from the knowledge base to the problem facts in working memory.</a:t>
            </a:r>
          </a:p>
          <a:p>
            <a:r>
              <a:t>Forward Chaining (Data-Driven): Starts with known facts and applies rules to deduce new facts until a goal is reached. Suitable when all initial data is available (e.g., medical diagnosis from symptoms).</a:t>
            </a:r>
          </a:p>
          <a:p>
            <a:r>
              <a:t>Process: Match facts to the 'IF' parts of rules, fire matching rules, add conclusions to working memory, repeating until no more rules can fire or goal is met.</a:t>
            </a:r>
          </a:p>
          <a:p>
            <a:r>
              <a:t>Backward Chaining (Goal-Driven): Starts with a potential goal or hypothesis and works backward to find facts or sub-goals that support it. Suitable for verifying specific queries (e.g., configuration systems).</a:t>
            </a:r>
          </a:p>
          <a:p>
            <a:r>
              <a:t>Process: Try to prove a goal. If it's a rule's 'THEN' part, check if its 'IF' parts are true; if not, set them as new sub-goals.</a:t>
            </a:r>
          </a:p>
          <a:p>
            <a:r>
              <a:t>Many expert systems combine both approaches, using forward chaining for initial data and backward chaining for specific goal pursuit.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Applications of 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Knowledge acquisition bottleneck, brittleness (limited to narrow domains), high maintenance for knowledge updates, scalability issues, and validation difficulties.</a:t>
            </a:r>
          </a:p>
          <a:p>
            <a:r>
              <a:t>Brittleness: ES often lack common sense reasoning and perform poorly outside their precisely defined scope.</a:t>
            </a:r>
          </a:p>
          <a:p>
            <a:r>
              <a:t>Applications: Medical diagnosis (MYCIN), financial planning, configuring complex computer systems (XCON), process control, and early fraud detection.</a:t>
            </a:r>
          </a:p>
          <a:p>
            <a:r>
              <a:t>Further Applications: Quality control in manufacturing, and various diagnostic tasks.</a:t>
            </a:r>
          </a:p>
          <a:p>
            <a:r>
              <a:t>While direct 'expert systems' diminished with the rise of ML, their principles of knowledge representation and rule-based reasoning remain influential, especially where explainability is paramount.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(ML) is a subset of Artificial Intelligence (AI) that enables systems to learn from data without being explicitly programmed.</a:t>
            </a:r>
          </a:p>
          <a:p>
            <a:r>
              <a:t>Arthur Samuel defined ML in 1959 as a 'field of study that gives computers the ability to learn without being explicitly programmed.'</a:t>
            </a:r>
          </a:p>
          <a:p>
            <a:r>
              <a:t>Instead of hardcoding rules, ML algorithms identify patterns and make predictions or decisions based on observed data.</a:t>
            </a:r>
          </a:p>
          <a:p>
            <a:r>
              <a:t>The core idea is to build models that can generalize from examples, improving their performance on a specific task over time with more data.</a:t>
            </a:r>
          </a:p>
          <a:p>
            <a:r>
              <a:t>ML has become a transformative technology, driving innovation across various industries, from healthcare to finance and autonomous systems.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AI, ML, DL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(AI): The broadest field, encompassing any technique that enables computers to mimic human intelligence, including logic, expert systems, planning, and perception.</a:t>
            </a:r>
          </a:p>
          <a:p>
            <a:r>
              <a:t>Machine Learning (ML): A subfield of AI focused on algorithms that allow systems to learn from data and improve performance on a task without explicit programming; it's a method of achieving AI.</a:t>
            </a:r>
          </a:p>
          <a:p>
            <a:r>
              <a:t>Deep Learning (DL): A subfield of Machine Learning that uses artificial neural networks with multiple layers ('deep') to learn representations of data with multiple levels of abstraction.</a:t>
            </a:r>
          </a:p>
          <a:p>
            <a:r>
              <a:t>DL has significantly advanced ML capabilities in areas like image recognition, natural language processing, and speech recognition due to its ability to automatically learn complex features.</a:t>
            </a:r>
          </a:p>
          <a:p>
            <a:r>
              <a:t>Essentially, AI is the umbrella concept, ML is a specific approach to AI, and DL is a powerful sub-approach within ML.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tasks can be broadly categorized based on the nature of the learning signal or feedback available.</a:t>
            </a:r>
          </a:p>
          <a:p>
            <a:r>
              <a:t>Supervised Learning: Learning from labeled data (input-output pairs), used for prediction and classification (e.g., predicting house prices, classifying emails).</a:t>
            </a:r>
          </a:p>
          <a:p>
            <a:r>
              <a:t>Unsupervised Learning: Learning from unlabeled data to identify hidden patterns or structures (e.g., clustering customers, dimensionality reduction).</a:t>
            </a:r>
          </a:p>
          <a:p>
            <a:r>
              <a:t>Reinforcement Learning: Learning through trial and error by interacting with an environment to maximize cumulative reward (e.g., training autonomous agents).</a:t>
            </a:r>
          </a:p>
          <a:p>
            <a:r>
              <a:t>Semi-Supervised Learning: A hybrid approach using a small amount of labeled data and a large amount of unlabeled data to improve learning efficiency and accuracy.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an ML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typical Machine Learning system comprises several interconnected components: Data, Features, Model, Learning Algorithm, Objective Function, and Parameters.</a:t>
            </a:r>
          </a:p>
          <a:p>
            <a:r>
              <a:t>Data: The raw information from which the model learns; its quality and quantity are paramount.</a:t>
            </a:r>
          </a:p>
          <a:p>
            <a:r>
              <a:t>Features: Relevant attributes extracted from raw data, used as input to the model. Feature engineering is a critical step.</a:t>
            </a:r>
          </a:p>
          <a:p>
            <a:r>
              <a:t>Model: The algorithm or mathematical structure (e.g., neural network, decision tree) that learns patterns from the data.</a:t>
            </a:r>
          </a:p>
          <a:p>
            <a:r>
              <a:t>Learning Algorithm: The process by which the model adjusts its internal parameters based on training data and an objective function.</a:t>
            </a:r>
          </a:p>
          <a:p>
            <a:r>
              <a:t>Objective Function (Loss/Cost Function): Quantifies the difference between predictions and actual targets, guiding the learning process to minimize error.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 Machine Learning: Importance and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 the fuel for machine learning; its quality, quantity, and relevance directly impact model performance – 'Garbage in, garbage out' is critically true.</a:t>
            </a:r>
          </a:p>
          <a:p>
            <a:r>
              <a:t>Structured Data: Organized into tabular format (rows, columns), easily stored and processed in databases (e.g., CSV, SQL). Common in business applications.</a:t>
            </a:r>
          </a:p>
          <a:p>
            <a:r>
              <a:t>Unstructured Data: Lacks predefined format, often textual or multimedia (e.g., emails, images, audio). Requires advanced processing techniques.</a:t>
            </a:r>
          </a:p>
          <a:p>
            <a:r>
              <a:t>Semi-structured Data: Contains tags or markers for hierarchical grouping but without rigid relational schema (e.g., XML, JSON).</a:t>
            </a:r>
          </a:p>
          <a:p>
            <a:r>
              <a:t>Data Preprocessing: Crucial steps before training, including cleaning (handling missing values, removing noise), transformation (scaling, normalization), and feature engineering (creating new features).</a:t>
            </a:r>
          </a:p>
          <a:p>
            <a:r>
              <a:t>Proper data management and preprocessing are often the most time-consuming yet critical parts of an ML project.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is a paradigm in machine learning where an algorithm learns from a labeled dataset.</a:t>
            </a:r>
          </a:p>
          <a:p>
            <a:r>
              <a:t>The dataset consists of input-output pairs (X, Y), where X represents the input features and Y is the corresponding desired output or 'label.'</a:t>
            </a:r>
          </a:p>
          <a:p>
            <a:r>
              <a:t>The goal is to learn a mapping function from the input features to the output labels, such that the model can accurately predict outputs for new, unseen inputs.</a:t>
            </a:r>
          </a:p>
          <a:p>
            <a:r>
              <a:t>The learning process involves minimizing the difference between the model's predictions and the true labels over the training data using an objective function.</a:t>
            </a:r>
          </a:p>
          <a:p>
            <a:r>
              <a:t>It's called 'supervised' because the presence of labels acts as a supervisor, guiding the learning process by providing the correct answers for each example.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Concepts: Features, Labels, Training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 (X): Independent variables or attributes of the data used as input to the model, representing characteristics of each data point (e.g., square footage, number of bedrooms for house price prediction).</a:t>
            </a:r>
          </a:p>
          <a:p>
            <a:r>
              <a:t>Labels (Y): Dependent variables or target outputs that the model is trained to predict; these are the 'correct answers' in the training data (e.g., actual selling price, 'spam'/'not spam').</a:t>
            </a:r>
          </a:p>
          <a:p>
            <a:r>
              <a:t>Training Data: The subset of the complete dataset used to train the machine learning model, consisting of many (X, Y) pairs from which the model learns the relationship.</a:t>
            </a:r>
          </a:p>
          <a:p>
            <a:r>
              <a:t>Validation Data: A separate subset of data used to tune hyperparameters and evaluate the model's performance during training, helping to prevent overfitting.</a:t>
            </a:r>
          </a:p>
          <a:p>
            <a:r>
              <a:t>Test Data: An entirely unseen subset of data used to assess the final trained model's generalization ability on new, real-world data, providing an unbiased evaluation.</a:t>
            </a:r>
          </a:p>
          <a:p>
            <a:r>
              <a:t>Proper division into these sets is crucial for robust model development and evaluation.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Problems: Predicting Continuous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is a type of supervised learning task where the goal is to predict a continuous numerical output value.</a:t>
            </a:r>
          </a:p>
          <a:p>
            <a:r>
              <a:t>The output variable can take any value within a range, making it suitable for predicting quantities, rather than discrete categories.</a:t>
            </a:r>
          </a:p>
          <a:p>
            <a:r>
              <a:t>Examples include predicting house prices, stock market fluctuations, temperature, age, or sales figures.</a:t>
            </a:r>
          </a:p>
          <a:p>
            <a:r>
              <a:t>The model learns to estimate the functional relationship between the input features and the continuous target variable, often aiming to minimize a cost function like squared error.</a:t>
            </a:r>
          </a:p>
          <a:p>
            <a:r>
              <a:t>Common regression algorithms include Linear Regression, Polynomial Regression, Decision Tree Regression, Support Vector Regression (SVR), and ensemble methods like Random Forest Regressor.</a:t>
            </a:r>
          </a:p>
          <a:p>
            <a:r>
              <a:t>Performance is typically measured using metrics like Mean Squared Error (MSE), Root Mean Squared Error (RMSE), or R-squared.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Problems: Predicting Discrete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is another type of supervised learning task where the goal is to predict a discrete categorical output label.</a:t>
            </a:r>
          </a:p>
          <a:p>
            <a:r>
              <a:t>The output variable belongs to a finite set of predefined categories or classes, unlike continuous values in regression.</a:t>
            </a:r>
          </a:p>
          <a:p>
            <a:r>
              <a:t>Binary Classification: Predicts one of two classes (e.g., spam/not spam, disease/no disease). This is the simplest form.</a:t>
            </a:r>
          </a:p>
          <a:p>
            <a:r>
              <a:t>Multi-class Classification: Predicts one of more than two classes (e.g., types of animals, handwritten digit recognition, sentiment analysis into positive/negative/neutral).</a:t>
            </a:r>
          </a:p>
          <a:p>
            <a:r>
              <a:t>The model learns to assign an input example to one of the predefined categories based on its features and the patterns learned from the labeled training data.</a:t>
            </a:r>
          </a:p>
          <a:p>
            <a:r>
              <a:t>Common classification algorithms include Logistic Regression, K-Nearest Neighbors (K-NN), Support Vector Machines (SVM), Decision Trees, Naive Bayes, and neural networks.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Supervised Learning Algorithms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Regression: A foundational algorithm for regression tasks, modeling the relationship between features and output as a linear equation.</a:t>
            </a:r>
          </a:p>
          <a:p>
            <a:r>
              <a:t>Logistic Regression: Primarily used for binary classification, despite its name. It models the probability of a binary outcome using a sigmoid function.</a:t>
            </a:r>
          </a:p>
          <a:p>
            <a:r>
              <a:t>Decision Trees: Tree-like models where internal nodes test attributes, branches are outcomes, and leaf nodes represent class labels or regression values; highly interpretable.</a:t>
            </a:r>
          </a:p>
          <a:p>
            <a:r>
              <a:t>Support Vector Machines (SVM): Powerful for classification and regression, finding an optimal hyperplane that maximally separates data points of different classes in a high-dimensional space.</a:t>
            </a:r>
          </a:p>
          <a:p>
            <a:r>
              <a:t>K-Nearest Neighbors (K-NN): A non-parametric, instance-based learning algorithm that classifies a data point based on the majority class of its 'k' nearest neighbors in the feature space.</a:t>
            </a:r>
          </a:p>
          <a:p>
            <a:r>
              <a:t>Random Forests: An ensemble method building multiple decision trees, averaging or voting their predictions to improve accuracy and robustness for both classification and regression.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learning is a machine learning paradigm where algorithms learn from unlabeled data, meaning there are no predefined output labels or target variables.</a:t>
            </a:r>
          </a:p>
          <a:p>
            <a:r>
              <a:t>The primary goal is to discover hidden patterns, structures, or relationships within the data itself without explicit guidance.</a:t>
            </a:r>
          </a:p>
          <a:p>
            <a:r>
              <a:t>Instead of predicting an output, unsupervised algorithms aim to understand the underlying distribution of the data or to group similar data points together.</a:t>
            </a:r>
          </a:p>
          <a:p>
            <a:r>
              <a:t>It's called 'unsupervised' because there's no 'supervisor' providing correct answers; the algorithm must find its own structure from the input features.</a:t>
            </a:r>
          </a:p>
          <a:p>
            <a:r>
              <a:t>Unsupervised learning is crucial for exploratory data analysis, data compression, feature learning, and anomaly detection.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Clustering: Grouping Similar Data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 is a fundamental unsupervised learning task that aims to partition a dataset into groups (clusters) such that data points within the same group are more similar to each other than to those in other groups.</a:t>
            </a:r>
          </a:p>
          <a:p>
            <a:r>
              <a:t>Similarity is often measured using distance metrics (e.g., Euclidean distance, cosine similarity) in the feature space, defining proximity between data points.</a:t>
            </a:r>
          </a:p>
          <a:p>
            <a:r>
              <a:t>The number of clusters can be pre-defined by the user (as in K-Means) or discovered by the algorithm itself (as in hierarchical or density-based methods).</a:t>
            </a:r>
          </a:p>
          <a:p>
            <a:r>
              <a:t>Common clustering algorithms include: K-Means (partitions data into k clusters based on centroids), Hierarchical Clustering (builds a tree of clusters), and DBSCAN (identifies density-connected points).</a:t>
            </a:r>
          </a:p>
          <a:p>
            <a:r>
              <a:t>Applications include customer segmentation for targeted marketing, anomaly detection, document analysis, and image segmentation.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Dimensionality Reduction: Simplifying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Dimensionality reduction is a technique used to reduce the number of input features (dimensions) in a dataset while retaining as much relevant information as possible.</a:t>
            </a:r>
          </a:p>
          <a:p>
            <a:r>
              <a:t>High-dimensional data can suffer from the 'curse of dimensionality,' leading to increased computational cost, sparse data, and potential overfitting.</a:t>
            </a:r>
          </a:p>
          <a:p>
            <a:r>
              <a:t>The goals are to improve model performance, reduce storage space, speed up computation, and enable better data visualization in lower dimensions.</a:t>
            </a:r>
          </a:p>
          <a:p>
            <a:r>
              <a:t>Feature Selection: Involves choosing a subset of the most relevant existing features from the original set, discarding redundant or irrelevant ones.</a:t>
            </a:r>
          </a:p>
          <a:p>
            <a:r>
              <a:t>Feature Extraction: Transforms the data into a lower-dimensional space by creating new, derived features (components) from combinations of the original ones.</a:t>
            </a:r>
          </a:p>
          <a:p>
            <a:r>
              <a:t>Common techniques include Principal Component Analysis (PCA) for linear transformations and t-SNE for non-linear visualization of high-dimensional data.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Association rule learning is an unsupervised technique for discovering interesting relationships or associations between variables in large databases.</a:t>
            </a:r>
          </a:p>
          <a:p>
            <a:r>
              <a:t>It is widely used for market basket analysis, identifying items that are frequently purchased together (e.g., 'customers who buy bread also buy milk').</a:t>
            </a:r>
          </a:p>
          <a:p>
            <a:r>
              <a:t>The relationships are expressed as 'if-then' rules (e.g., {Bread} -&gt; {Milk}), but these rules are not causal; they simply indicate co-occurrence patterns.</a:t>
            </a:r>
          </a:p>
          <a:p>
            <a:r>
              <a:t>Key metrics for evaluating association rules are: Support (how frequent the itemset is), Confidence (how often Y appears when X appears), and Lift (how much more likely Y is with X compared to baseline).</a:t>
            </a:r>
          </a:p>
          <a:p>
            <a:r>
              <a:t>The Apriori algorithm is a classic method for efficiently finding frequent itemsets and generating association rules by leveraging the anti-monotone property of support.</a:t>
            </a:r>
          </a:p>
          <a:p>
            <a:r>
              <a:t>Applications extend beyond retail to medical diagnosis, web usage mining, and bioinformatics for identifying co-occurring patterns.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Challenges of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Applications: Customer segmentation, anomaly detection (e.g., fraud), data compression, topic modeling in text, recommendation systems, and bioinformatics.</a:t>
            </a:r>
          </a:p>
          <a:p>
            <a:r>
              <a:t>Anomaly Detection: Identifying unusual patterns that do not conform to expected behavior, crucial in security and surveillance.</a:t>
            </a:r>
          </a:p>
          <a:p>
            <a:r>
              <a:t>Challenges: Lack of ground truth, making objective evaluation of model performance often subjective and difficult.</a:t>
            </a:r>
          </a:p>
          <a:p>
            <a:r>
              <a:t>Interpretation: The patterns discovered by algorithms may not always be easily interpretable or directly actionable without domain expertise.</a:t>
            </a:r>
          </a:p>
          <a:p>
            <a:r>
              <a:t>Parameter Sensitivity: Many algorithms (e.g., K-Means) require specifying parameters (like 'k') that significantly impact results and may need heuristic methods to choose.</a:t>
            </a:r>
          </a:p>
          <a:p>
            <a:r>
              <a:t>Scalability: Processing very large, high-dimensional unlabeled datasets can be computationally intensive.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Classification: Detailed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is a supervised machine learning task where the model learns to assign input data points to one of several predefined discrete categories or classes.</a:t>
            </a:r>
          </a:p>
          <a:p>
            <a:r>
              <a:t>The goal is to build a model that can predict the class label of new, unseen data based on features learned from labeled training data.</a:t>
            </a:r>
          </a:p>
          <a:p>
            <a:r>
              <a:t>Binary Classification: Involves predicting one of two possible outcomes (e.g., 'yes' or 'no,' 'spam' or 'not spam'). This is the simplest and most common form.</a:t>
            </a:r>
          </a:p>
          <a:p>
            <a:r>
              <a:t>Multi-class Classification: Involves predicting one of more than two possible outcomes (e.g., classifying images of animals into 'cat,' 'dog,' 'bird,' 'fish').</a:t>
            </a:r>
          </a:p>
          <a:p>
            <a:r>
              <a:t>Multi-label Classification: A more complex variant where an instance can be assigned to multiple classes simultaneously (e.g., an image can contain both 'dog' and 'cat').</a:t>
            </a:r>
          </a:p>
          <a:p>
            <a:r>
              <a:t>The output of a classifier is typically a probability distribution over the possible classes, from which the most likely class is chosen based on a threshold.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Classification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K-Nearest Neighbors (K-NN): A non-parametric, lazy learning algorithm that classifies new data points based on the majority class of their 'k' closest neighbors in the feature space.</a:t>
            </a:r>
          </a:p>
          <a:p>
            <a:r>
              <a:t>Support Vector Machines (SVM): Finds an optimal hyperplane in a high-dimensional feature space that best separates data points of different classes, maximizing the margin between them; effective for high-dimensional data.</a:t>
            </a:r>
          </a:p>
          <a:p>
            <a:r>
              <a:t>Decision Trees: Hierarchical models that split the data based on features into a tree-like structure, leading to a decision at the leaf nodes; highly interpretable but prone to overfitting without pruning.</a:t>
            </a:r>
          </a:p>
          <a:p>
            <a:r>
              <a:t>Logistic Regression: A statistical model used for binary classification. It estimates the probability of a data point belonging to a particular class using a sigmoid function; a linear model.</a:t>
            </a:r>
          </a:p>
          <a:p>
            <a:r>
              <a:t>Naive Bayes: A family of probabilistic classifiers based on Bayes' theorem, assuming strong (naive) independence between features; simple, fast, and often effective for text classification.</a:t>
            </a:r>
          </a:p>
          <a:p>
            <a:r>
              <a:t>Ensemble Methods (e.g., Random Forest, Gradient Boosting): Combine multiple individual classifiers (often decision trees) to improve overall performance and reduce variance through techniques like bagging or boosting.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Regression: Detailed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is a supervised machine learning task focused on predicting a continuous numerical value as output.</a:t>
            </a:r>
          </a:p>
          <a:p>
            <a:r>
              <a:t>Unlike classification, the target variable can take any value within a given range, representing quantities or magnitudes, rather than discrete categories.</a:t>
            </a:r>
          </a:p>
          <a:p>
            <a:r>
              <a:t>The goal is to model the relationship between one or more independent input features and a dependent continuous output variable.</a:t>
            </a:r>
          </a:p>
          <a:p>
            <a:r>
              <a:t>The output of a regression model is typically a single numerical value (e.g., a predicted price, temperature, or age).</a:t>
            </a:r>
          </a:p>
          <a:p>
            <a:r>
              <a:t>Regression models are widely used for forecasting, prediction, and understanding the impact of features on an outcome, such as demand prediction or risk assessment.</a:t>
            </a:r>
          </a:p>
          <a:p>
            <a:r>
              <a:t>The 'fit' of a regression model is often visualized by plotting the predicted values against the actual values, ideally showing a close alignment along a 45-degree line.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Regression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Regression: The most basic form, models the relationship between the dependent variable and independent variables as a straight line (or hyperplane in higher dimensions), assuming a linear relationship.</a:t>
            </a:r>
          </a:p>
          <a:p>
            <a:r>
              <a:t>Polynomial Regression: Extends linear regression by modeling the relationship as an nth-degree polynomial, allowing for capturing non-linear relationships between variables.</a:t>
            </a:r>
          </a:p>
          <a:p>
            <a:r>
              <a:t>Ridge and Lasso Regression: Regularized versions of linear regression that add a penalty term to the loss function to prevent overfitting and handle multicollinearity, with Lasso also performing feature selection by shrinking coefficients to zero.</a:t>
            </a:r>
          </a:p>
          <a:p>
            <a:r>
              <a:t>Decision Tree Regressor: Similar to classification trees, but the leaf nodes predict a continuous value (often the mean of the target values of the training instances in that leaf).</a:t>
            </a:r>
          </a:p>
          <a:p>
            <a:r>
              <a:t>Support Vector Regression (SVR): An adaptation of SVMs for regression tasks. It finds a function that deviates from the actual target values by no more than a certain epsilon (ε), while being as flat as possible.</a:t>
            </a:r>
          </a:p>
          <a:p>
            <a:r>
              <a:t>Ensemble Methods (e.g., Random Forest Regressor, Gradient Boosting Regressor): Combine multiple decision trees to produce more robust and accurate predictions by averaging their outputs, reducing bias and variance.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and 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Selection: The process of choosing the most appropriate machine learning algorithm and architecture for a given task and dataset.</a:t>
            </a:r>
          </a:p>
          <a:p>
            <a:r>
              <a:t>Involves considering factors like data type, dataset size, problem complexity, interpretability requirements, and computational resources, often through comparative evaluation.</a:t>
            </a:r>
          </a:p>
          <a:p>
            <a:r>
              <a:t>Hyperparameters: Configuration settings external to the model that are not learned from the data during training but are set prior (e.g., 'k' in K-NN, 'C' in SVM, 'max_depth' in Decision Trees).</a:t>
            </a:r>
          </a:p>
          <a:p>
            <a:r>
              <a:t>Hyperparameter Tuning: The process of finding the optimal set of hyperparameters that yields the best model performance on unseen data (typically a validation set).</a:t>
            </a:r>
          </a:p>
          <a:p>
            <a:r>
              <a:t>Techniques include Grid Search (exhaustively searches a predefined space), Random Search (randomly samples combinations), and Bayesian Optimization (intelligently explores promising regions).</a:t>
            </a:r>
          </a:p>
          <a:p>
            <a:r>
              <a:t>Effective model selection and hyperparameter tuning are crucial for maximizing the generalization capability and real-world performance of a machine learning model.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evaluation is a critical step in the machine learning workflow, assessing how well a trained model performs on unseen data.</a:t>
            </a:r>
          </a:p>
          <a:p>
            <a:r>
              <a:t>It provides objective measures to compare different models, tune hyperparameters, and understand a model's strengths and weaknesses beyond just training performance.</a:t>
            </a:r>
          </a:p>
          <a:p>
            <a:r>
              <a:t>Without proper evaluation, it's impossible to determine if a model has truly learned generalizable patterns or merely memorized the training data (overfitting).</a:t>
            </a:r>
          </a:p>
          <a:p>
            <a:r>
              <a:t>Evaluation metrics help quantify a model's prediction accuracy, reliability, and utility in real-world scenarios, ensuring it meets problem requirements.</a:t>
            </a:r>
          </a:p>
          <a:p>
            <a:r>
              <a:t>Choosing the right evaluation metric is crucial as different metrics highlight different aspects of model performance and can lead to different conclusions, especially with imbalanced datasets or specific business objectives.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for Classification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The proportion of correctly classified instances out of the total instances. Formula: (TP + TN) / (TP + TN + FP + FN).</a:t>
            </a:r>
          </a:p>
          <a:p>
            <a:r>
              <a:t>Accuracy can be misleading for imbalanced datasets, where a high accuracy might be achieved by simply predicting the majority class.</a:t>
            </a:r>
          </a:p>
          <a:p>
            <a:r>
              <a:t>Precision (Positive Predictive Value): Measures the proportion of correctly predicted positive observations among all observations predicted as positive. Formula: TP / (TP + FP). Important when the cost of false positives is high.</a:t>
            </a:r>
          </a:p>
          <a:p>
            <a:r>
              <a:t>Recall (Sensitivity or True Positive Rate): Measures the proportion of correctly predicted positive observations among all actual positives. Formula: TP / (TP + FN). Important when the cost of false negatives is high.</a:t>
            </a:r>
          </a:p>
          <a:p>
            <a:r>
              <a:t>F1-Score: The harmonic mean of Precision and Recall, providing a balanced measure. Formula: 2 * (Precision * Recall) / (Precision + Recall). Useful when there is an uneven class distribution.</a:t>
            </a:r>
          </a:p>
          <a:p>
            <a:r>
              <a:t>TP: True Positives, TN: True Negatives, FP: False Positives, FN: False Negatives.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and ROC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Matrix: A table used to describe the performance of a classification model, breaking down predictions into True Positives (TP), True Negatives (TN), False Positives (FP), and False Negatives (FN).</a:t>
            </a:r>
          </a:p>
          <a:p>
            <a:r>
              <a:t>Provides detailed insight into where the model is making errors (Type I: FP, Type II: FN), beyond just a single accuracy number, and is essential for calculating precision, recall, and specificity.</a:t>
            </a:r>
          </a:p>
          <a:p>
            <a:r>
              <a:t>ROC (Receiver Operating Characteristic) Curve: A plot illustrating the diagnostic ability of a binary classifier system as its discrimination threshold is varied.</a:t>
            </a:r>
          </a:p>
          <a:p>
            <a:r>
              <a:t>It plots the True Positive Rate (Recall) against the False Positive Rate (1 - Specificity) at various threshold settings, with a curve closer to the top-left indicating better performance.</a:t>
            </a:r>
          </a:p>
          <a:p>
            <a:r>
              <a:t>AUC (Area Under the Curve): The area under the ROC curve, representing the probability that the classifier will rank a randomly chosen positive instance higher than a randomly chosen negative instance.</a:t>
            </a:r>
          </a:p>
          <a:p>
            <a:r>
              <a:t>AUC values range from 0.5 (random) to 1.0 (perfect), useful for comparing different models regardless of their specific operating thresholds and for imbalanced datasets.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for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metrics quantify the difference between the predicted continuous values and the actual observed values, typically measuring error or fit.</a:t>
            </a:r>
          </a:p>
          <a:p>
            <a:r>
              <a:t>Mean Absolute Error (MAE): The average of the absolute differences between predictions and actual values. Formula: (1/N) * Σ |Yi_actual - Yi_predicted|. It's robust to outliers.</a:t>
            </a:r>
          </a:p>
          <a:p>
            <a:r>
              <a:t>Mean Squared Error (MSE): The average of the squared differences between predictions and actual values. Formula: (1/N) * Σ (Yi_actual - Yi_predicted)^2. It penalizes larger errors more heavily.</a:t>
            </a:r>
          </a:p>
          <a:p>
            <a:r>
              <a:t>Root Mean Squared Error (RMSE): The square root of the MSE. It's often preferred over MSE because it's in the same units as the target variable, making it more interpretable. Formula: √MSE.</a:t>
            </a:r>
          </a:p>
          <a:p>
            <a:r>
              <a:t>R-squared (Coefficient of Determination): Represents the proportion of the variance in the dependent variable that is predictable from the independent variables. Formula: 1 - (SS_res / SS_tot).</a:t>
            </a:r>
          </a:p>
          <a:p>
            <a:r>
              <a:t>R-squared ranges from 0 to 1 (or sometimes negative); a higher value indicates a better fit. The choice of regression metric depends on the problem's sensitivity to large errors and the need for interpretability.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 and Overfitting/Underfitting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Overfitting: Occurs when a model learns the training data too well, including its noise, leading to poor performance on new, unseen data; the model is too complex.</a:t>
            </a:r>
          </a:p>
          <a:p>
            <a:r>
              <a:t>Indicated by high performance on training data but significantly lower performance on test/validation data.</a:t>
            </a:r>
          </a:p>
          <a:p>
            <a:r>
              <a:t>Underfitting: Occurs when a model is too simple to capture the underlying patterns in the training data, resulting in poor performance on both training and test data.</a:t>
            </a:r>
          </a:p>
          <a:p>
            <a:r>
              <a:t>Cross-Validation: A technique to assess how the results of a statistical analysis will generalize to an independent dataset, mitigating overfitting and selection bias.</a:t>
            </a:r>
          </a:p>
          <a:p>
            <a:r>
              <a:t>K-Fold Cross-Validation: The most common method; data is split into 'k' folds, model trained 'k' times (using 'k-1' folds for training, one for validation), and results averaged.</a:t>
            </a:r>
          </a:p>
          <a:p>
            <a:r>
              <a:t>This provides a more robust estimate of a model's generalization performance than a single train-test split, crucial for reliable model evaluation and hyperparameter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