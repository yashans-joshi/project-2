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Topics in AI: Supervised Learning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 is a subfield of Machine Learning where an algorithm learns from labeled training data.</a:t>
            </a:r>
          </a:p>
          <a:p>
            <a:r>
              <a:t>The core idea is to map input features (X) to an output target (y) based on examples where both X and y are known.</a:t>
            </a:r>
          </a:p>
          <a:p>
            <a:r>
              <a:t>The 'supervision' comes from the fact that the algorithm is provided with the correct outputs during the training phase.</a:t>
            </a:r>
          </a:p>
          <a:p>
            <a:r>
              <a:t>The goal is to learn a generalizable function that can predict the output for new, unseen input data.</a:t>
            </a:r>
          </a:p>
          <a:p>
            <a:r>
              <a:t>It is one of the most widely used and successful paradigms in practical AI applications, forming the basis for predictive modeling.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**Labeled Dataset:** Comprises input-output pairs (x_i, y_i), where x_i is a vector of features and y_i is the corresponding ground truth label.</a:t>
            </a:r>
          </a:p>
          <a:p>
            <a:r>
              <a:t>**Features (Independent Variables):** The measurable properties or attributes of the data used as input for the model.</a:t>
            </a:r>
          </a:p>
          <a:p>
            <a:r>
              <a:t>**Target (Dependent Variable):** The variable that the model is designed to predict; can be categorical (for classification) or continuous (for regression).</a:t>
            </a:r>
          </a:p>
          <a:p>
            <a:r>
              <a:t>**Learning Algorithm:** A mathematical model or procedure used to find a mapping function f: X -&gt; Y based on the training data.</a:t>
            </a:r>
          </a:p>
          <a:p>
            <a:r>
              <a:t>**Model:** The trained function or hypothesis that has learned the patterns from the labeled data.</a:t>
            </a:r>
          </a:p>
          <a:p>
            <a:r>
              <a:t>**Loss Function:** Quantifies the discrepancy between the model's predictions and the actual target values, guiding the learning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Workflow and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**Data Collection and Preprocessing:** Gathering relevant data, cleaning, handling missing values, and feature engineering.</a:t>
            </a:r>
          </a:p>
          <a:p>
            <a:r>
              <a:t>**Data Splitting:** Dividing the labeled dataset into training, validation, and test sets to ensure robust model evaluation.</a:t>
            </a:r>
          </a:p>
          <a:p>
            <a:r>
              <a:t>**Model Training:** The algorithm iteratively adjusts its internal parameters by minimizing the loss function on the training data.</a:t>
            </a:r>
          </a:p>
          <a:p>
            <a:r>
              <a:t>**Model Validation:** Using the validation set to tune hyperparameters and prevent overfitting during the development phase.</a:t>
            </a:r>
          </a:p>
          <a:p>
            <a:r>
              <a:t>**Model Evaluation:** Assessing the final model's performance on the unseen test set using appropriate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Supervised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**Linear Regression:** Predicts a continuous output based on a linear combination of input features, minimizing the sum of squared errors.</a:t>
            </a:r>
          </a:p>
          <a:p>
            <a:r>
              <a:t>**Logistic Regression:** Used for binary classification, modeling the probability of an instance belonging to a particular class via a sigmoid function.</a:t>
            </a:r>
          </a:p>
          <a:p>
            <a:r>
              <a:t>**Support Vector Machines (SVM):** Finds an optimal hyperplane that best separates data points of different classes in a high-dimensional space.</a:t>
            </a:r>
          </a:p>
          <a:p>
            <a:r>
              <a:t>**Decision Trees:** Tree-like models that make decisions based on feature values, partitioning the data into homogeneous subsets.</a:t>
            </a:r>
          </a:p>
          <a:p>
            <a:r>
              <a:t>**Random Forests:** An ensemble method that combines multiple decision trees to improve accuracy and reduce overfitting.</a:t>
            </a:r>
          </a:p>
          <a:p>
            <a:r>
              <a:t>**Gradient Boosting Machines (GBM) / XGBoost:** Ensemble techniques that build models sequentially, where each new model corrects errors of previous 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and Challenges of 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**Applications:** Spam detection, image classification, medical diagnosis, stock price prediction, sentiment analysis, fraud detection.</a:t>
            </a:r>
          </a:p>
          <a:p>
            <a:r>
              <a:t>**Need for Labeled Data:** Requires extensive and accurately labeled datasets, which can be expensive and time-consuming to acquire.</a:t>
            </a:r>
          </a:p>
          <a:p>
            <a:r>
              <a:t>**Overfitting:** Models may perform very well on training data but poorly on unseen data, indicating they have learned noise rather than underlying patterns.</a:t>
            </a:r>
          </a:p>
          <a:p>
            <a:r>
              <a:t>**Underfitting:** Models are too simple to capture the underlying patterns in the data, resulting in poor performance on both training and test sets.</a:t>
            </a:r>
          </a:p>
          <a:p>
            <a:r>
              <a:t>**Feature Engineering:** The quality and relevance of input features significantly impact model performance, often requiring domain expertise.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Topics in AI: Unsupervised Learning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Unsupervised Learning is a machine learning paradigm that works with unlabeled data, aiming to discover inherent patterns or structures within it.</a:t>
            </a:r>
          </a:p>
          <a:p>
            <a:r>
              <a:t>Unlike supervised learning, there are no 'correct' output labels provided during training; the algorithm must infer relationships on its own.</a:t>
            </a:r>
          </a:p>
          <a:p>
            <a:r>
              <a:t>The primary goal is to explore the underlying distribution of data, find hidden groups, or reduce data dimensionality.</a:t>
            </a:r>
          </a:p>
          <a:p>
            <a:r>
              <a:t>It is particularly useful when obtaining labeled data is difficult, expensive, or impossible, or when the data structure is unknown.</a:t>
            </a:r>
          </a:p>
          <a:p>
            <a:r>
              <a:t>Unsupervised methods often serve as a preliminary step for supervised learning or for data exploration and feature engineering.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 and Objectives of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**Unlabeled Data:** The input data consists only of features (X) without corresponding output labels (y).</a:t>
            </a:r>
          </a:p>
          <a:p>
            <a:r>
              <a:t>**Pattern Discovery:** The algorithm seeks to identify intrinsic groupings, associations, or representations within the data.</a:t>
            </a:r>
          </a:p>
          <a:p>
            <a:r>
              <a:t>**Clustering:** Grouping similar data points together into clusters, where points within a cluster are more similar to each other than to points in other clusters.</a:t>
            </a:r>
          </a:p>
          <a:p>
            <a:r>
              <a:t>**Dimensionality Reduction:** Transforming high-dimensional data into a lower-dimensional space while retaining most of the significant information.</a:t>
            </a:r>
          </a:p>
          <a:p>
            <a:r>
              <a:t>**Anomaly Detection:** Identifying data points that deviate significantly from the majority of the data, potentially indicating rare events or errors.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Unsupervised Learning Algorithms: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**K-Means Clustering:** An iterative algorithm that partitions data into K predefined clusters, assigning each data point to the cluster with the nearest mean.</a:t>
            </a:r>
          </a:p>
          <a:p>
            <a:r>
              <a:t>**Hierarchical Clustering (Agglomerative/Divisive):** Builds a hierarchy of clusters, either by merging small clusters into larger ones or by splitting large clusters.</a:t>
            </a:r>
          </a:p>
          <a:p>
            <a:r>
              <a:t>**DBSCAN (Density-Based Spatial Clustering of Applications with Noise):** Identifies clusters based on the density of data points, effectively finding arbitrarily shaped clusters and identifying outliers.</a:t>
            </a:r>
          </a:p>
          <a:p>
            <a:r>
              <a:t>**Mean-Shift:** A non-parametric clustering technique that locates the centroids of dense regions in the data, suitable for varying cluster shapes.</a:t>
            </a:r>
          </a:p>
          <a:p>
            <a:r>
              <a:t>**Gaussian Mixture Models (GMM):** Assumes data points are generated from a mixture of several Gaussian distributions, using Expectation-Maximization (EM) to find parameters.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Unsupervised Learning Algorithms: 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**Principal Component Analysis (PCA):** A linear transformation technique that identifies principal components (directions of maximum variance) to project data into a lower-dimensional subspace.</a:t>
            </a:r>
          </a:p>
          <a:p>
            <a:r>
              <a:t>**t-Distributed Stochastic Neighbor Embedding (t-SNE):** A non-linear dimensionality reduction technique well-suited for visualizing high-dimensional datasets by giving each data point a location in a two or three-dimensional map.</a:t>
            </a:r>
          </a:p>
          <a:p>
            <a:r>
              <a:t>**Autoencoders:** Neural networks trained to reconstruct their input, where the bottleneck layer learns a compressed, low-dimensional representation of the data.</a:t>
            </a:r>
          </a:p>
          <a:p>
            <a:r>
              <a:t>**Independent Component Analysis (ICA):** Separates a multivariate signal into additive subcomponents assuming non-Gaussian source signals.</a:t>
            </a:r>
          </a:p>
          <a:p>
            <a:r>
              <a:t>**Factor Analysis:** A statistical method used to describe variability among observed, correlated variables in terms of a potentially lower number of unobserved latent variables.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and Challenges of 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**Applications:** Customer segmentation, anomaly detection, topic modeling in text, image compression, gene sequence analysis, data visualization.</a:t>
            </a:r>
          </a:p>
          <a:p>
            <a:r>
              <a:t>**Lack of Ground Truth:** Difficult to objectively evaluate performance without predefined labels, often relying on internal validation metrics or domain expertise.</a:t>
            </a:r>
          </a:p>
          <a:p>
            <a:r>
              <a:t>**Interpretation:** The patterns discovered may not always be easily interpretable or directly actionable without further analysis.</a:t>
            </a:r>
          </a:p>
          <a:p>
            <a:r>
              <a:t>**Sensitivity to Noise:** Unsupervised algorithms can be sensitive to noise and outliers, which can distort discovered patterns.</a:t>
            </a:r>
          </a:p>
          <a:p>
            <a:r>
              <a:t>**Parameter Tuning:** Many algorithms require careful tuning of parameters (e.g., K in K-Means, epsilon in DBSCAN), which can be challenging without prior knowledge.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Topics in AI: Classification and Regression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 and Regression are the two primary types of supervised learning tasks, distinguished by the nature of their output variable.</a:t>
            </a:r>
          </a:p>
          <a:p>
            <a:r>
              <a:t>Both tasks involve learning a mapping function from input features to an output based on labeled training data.</a:t>
            </a:r>
          </a:p>
          <a:p>
            <a:r>
              <a:t>The choice between classification and regression depends entirely on the problem's objective and the type of target variable to be predicted.</a:t>
            </a:r>
          </a:p>
          <a:p>
            <a:r>
              <a:t>Understanding their differences is fundamental for appropriately framing machine learning problems and selecting suitable algorithms.</a:t>
            </a:r>
          </a:p>
          <a:p>
            <a:r>
              <a:t>Many real-world problems can be framed as either classification or regression depending on the desired outcome granularity.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Classification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**Definition:** Classification is the task of predicting a discrete, categorical label for a given input instance.</a:t>
            </a:r>
          </a:p>
          <a:p>
            <a:r>
              <a:t>**Output Type:** The target variable belongs to a finite set of categories or classes (e.g., 'spam'/'not spam', 'cat'/'dog'/'bird').</a:t>
            </a:r>
          </a:p>
          <a:p>
            <a:r>
              <a:t>**Binary Classification:** Predicting one of two possible classes (e.g., churn or no churn).</a:t>
            </a:r>
          </a:p>
          <a:p>
            <a:r>
              <a:t>**Multiclass Classification:** Predicting one of more than two possible classes (e.g., types of diseases).</a:t>
            </a:r>
          </a:p>
          <a:p>
            <a:r>
              <a:t>**Multilabel Classification:** Assigning multiple labels to a single instance (e.g., an image containing both a 'cat' and a 'dog').</a:t>
            </a:r>
          </a:p>
          <a:p>
            <a:r>
              <a:t>**Algorithms:** Logistic Regression, Support Vector Machines, Decision Trees, K-Nearest Neighbors, Naive Bayes.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Regression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**Definition:** Regression is the task of predicting a continuous numerical value for a given input instance.</a:t>
            </a:r>
          </a:p>
          <a:p>
            <a:r>
              <a:t>**Output Type:** The target variable is a real number, typically within a range (e.g., house price, temperature, stock value).</a:t>
            </a:r>
          </a:p>
          <a:p>
            <a:r>
              <a:t>**Simple Linear Regression:** Predicts output using a single independent variable.</a:t>
            </a:r>
          </a:p>
          <a:p>
            <a:r>
              <a:t>**Multiple Linear Regression:** Predicts output using multiple independent variables.</a:t>
            </a:r>
          </a:p>
          <a:p>
            <a:r>
              <a:t>**Polynomial Regression:** Models non-linear relationships by fitting a polynomial equation to the data.</a:t>
            </a:r>
          </a:p>
          <a:p>
            <a:r>
              <a:t>**Algorithms:** Linear Regression, Ridge Regression, Lasso Regression, Support Vector Regression (SVR), Decision Tree Regressor, Gradient Boosting Regressor.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Differences and Problem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**Output Nature:** Classification yields discrete class labels; Regression yields continuous numerical values.</a:t>
            </a:r>
          </a:p>
          <a:p>
            <a:r>
              <a:t>**Evaluation Metrics:** Classification uses accuracy, precision, recall, F1-score; Regression uses MSE, MAE, R-squared.</a:t>
            </a:r>
          </a:p>
          <a:p>
            <a:r>
              <a:t>**Loss Functions:** Classification often uses cross-entropy loss; Regression typically uses mean squared error (MSE) or mean absolute error (MAE).</a:t>
            </a:r>
          </a:p>
          <a:p>
            <a:r>
              <a:t>**Applications:** Classification for disease diagnosis, fraud detection; Regression for sales forecasting, age prediction.</a:t>
            </a:r>
          </a:p>
          <a:p>
            <a:r>
              <a:t>**Transformation:** Sometimes, a regression problem can be transformed into a classification problem (e.g., predicting age as 'young', 'middle-aged', 'old' instead of an exact number).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and Advanced Predictive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**Ordinal Regression:** A type of regression where the target variable is ordered but discrete (e.g., star ratings 1-5).</a:t>
            </a:r>
          </a:p>
          <a:p>
            <a:r>
              <a:t>**Count Regression:** For predicting non-negative integer values, often using models like Poisson regression (e.g., number of calls received).</a:t>
            </a:r>
          </a:p>
          <a:p>
            <a:r>
              <a:t>**Survival Analysis:** Predicting the time until an event occurs, which blends aspects of regression and classification.</a:t>
            </a:r>
          </a:p>
          <a:p>
            <a:r>
              <a:t>**Multi-task Learning:** A single model learns to perform multiple related tasks simultaneously, potentially improving generalization.</a:t>
            </a:r>
          </a:p>
          <a:p>
            <a:r>
              <a:t>Deep Learning architectures like Convolutional Neural Networks (CNNs) and Recurrent Neural Networks (RNNs) can be adapted for both classification and regression tasks, depending on the final activation layer.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Topics in AI: Importance of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metrics are quantitative measures used to assess the performance of a machine learning model.</a:t>
            </a:r>
          </a:p>
          <a:p>
            <a:r>
              <a:t>They provide objective insights into how well a model generalizes to unseen data and meets problem-specific objectives.</a:t>
            </a:r>
          </a:p>
          <a:p>
            <a:r>
              <a:t>Selecting appropriate metrics is crucial; a single metric may not capture all aspects of performance, especially in imbalanced datasets.</a:t>
            </a:r>
          </a:p>
          <a:p>
            <a:r>
              <a:t>Metrics guide model selection, hyperparameter tuning, and provide a common language for comparing different algorithms.</a:t>
            </a:r>
          </a:p>
          <a:p>
            <a:r>
              <a:t>Poor choice of metrics can lead to misleading conclusions about model effectiveness and potentially suboptimal deployments.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 for Classification: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**Accuracy:** The proportion of correctly classified instances out of the total instances. (TP+TN)/(TP+TN+FP+FN).</a:t>
            </a:r>
          </a:p>
          <a:p>
            <a:r>
              <a:t>**Precision:** The proportion of true positive predictions among all positive predictions. TP/(TP+FP). Important when false positives are costly.</a:t>
            </a:r>
          </a:p>
          <a:p>
            <a:r>
              <a:t>**Recall (Sensitivity):** The proportion of true positive predictions among all actual positive instances. TP/(TP+FN). Important when false negatives are costly.</a:t>
            </a:r>
          </a:p>
          <a:p>
            <a:r>
              <a:t>**F1-Score:** The harmonic mean of Precision and Recall, providing a balanced measure. 2 * (Precision * Recall) / (Precision + Recall).</a:t>
            </a:r>
          </a:p>
          <a:p>
            <a:r>
              <a:t>**Specificity:** The proportion of true negative predictions among all actual negative instances. TN/(TN+FP).</a:t>
            </a:r>
          </a:p>
          <a:p>
            <a:r>
              <a:t>These metrics are derived from the Confusion Matrix, which categorizes predictions into True Positives (TP), True Negatives (TN), False Positives (FP), and False Negatives (FN).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Metrics: Confusion Matrix and ROC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**Confusion Matrix:** A table that summarizes the performance of a classification model, showing the counts of correct and incorrect predictions for each class.</a:t>
            </a:r>
          </a:p>
          <a:p>
            <a:r>
              <a:t>**ROC Curve (Receiver Operating Characteristic):** A graphical plot illustrating the diagnostic ability of a binary classifier system as its discrimination threshold is varied.</a:t>
            </a:r>
          </a:p>
          <a:p>
            <a:r>
              <a:t>**AUC (Area Under the ROC Curve):** A single scalar value that summarizes the overall performance of a classifier across all possible thresholds; a higher AUC indicates better discrimination.</a:t>
            </a:r>
          </a:p>
          <a:p>
            <a:r>
              <a:t>**Precision-Recall Curve:** Plots precision against recall for various threshold settings, useful for imbalanced datasets where the positive class is rare.</a:t>
            </a:r>
          </a:p>
          <a:p>
            <a:r>
              <a:t>**Log-Loss (Cross-Entropy Loss):** Measures the performance of a classification model where the prediction input is a probability value between 0 and 1; penalizes confident incorrect predictions heavily.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 for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**Mean Absolute Error (MAE):** The average of the absolute differences between predicted and actual values. MAE = (1/n) * sum(|y_actual - y_pred|). Robust to outliers.</a:t>
            </a:r>
          </a:p>
          <a:p>
            <a:r>
              <a:t>**Mean Squared Error (MSE):** The average of the squared differences between predicted and actual values. MSE = (1/n) * sum((y_actual - y_pred)^2). Penalizes larger errors more.</a:t>
            </a:r>
          </a:p>
          <a:p>
            <a:r>
              <a:t>**Root Mean Squared Error (RMSE):** The square root of the MSE, bringing the error back to the original units of the target variable. RMSE = sqrt(MSE).</a:t>
            </a:r>
          </a:p>
          <a:p>
            <a:r>
              <a:t>**R-squared (Coefficient of Determination):** Represents the proportion of the variance in the dependent variable that is predictable from the independent variables; ranges from 0 to 1, where 1 indicates a perfect fit.</a:t>
            </a:r>
          </a:p>
          <a:p>
            <a:r>
              <a:t>**Adjusted R-squared:** A modified version of R-squared that accounts for the number of predictors in the model; useful when comparing models with different numbers of features.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 Evaluation: Cross-validation and Generalization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**Cross-validation:** A technique for evaluating ML models by training several ML models on subsets of the input data and evaluating them on a complementary subset of the data.</a:t>
            </a:r>
          </a:p>
          <a:p>
            <a:r>
              <a:t>**K-Fold Cross-validation:** Splits the data into K folds, training on K-1 folds and validating on the remaining fold, repeating K times.</a:t>
            </a:r>
          </a:p>
          <a:p>
            <a:r>
              <a:t>**Stratified K-Fold:** Ensures that each fold has approximately the same percentage of samples of each target class as the complete set.</a:t>
            </a:r>
          </a:p>
          <a:p>
            <a:r>
              <a:t>**Leave-One-Out Cross-validation (LOOCV):** A special case of K-fold where K equals the number of instances, training on all but one instance.</a:t>
            </a:r>
          </a:p>
          <a:p>
            <a:r>
              <a:t>**Overfitting:** A model learns the training data too well, including noise, leading to poor generalization on new data.</a:t>
            </a:r>
          </a:p>
          <a:p>
            <a:r>
              <a:t>**Underfitting:** A model is too simple to capture the underlying patterns, performing poorly on both training and test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Topics in AI: Introduction to Natural Language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Natural Language Processing (NLP) is a subfield of AI focused on enabling computers to understand, interpret, and generate human language.</a:t>
            </a:r>
          </a:p>
          <a:p>
            <a:r>
              <a:t>It combines computational linguistics with machine learning and deep learning to bridge the gap between human communication and computer understanding.</a:t>
            </a:r>
          </a:p>
          <a:p>
            <a:r>
              <a:t>The core challenge lies in the inherent ambiguity, complexity, and variability of human language (syntax, semantics, pragmatics).</a:t>
            </a:r>
          </a:p>
          <a:p>
            <a:r>
              <a:t>NLP systems aim to automate tasks that require human-like comprehension of text or speech data.</a:t>
            </a:r>
          </a:p>
          <a:p>
            <a:r>
              <a:t>Its applications span various domains, from search engines to virtual assistants, revolutionizing human-computer interaction.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Context and Evolution of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**Early NLP (1950s-1980s):** Rule-based systems, expert systems, and symbolic approaches, often relying on hand-crafted grammars and dictionaries (e.g., SHRDLU).</a:t>
            </a:r>
          </a:p>
          <a:p>
            <a:r>
              <a:t>**Statistical NLP (1990s-2000s):** Emergence of probabilistic models, machine learning algorithms, and large corpora; shifted focus to empirical data-driven methods (e.g., Hidden Markov Models, Support Vector Machines).</a:t>
            </a:r>
          </a:p>
          <a:p>
            <a:r>
              <a:t>**Machine Learning Dominance (2000s-2010s):** Widespread adoption of supervised and unsupervised ML techniques for tasks like sentiment analysis, topic modeling, and named entity recognition.</a:t>
            </a:r>
          </a:p>
          <a:p>
            <a:r>
              <a:t>**Deep Learning Revolution (2010s-Present):** Introduction of neural networks, especially Recurrent Neural Networks (RNNs), LSTMs, and later Transformers, achieving state-of-the-art results across most NLP tasks.</a:t>
            </a:r>
          </a:p>
          <a:p>
            <a:r>
              <a:t>**Large Language Models (LLMs):** Development of massive transformer-based models (e.g., GPT, BERT) pre-trained on vast amounts of text, demonstrating emergent capabilities in language understanding and generation.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in Natural Language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**Ambiguity:** Words and sentences can have multiple meanings depending on context (lexical, syntactic, semantic, pragmatic ambiguity).</a:t>
            </a:r>
          </a:p>
          <a:p>
            <a:r>
              <a:t>**Variability:** Human language is diverse, with variations in style, dialect, slang, and grammar, making generalization difficult.</a:t>
            </a:r>
          </a:p>
          <a:p>
            <a:r>
              <a:t>**Contextual Understanding:** Comprehending the full meaning of a text requires understanding beyond individual words, considering surrounding sentences and real-world knowledge.</a:t>
            </a:r>
          </a:p>
          <a:p>
            <a:r>
              <a:t>**Lack of Labeled Data:** Many advanced NLP tasks lack sufficient high-quality labeled datasets for supervised training.</a:t>
            </a:r>
          </a:p>
          <a:p>
            <a:r>
              <a:t>**Multilinguality:** Developing NLP systems that perform well across numerous languages, each with its unique characteristics, is complex.</a:t>
            </a:r>
          </a:p>
          <a:p>
            <a:r>
              <a:t>**Continual Learning:** Language evolves, with new words and meanings emerging, requiring models to adapt and update their knowledge.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NLP Tasks and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**Text Classification:** Categorizing text into predefined classes (e.g., spam detection, sentiment analysis, topic labeling).</a:t>
            </a:r>
          </a:p>
          <a:p>
            <a:r>
              <a:t>**Named Entity Recognition (NER):** Identifying and classifying named entities (person, organization, location, date, etc.) in text.</a:t>
            </a:r>
          </a:p>
          <a:p>
            <a:r>
              <a:t>**Machine Translation:** Automatically translating text or speech from one natural language to another.</a:t>
            </a:r>
          </a:p>
          <a:p>
            <a:r>
              <a:t>**Question Answering:** Enabling systems to answer questions posed in natural language based on a given text or knowledge base.</a:t>
            </a:r>
          </a:p>
          <a:p>
            <a:r>
              <a:t>**Text Summarization:** Generating a concise and coherent summary of a longer text while preserving key information.</a:t>
            </a:r>
          </a:p>
          <a:p>
            <a:r>
              <a:t>**Speech Recognition and Synthesis:** Converting spoken language to text (ASR) and generating human-like speech from text (TTS).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NLP Paradigms and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**Neural NLP:** Dominated by deep learning architectures (RNNs, LSTMs, GRUs, Transformers) that learn hierarchical representations from data.</a:t>
            </a:r>
          </a:p>
          <a:p>
            <a:r>
              <a:t>**Transfer Learning:** Pre-training large models on massive text corpora for general language understanding, then fine-tuning them for specific downstream tasks.</a:t>
            </a:r>
          </a:p>
          <a:p>
            <a:r>
              <a:t>**Large Language Models (LLMs):** Massive Transformer networks exhibiting impressive capabilities in generation, reasoning, and multi-task learning, often with few-shot or zero-shot learning.</a:t>
            </a:r>
          </a:p>
          <a:p>
            <a:r>
              <a:t>**Multimodal NLP:** Integrating language processing with other modalities like vision or audio for richer understanding (e.g., image captioning, video summarization).</a:t>
            </a:r>
          </a:p>
          <a:p>
            <a:r>
              <a:t>**Ethical AI in NLP:** Addressing biases in language models, ensuring fairness, privacy, and mitigating potential misuse (e.g., generating misinformation).</a:t>
            </a:r>
          </a:p>
          <a:p>
            <a:r>
              <a:t>**Explainable AI (XAI) for NLP:** Developing methods to understand why NLP models make certain predictions, increasing trust and interpretability.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Topics in AI: The Necessity of Text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preprocessing is the initial and crucial step in any Natural Language Processing (NLP) pipeline.</a:t>
            </a:r>
          </a:p>
          <a:p>
            <a:r>
              <a:t>It involves cleaning and transforming raw text data into a standardized, machine-readable format suitable for model input.</a:t>
            </a:r>
          </a:p>
          <a:p>
            <a:r>
              <a:t>Raw text often contains noise, inconsistencies, and irrelevant information that can hinder model performance and introduce bias.</a:t>
            </a:r>
          </a:p>
          <a:p>
            <a:r>
              <a:t>Effective preprocessing reduces dimensionality, improves data quality, and ensures that subsequent NLP tasks operate on meaningful features.</a:t>
            </a:r>
          </a:p>
          <a:p>
            <a:r>
              <a:t>The specific preprocessing steps vary depending on the nature of the data, the language, and the downstream NLP task.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Text Normalization: Lowercasing and Punctuation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**Lowercasing:** Converting all text to lowercase (e.g., 'Hello' and 'hello' become 'hello'). This reduces vocabulary size and treats words identically regardless of capitalization.</a:t>
            </a:r>
          </a:p>
          <a:p>
            <a:r>
              <a:t>**Rationale for Lowercasing:** Avoids treating the same word with different capitalizations as distinct tokens, which is particularly useful for tasks like text classification.</a:t>
            </a:r>
          </a:p>
          <a:p>
            <a:r>
              <a:t>**Punctuation Removal:** Eliminating characters like periods, commas, question marks, and exclamation points (e.g., 'Hello!' becomes 'Hello').</a:t>
            </a:r>
          </a:p>
          <a:p>
            <a:r>
              <a:t>**Rationale for Punctuation Removal:** Punctuation often carries little semantic meaning for many NLP tasks and can unnecessarily increase vocabulary size. However, it can be crucial for sentiment analysis or syntax parsing.</a:t>
            </a:r>
          </a:p>
          <a:p>
            <a:r>
              <a:t>Careful consideration is needed; for some tasks, such as sentiment analysis, exclamation marks or specific punctuation patterns can be highly indicative.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Eliminating Redundancy: Stop Word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**Stop Words:** Commonly occurring words in a language that typically carry little lexical meaning or information content (e.g., 'the', 'a', 'is', 'and', 'in').</a:t>
            </a:r>
          </a:p>
          <a:p>
            <a:r>
              <a:t>**Purpose:** Removing stop words reduces the dimensionality of the feature space, speeds up processing, and helps focus on more semantically rich words.</a:t>
            </a:r>
          </a:p>
          <a:p>
            <a:r>
              <a:t>**Implementation:** Stop words are usually removed by comparing tokens against a predefined list of common words for the specific language.</a:t>
            </a:r>
          </a:p>
          <a:p>
            <a:r>
              <a:t>**Considerations:** While generally beneficial for tasks like topic modeling or information retrieval, stop word removal might be detrimental for tasks sensitive to syntax or negation (e.g., 'not good').</a:t>
            </a:r>
          </a:p>
          <a:p>
            <a:r>
              <a:t>Custom stop word lists can be created or modified based on domain-specific requirements to retain or remove particular terms.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Normalization: Stemming and Lemmatization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**Purpose:** Both techniques aim to reduce inflected (or derived) words to their base or root form, reducing vocabulary and increasing semantic consistency.</a:t>
            </a:r>
          </a:p>
          <a:p>
            <a:r>
              <a:t>**Stemming:** A heuristic process that chops off suffixes from words to get to a common root form, which may not be a valid word itself (e.g., 'running', 'runs', 'ran' -&gt; 'run').</a:t>
            </a:r>
          </a:p>
          <a:p>
            <a:r>
              <a:t>**Common Stemmers:** Porter Stemmer, Snowball Stemmer (often an improvement over Porter). Fast and computationally less expensive.</a:t>
            </a:r>
          </a:p>
          <a:p>
            <a:r>
              <a:t>**Lemmatization:** A more sophisticated process that uses vocabulary and morphological analysis to return the base or dictionary form of a word, known as a lemma (e.g., 'better' -&gt; 'good', 'caring' -&gt; 'care').</a:t>
            </a:r>
          </a:p>
          <a:p>
            <a:r>
              <a:t>**Comparison:** Lemmatization is more accurate as it considers the word's part-of-speech and context, but it is computationally more expensive than stemming.</a:t>
            </a:r>
          </a:p>
          <a:p>
            <a:r>
              <a:t>Choice depends on the task: stemming for information retrieval where speed is critical, lemmatization for tasks requiring higher semantic precision.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Text Preprocessing: Handling Noise and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**Handling Special Characters and Digits:** Removing or normalizing non-alphanumeric characters, numbers (unless relevant to the task), or symbols.</a:t>
            </a:r>
          </a:p>
          <a:p>
            <a:r>
              <a:t>**URL/Email Removal:** Identifying and removing or replacing URLs, email addresses, or specific patterns often found in web text that might not be informative.</a:t>
            </a:r>
          </a:p>
          <a:p>
            <a:r>
              <a:t>**Whitespace Normalization:** Consolidating multiple spaces into a single space, removing leading/trailing spaces.</a:t>
            </a:r>
          </a:p>
          <a:p>
            <a:r>
              <a:t>**Encoding Handling:** Ensuring consistent character encoding (e.g., UTF-8) to prevent errors and garbled text during processing.</a:t>
            </a:r>
          </a:p>
          <a:p>
            <a:r>
              <a:t>**Noise Removal:** Strategies for handling typos, emoticons, emojis, and other informal language elements depending on the text source (e.g., social media vs. formal documents).</a:t>
            </a:r>
          </a:p>
          <a:p>
            <a:r>
              <a:t>**Custom Clean-up Rules:** Developing regular expressions or custom functions to address specific data anomalies or domain-specific noise.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Topics in AI: Introduction to 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Tokenization is the fundamental process of breaking down a stream of text into smaller units called tokens.</a:t>
            </a:r>
          </a:p>
          <a:p>
            <a:r>
              <a:t>A token can be a word, a subword, a punctuation mark, a number, or any other meaningful element depending on the granularity required.</a:t>
            </a:r>
          </a:p>
          <a:p>
            <a:r>
              <a:t>It serves as the initial step in transforming raw text into a structured format that can be processed by machine learning algorithms.</a:t>
            </a:r>
          </a:p>
          <a:p>
            <a:r>
              <a:t>The quality and choice of tokenization method significantly impact the performance of downstream NLP tasks.</a:t>
            </a:r>
          </a:p>
          <a:p>
            <a:r>
              <a:t>Different languages and contexts require different tokenization strategies due to their unique linguistic structures.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Tokenization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**Whitespace Tokenization:** Splitting text by whitespace characters (spaces, tabs, newlines). Simple and fast but may not handle punctuation attached to words.</a:t>
            </a:r>
          </a:p>
          <a:p>
            <a:r>
              <a:t>**Punctuation-based Tokenization:** Splitting text based on punctuation marks, often separating punctuation from words (e.g., 'Hello!' -&gt; 'Hello', '!').</a:t>
            </a:r>
          </a:p>
          <a:p>
            <a:r>
              <a:t>**Rule-based Tokenization:** Using a set of handcrafted rules, often with regular expressions, to define token boundaries and handle specific cases like contractions ('don't' -&gt; 'do', 'n't') or hyphenated words.</a:t>
            </a:r>
          </a:p>
          <a:p>
            <a:r>
              <a:t>**Library-based Tokenization:** Utilizing pre-built tokenizers from NLP libraries like NLTK or SpaCy, which often incorporate sophisticated rule sets and language-specific models.</a:t>
            </a:r>
          </a:p>
          <a:p>
            <a:r>
              <a:t>**Challenges:** Handling compound words, proper nouns with spaces (e.g., 'New York'), numerical expressions, and variations in language-specific rules (e.g., German compound nouns).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Subword Tokenization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**Motivation:** Addresses the out-of-vocabulary (OOV) problem and reduces the vocabulary size while handling rare words and morphological variations effectively.</a:t>
            </a:r>
          </a:p>
          <a:p>
            <a:r>
              <a:t>**Byte Pair Encoding (BPE):** Iteratively merges the most frequent pairs of characters or character sequences in a vocabulary, creating a hierarchy of subwords (e.g., 'low', 'er', 'est').</a:t>
            </a:r>
          </a:p>
          <a:p>
            <a:r>
              <a:t>**WordPiece:** Similar to BPE but prioritizes merges that maximize the likelihood of the resulting word piece in a language model, used in BERT.</a:t>
            </a:r>
          </a:p>
          <a:p>
            <a:r>
              <a:t>**SentencePiece:** A language-agnostic subword tokenizer that treats the input as a raw stream of characters, including whitespace, making it suitable for unsegmented languages (like Japanese or Chinese), used in XLNet and ALBERT.</a:t>
            </a:r>
          </a:p>
          <a:p>
            <a:r>
              <a:t>**Advantages:** Better handling of rare words, reducing OOV issues, smaller vocabulary size, and ability to generalize to new words by breaking them into known subwords.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Sentence 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**Purpose:** The task of splitting a text into individual sentences.</a:t>
            </a:r>
          </a:p>
          <a:p>
            <a:r>
              <a:t>**Delimiter-based:** Often relies on punctuation marks like periods, question marks, and exclamation points as primary delimiters.</a:t>
            </a:r>
          </a:p>
          <a:p>
            <a:r>
              <a:t>**Ambiguity:** Periods can indicate the end of a sentence, but also abbreviations (e.g., 'Dr.'), decimals, or initials, leading to challenges.</a:t>
            </a:r>
          </a:p>
          <a:p>
            <a:r>
              <a:t>**Rule-based vs. Statistical:** Early methods used handcrafted rules; modern approaches often use statistical models (e.g., decision trees, maximum entropy models) or machine learning models trained on large corpora to disambiguate sentence boundaries.</a:t>
            </a:r>
          </a:p>
          <a:p>
            <a:r>
              <a:t>**Practical Tools:** Libraries like NLTK's `PunktSentenceTokenizer` use unsupervised machine learning to learn patterns of abbreviations and other sentence boundary ambiguities.</a:t>
            </a:r>
          </a:p>
          <a:p>
            <a:r>
              <a:t>Crucial for tasks that operate at the sentence level, such as summarization, machine translation, and sentence-level sentiment analysis.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Contextual Considerations in 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**Language Specificity:** Different languages have distinct linguistic structures (e.g., agglutinative languages, character-based languages) that necessitate specialized tokenizers.</a:t>
            </a:r>
          </a:p>
          <a:p>
            <a:r>
              <a:t>**Contextual Ambiguity:** Words like 'USA' or 'U.S.A.' or contractions like 'can't' require context-aware or rule-based handling.</a:t>
            </a:r>
          </a:p>
          <a:p>
            <a:r>
              <a:t>**Out-of-Vocabulary (OOV) Words:** Words not seen during training, which subword tokenization aims to mitigate but doesn't fully eliminate.</a:t>
            </a:r>
          </a:p>
          <a:p>
            <a:r>
              <a:t>**Normalization:** Tokenizers often integrate normalization steps, such as handling Unicode characters, emojis, or specific domain jargon.</a:t>
            </a:r>
          </a:p>
          <a:p>
            <a:r>
              <a:t>**Whitespace as a Token:** In some contexts, whitespace itself might be considered a token, particularly in subword tokenization where it's part of the learning process.</a:t>
            </a:r>
          </a:p>
          <a:p>
            <a:r>
              <a:t>The choice of tokenizer significantly impacts downstream tasks; a robust tokenizer tailored to the dataset and task is paramount for optimal NLP model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