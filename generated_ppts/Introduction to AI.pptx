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Introduction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unit provides a foundational understanding of Artificial Intelligence, its principles, and methodologies.</a:t>
            </a:r>
          </a:p>
          <a:p>
            <a:r>
              <a:t>We will explore the historical journey of AI, from its philosophical roots to contemporary advancements.</a:t>
            </a:r>
          </a:p>
          <a:p>
            <a:r>
              <a:t>Key concepts include defining AI, understanding intelligent agents, and mastering problem-solving techniques.</a:t>
            </a:r>
          </a:p>
          <a:p>
            <a:r>
              <a:t>The course covers fundamental search algorithms, specifically uninformed search strategies like BFS and DFS.</a:t>
            </a:r>
          </a:p>
          <a:p>
            <a:r>
              <a:t>Our goal is to equip you with the theoretical knowledge necessary to appreciate and apply AI principles.</a:t>
            </a:r>
          </a:p>
          <a:p>
            <a:r>
              <a:t>Prepare for an engaging journey into the fascinating world of artificial intelligence!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Definition and 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introduces the core definitions of Artificial Intelligence and traces its evolution over decades.</a:t>
            </a:r>
          </a:p>
          <a:p>
            <a:r>
              <a:t>We will differentiate between various perspectives on AI, including thinking humanly, acting humanly, thinking rationally, and acting rationally.</a:t>
            </a:r>
          </a:p>
          <a:p>
            <a:r>
              <a:t>Understanding the historical context is crucial for appreciating the current state and future directions of AI.</a:t>
            </a:r>
          </a:p>
          <a:p>
            <a:r>
              <a:t>We'll examine pivotal moments, key figures, and the recurring cycles of enthusiasm and skepticism known as 'AI winters'.</a:t>
            </a:r>
          </a:p>
          <a:p>
            <a:r>
              <a:t>The objective is to establish a clear conceptual framework for the rest of the course.</a:t>
            </a:r>
          </a:p>
          <a:p>
            <a:r>
              <a:t>By the end, you should be able to articulate what AI is and how it has developed.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Artificial Intelligence (AI)?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a broad field dedicated to making machines intelligent, often defined as systems that perceive their environment and take actions that maximize their chance of achieving designated goals.</a:t>
            </a:r>
          </a:p>
          <a:p>
            <a:r>
              <a:t>Multiple definitions exist: 'thinking humanly' (cognitive modeling), 'acting humanly' (Turing Test), 'thinking rationally' (laws of thought), and 'acting rationally' (rational agent approach).</a:t>
            </a:r>
          </a:p>
          <a:p>
            <a:r>
              <a:t>The 'rational agent' perspective is prevalent in modern AI, focusing on systems that operate autonomously to achieve goals optimally.</a:t>
            </a:r>
          </a:p>
          <a:p>
            <a:r>
              <a:t>Core goals of AI include perception, reasoning, knowledge representation, learning, planning, and natural language processing.</a:t>
            </a:r>
          </a:p>
          <a:p>
            <a:r>
              <a:t>AI encompasses various sub-disciplines, from machine learning and deep learning to robotics and computer vision.</a:t>
            </a:r>
          </a:p>
          <a:p>
            <a:r>
              <a:t>It's not just about creating human-like intelligence, but also about building systems that perform tasks requiring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Foundations &amp; Philosophical Roots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concept of intelligent machines dates back to ancient myths and philosophical inquiries into the nature of thought and reasoning.</a:t>
            </a:r>
          </a:p>
          <a:p>
            <a:r>
              <a:t>Ancient Greek myths (e.g., Talos) and automata from various cultures explored the idea of artificial beings.</a:t>
            </a:r>
          </a:p>
          <a:p>
            <a:r>
              <a:t>Key philosophical contributions from Descartes, Hobbes, and Leibniz laid groundwork by exploring the mechanical nature of mind and symbolic thought.</a:t>
            </a:r>
          </a:p>
          <a:p>
            <a:r>
              <a:t>Formal logic, developed by Aristotle, Boole, and Frege, provided the tools for formalizing reasoning processes, crucial for early AI.</a:t>
            </a:r>
          </a:p>
          <a:p>
            <a:r>
              <a:t>Key mathematical developments in computability theory (Turing, Church, Gödel) in the 20th century demonstrated what could be computed.</a:t>
            </a:r>
          </a:p>
          <a:p>
            <a:r>
              <a:t>Alan Turing's 1950 paper 'Computing Machinery and Intelligence' introduced the Turing Test and posed fundamental questions about machine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Birth of AI: The Dartmouth Conference (1956)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term 'Artificial Intelligence' was coined by John McCarthy in 1955, proposing the Dartmouth Summer Research Project on Artificial Intelligence in 1956.</a:t>
            </a:r>
          </a:p>
          <a:p>
            <a:r>
              <a:t>This seminal workshop brought together pioneers like Marvin Minsky, Nathaniel Rochester, Claude Shannon, and Herbert A. Simon.</a:t>
            </a:r>
          </a:p>
          <a:p>
            <a:r>
              <a:t>The conference's proposal stated the premise that 'every aspect of learning or any other feature of intelligence can in principle be so precisely described that a machine can be made to simulate it.'</a:t>
            </a:r>
          </a:p>
          <a:p>
            <a:r>
              <a:t>Early achievements included Allen Newell and Herbert Simon's Logic Theorist (1956), which proved theorems from Principia Mathematica.</a:t>
            </a:r>
          </a:p>
          <a:p>
            <a:r>
              <a:t>Other early systems included Samuel's checkers player (1959) and Gelernter's Geometry Theorem Prover (1959), showcasing early problem-solving capabilities.</a:t>
            </a:r>
          </a:p>
          <a:p>
            <a:r>
              <a:t>The initial optimism fueled significant research and funding into the new field.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Winters and Resurgence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initial optimism of the 1950s and 60s faced significant challenges, leading to 'AI winters' where funding and interest diminished.</a:t>
            </a:r>
          </a:p>
          <a:p>
            <a:r>
              <a:t>Limitations in computational power, knowledge representation, and the inherent difficulty of scaling early AI approaches became apparent.</a:t>
            </a:r>
          </a:p>
          <a:p>
            <a:r>
              <a:t>Major setbacks included Lighthill's report (1973) critiquing AI's progress and the collapse of the ALPAC report (1966) on machine translation.</a:t>
            </a:r>
          </a:p>
          <a:p>
            <a:r>
              <a:t>A resurgence occurred in the 1980s with 'Expert Systems' which codified human knowledge into rules, successfully applied in domains like medicine (MYCIN) and geology (PROSPECTOR).</a:t>
            </a:r>
          </a:p>
          <a:p>
            <a:r>
              <a:t>The expert system boom was followed by another 'AI winter' due to high development and maintenance costs, and difficulties in acquiring tacit knowledge.</a:t>
            </a:r>
          </a:p>
          <a:p>
            <a:r>
              <a:t>The late 1990s and 2000s saw renewed interest with advancements in statistical machine learning, data availability, and increased computational power.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AI: Deep Learning &amp; Big Data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21st century marks a golden age for AI, driven by massive datasets ('Big Data'), powerful computational resources (GPUs), and sophisticated algorithms.</a:t>
            </a:r>
          </a:p>
          <a:p>
            <a:r>
              <a:t>Machine Learning (ML), particularly Deep Learning (DL) with neural networks, has become a dominant paradigm, achieving breakthroughs in various fields.</a:t>
            </a:r>
          </a:p>
          <a:p>
            <a:r>
              <a:t>Key milestones include AlphaGo defeating the world champion in Go (2016), demonstrating advanced strategic reasoning.</a:t>
            </a:r>
          </a:p>
          <a:p>
            <a:r>
              <a:t>Progress in natural language processing (e.g., Transformers, LLMs like GPT) and computer vision (e.g., ImageNet, CNNs) has been transformative.</a:t>
            </a:r>
          </a:p>
          <a:p>
            <a:r>
              <a:t>AI is now embedded in everyday technology, from virtual assistants to personalized recommendations and autonomous vehicles.</a:t>
            </a:r>
          </a:p>
          <a:p>
            <a:r>
              <a:t>Current research focuses on ethical AI, explainable AI (XAI), transfer learning, reinforcement learning, and general artificial intelligence (AGI).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explores the diverse and impactful applications of Artificial Intelligence across various industries and domains.</a:t>
            </a:r>
          </a:p>
          <a:p>
            <a:r>
              <a:t>We will examine how AI systems are designed to solve real-world problems, enhance efficiency, and create new capabilities.</a:t>
            </a:r>
          </a:p>
          <a:p>
            <a:r>
              <a:t>Understanding these applications provides practical context to the theoretical concepts of AI.</a:t>
            </a:r>
          </a:p>
          <a:p>
            <a:r>
              <a:t>The objective is to illustrate the pervasive nature of AI in modern society and its potential for future innovation.</a:t>
            </a:r>
          </a:p>
          <a:p>
            <a:r>
              <a:t>We will categorize applications into key areas such as NLP, Computer Vision, Robotics, and Decision Support.</a:t>
            </a:r>
          </a:p>
          <a:p>
            <a:r>
              <a:t>This topic highlights the tangible benefits and transformative power of AI technologies.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AI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applications span nearly every sector, revolutionizing industries from healthcare and finance to transportation and entertainment.</a:t>
            </a:r>
          </a:p>
          <a:p>
            <a:r>
              <a:t>They often involve tasks that traditionally required human intelligence, such as pattern recognition, decision-making, and understanding language.</a:t>
            </a:r>
          </a:p>
          <a:p>
            <a:r>
              <a:t>Common categories include natural language processing, computer vision, robotics, expert systems, and predictive analytics.</a:t>
            </a:r>
          </a:p>
          <a:p>
            <a:r>
              <a:t>AI is used for automation, optimization, personalization, and gaining insights from complex data.</a:t>
            </a:r>
          </a:p>
          <a:p>
            <a:r>
              <a:t>The increasing availability of data and computational power continues to expand the scope and effectiveness of AI solutions.</a:t>
            </a:r>
          </a:p>
          <a:p>
            <a:r>
              <a:t>These applications drive economic growth and societal change, fundamentally altering how we interact with technology and the world.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Natural Language Processing (NLP)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NLP enables computers to understand, interpret, and generate human language, bridging the gap between human communication and computer processing.</a:t>
            </a:r>
          </a:p>
          <a:p>
            <a:r>
              <a:t>Applications include machine translation (e.g., Google Translate), allowing real-time communication across language barriers.</a:t>
            </a:r>
          </a:p>
          <a:p>
            <a:r>
              <a:t>Chatbots and virtual assistants (e.g., Siri, Alexa) utilize NLP for conversational AI, providing information and performing tasks based on spoken or typed commands.</a:t>
            </a:r>
          </a:p>
          <a:p>
            <a:r>
              <a:t>Sentiment analysis helps businesses gauge public opinion and customer satisfaction by analyzing text data from social media, reviews, and news.</a:t>
            </a:r>
          </a:p>
          <a:p>
            <a:r>
              <a:t>Text summarization, information extraction, and spam detection are further examples, streamlining information management and improving digital security.</a:t>
            </a:r>
          </a:p>
          <a:p>
            <a:r>
              <a:t>Recent advancements with large language models (LLMs) have pushed the boundaries of what's possible in language generation and comprehension.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Vision grants machines the ability to 'see' and interpret visual information from images and videos.</a:t>
            </a:r>
          </a:p>
          <a:p>
            <a:r>
              <a:t>Facial recognition is used for security, authentication, and identification in various applications, from unlocking phones to surveillance.</a:t>
            </a:r>
          </a:p>
          <a:p>
            <a:r>
              <a:t>Autonomous driving heavily relies on computer vision for perceiving road conditions, obstacles, traffic signs, and other vehicles.</a:t>
            </a:r>
          </a:p>
          <a:p>
            <a:r>
              <a:t>Medical imaging analysis (e.g., X-rays, MRIs) uses AI to detect anomalies, assist in diagnoses, and identify cancerous cells with high accuracy.</a:t>
            </a:r>
          </a:p>
          <a:p>
            <a:r>
              <a:t>Object detection and recognition are fundamental for inventory management, quality control in manufacturing, and content moderation.</a:t>
            </a:r>
          </a:p>
          <a:p>
            <a:r>
              <a:t>Augmented Reality (AR) and Virtual Reality (VR) applications leverage computer vision to understand real-world environments and overlay digital content.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Robotics and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enhances robotics by enabling robots to perceive their environment, learn, make decisions, and interact autonomously.</a:t>
            </a:r>
          </a:p>
          <a:p>
            <a:r>
              <a:t>Industrial robots perform repetitive, high-precision tasks in manufacturing, assembly lines, and logistics, significantly increasing efficiency and safety.</a:t>
            </a:r>
          </a:p>
          <a:p>
            <a:r>
              <a:t>Service robots are increasingly deployed in healthcare (e.g., surgical assistants, elderly care), hospitality (e.g., cleaning robots), and domestic settings (e.g., robot vacuums).</a:t>
            </a:r>
          </a:p>
          <a:p>
            <a:r>
              <a:t>Autonomous drones (UAVs) are used for surveillance, delivery, agriculture (crop monitoring), and infrastructure inspection.</a:t>
            </a:r>
          </a:p>
          <a:p>
            <a:r>
              <a:t>Humanoid robots are being developed for more complex interactions, research, and applications requiring human-like dexterity and communication.</a:t>
            </a:r>
          </a:p>
          <a:p>
            <a:r>
              <a:t>The integration of AI allows robots to adapt to unstructured environments and perform more complex, cognitive tasks.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Support and Expert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decision support systems assist humans in making informed choices by analyzing vast amounts of data and providing recommendations.</a:t>
            </a:r>
          </a:p>
          <a:p>
            <a:r>
              <a:t>Expert systems, an early AI success, codified human expert knowledge into rules to solve problems in specialized domains, such as medical diagnosis (MYCIN).</a:t>
            </a:r>
          </a:p>
          <a:p>
            <a:r>
              <a:t>Financial AI applications include algorithmic trading, fraud detection, credit scoring, and personalized financial advice.</a:t>
            </a:r>
          </a:p>
          <a:p>
            <a:r>
              <a:t>Recommender systems (e.g., Netflix, Amazon) analyze user preferences and behaviors to suggest products, movies, or content, enhancing user experience.</a:t>
            </a:r>
          </a:p>
          <a:p>
            <a:r>
              <a:t>In healthcare, AI aids in drug discovery, personalized medicine, and predicting patient outcomes based on clinical data.</a:t>
            </a:r>
          </a:p>
          <a:p>
            <a:r>
              <a:t>These systems augment human intelligence, improve the speed and accuracy of decision-making, and optimize operational processes.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introduces the concept of an intelligent agent, which serves as a fundamental building block in modern AI.</a:t>
            </a:r>
          </a:p>
          <a:p>
            <a:r>
              <a:t>We will define what constitutes an intelligent agent and explore its key components: percepts, actions, and environments.</a:t>
            </a:r>
          </a:p>
          <a:p>
            <a:r>
              <a:t>Understanding different types of agents and their characteristics is crucial for designing effective AI systems.</a:t>
            </a:r>
          </a:p>
          <a:p>
            <a:r>
              <a:t>The objective is to provide a framework for thinking about how AI systems interact with and act upon their surroundings.</a:t>
            </a:r>
          </a:p>
          <a:p>
            <a:r>
              <a:t>We'll cover different agent architectures, from simple reflex agents to more complex utility-based agents.</a:t>
            </a:r>
          </a:p>
          <a:p>
            <a:r>
              <a:t>This topic lays the groundwork for understanding how AI systems perceive, reason, and make decisions.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Intelligent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intelligent agent is anything that perceives its environment through sensors and acts upon that environment through effectors.</a:t>
            </a:r>
          </a:p>
          <a:p>
            <a:r>
              <a:t>The agent function maps percept sequences to actions; mathematically, f: P* -&gt; A, where P is the set of percepts and A is the set of actions.</a:t>
            </a:r>
          </a:p>
          <a:p>
            <a:r>
              <a:t>The agent program is the concrete implementation of the agent function, running on the agent's architecture.</a:t>
            </a:r>
          </a:p>
          <a:p>
            <a:r>
              <a:t>Key components include sensors (input), effectors (output), and the agent itself, which contains the 'intelligence'.</a:t>
            </a:r>
          </a:p>
          <a:p>
            <a:r>
              <a:t>The goal of a rational agent is to act in a way that maximizes its expected performance measure, given the percept sequence to date.</a:t>
            </a:r>
          </a:p>
          <a:p>
            <a:r>
              <a:t>Examples range from simple thermostat agents to complex autonomous vehicles and virtual assistants.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Environments (PEAS Description)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design a rational agent, we first need to characterize its 'Performance measure, Environment, Actuators, and Sensors' (PEAS).</a:t>
            </a:r>
          </a:p>
          <a:p>
            <a:r>
              <a:t>The environment can be categorized by several key properties:</a:t>
            </a:r>
          </a:p>
          <a:p>
            <a:r>
              <a:t>1. Fully observable vs. Partially observable: Does the agent have access to the complete state of the environment?</a:t>
            </a:r>
          </a:p>
          <a:p>
            <a:r>
              <a:t>2. Single-agent vs. Multi-agent: Is there one agent or multiple agents interacting?</a:t>
            </a:r>
          </a:p>
          <a:p>
            <a:r>
              <a:t>3. Deterministic vs. Stochastic: Is the next state fully determined by the current state and action, or does randomness play a role?</a:t>
            </a:r>
          </a:p>
          <a:p>
            <a:r>
              <a:t>4. Episodic vs. Sequential: Is the agent's experience divided into atomic episodes, or do current actions affect future decisions?</a:t>
            </a:r>
          </a:p>
          <a:p>
            <a:r>
              <a:t>5. Static vs. Dynamic: Does the environment change while the agent is deliberating?</a:t>
            </a:r>
          </a:p>
          <a:p>
            <a:r>
              <a:t>6. Discrete vs. Continuous: Are states, percepts, and actions distinct or continuous values?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Reflex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reflex agents select actions based on the current percept only, ignoring the percept history.</a:t>
            </a:r>
          </a:p>
          <a:p>
            <a:r>
              <a:t>They operate on a 'condition-action rule' (if-then rule), directly mapping percepts to actions.</a:t>
            </a:r>
          </a:p>
          <a:p>
            <a:r>
              <a:t>These agents are straightforward to implement and are suitable for environments that are fully observable and deterministic.</a:t>
            </a:r>
          </a:p>
          <a:p>
            <a:r>
              <a:t>Example: A vacuum-cleaner agent that cleans if dirt is present, or moves if not, based solely on the current square's status.</a:t>
            </a:r>
          </a:p>
          <a:p>
            <a:r>
              <a:t>Limitations: They are effective only if the correct decision can be made based on the current percept alone; they cannot handle partial observability.</a:t>
            </a:r>
          </a:p>
          <a:p>
            <a:r>
              <a:t>They lack memory or internal state, meaning they cannot learn or adapt to changing conditions beyond their predefined rules.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Model-Based Reflex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Model-based reflex agents maintain an internal state that depends on the percept history, allowing them to handle partially observable environments.</a:t>
            </a:r>
          </a:p>
          <a:p>
            <a:r>
              <a:t>They use an internal 'model' of the world to keep track of unobserved aspects of the environment's state.</a:t>
            </a:r>
          </a:p>
          <a:p>
            <a:r>
              <a:t>The model typically consists of two parts: 'how the world evolves independently of the agent' and 'how the agent's actions affect the world'.</a:t>
            </a:r>
          </a:p>
          <a:p>
            <a:r>
              <a:t>By combining the current percept with the internal state, the agent can infer the true (or closer to true) state of the world.</a:t>
            </a:r>
          </a:p>
          <a:p>
            <a:r>
              <a:t>Example: A car navigation system uses sensors (percepts) but also a map (internal model) to determine its current location and plan routes.</a:t>
            </a:r>
          </a:p>
          <a:p>
            <a:r>
              <a:t>This agent type is more capable than simple reflex agents but still operates reactively based on rules applied to the current (inferred) state.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Goal-based agents extend model-based agents by using goal information to select actions that lead to a desirable future state.</a:t>
            </a:r>
          </a:p>
          <a:p>
            <a:r>
              <a:t>Instead of just applying rules, they consider sequences of actions that will ultimately achieve their specified goals.</a:t>
            </a:r>
          </a:p>
          <a:p>
            <a:r>
              <a:t>This often involves search and planning algorithms to find the optimal path or sequence of actions to reach the goal.</a:t>
            </a:r>
          </a:p>
          <a:p>
            <a:r>
              <a:t>Example: An autonomous taxi agent's goal might be to reach a destination; it needs to plan a route through the city.</a:t>
            </a:r>
          </a:p>
          <a:p>
            <a:r>
              <a:t>They need to know not only how the world works but also what states are desirable.</a:t>
            </a:r>
          </a:p>
          <a:p>
            <a:r>
              <a:t>Goal-based agents are more flexible and adaptable than reflex agents, as their behavior can change based on different goals.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Utility-Based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Utility-based agents are the most sophisticated type, making decisions that maximize their 'utility' or 'happiness', especially when facing multiple goals or uncertain outcomes.</a:t>
            </a:r>
          </a:p>
          <a:p>
            <a:r>
              <a:t>A utility function maps a state (or a sequence of states) to a real number, representing the desirability of that state.</a:t>
            </a:r>
          </a:p>
          <a:p>
            <a:r>
              <a:t>These agents choose the action that leads to the highest expected utility, considering the probabilities of various outcomes.</a:t>
            </a:r>
          </a:p>
          <a:p>
            <a:r>
              <a:t>They are essential for environments where goals are conflicting or where there are trade-offs between different objectives.</a:t>
            </a:r>
          </a:p>
          <a:p>
            <a:r>
              <a:t>Example: An autonomous driving agent might weigh safety (high utility) against arrival time (medium utility) and fuel efficiency (lower utility).</a:t>
            </a:r>
          </a:p>
          <a:p>
            <a:r>
              <a:t>Utility-based agents are particularly important in complex, dynamic, and uncertain environments, often employing decision theory.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4: AI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focuses on the fundamental approach of AI as problem-solving through search.</a:t>
            </a:r>
          </a:p>
          <a:p>
            <a:r>
              <a:t>We will formalize problems by defining states, actions, and goal conditions, crucial for computational solutions.</a:t>
            </a:r>
          </a:p>
          <a:p>
            <a:r>
              <a:t>Understanding the components of a well-defined problem is the first step towards designing intelligent agents that can find solutions.</a:t>
            </a:r>
          </a:p>
          <a:p>
            <a:r>
              <a:t>The objective is to introduce the concept of abstract problem formulation, separating the problem from its specific domain.</a:t>
            </a:r>
          </a:p>
          <a:p>
            <a:r>
              <a:t>We'll look at 'toy problems' that illustrate these concepts and briefly touch upon real-world scenarios.</a:t>
            </a:r>
          </a:p>
          <a:p>
            <a:r>
              <a:t>This topic underpins much of classical AI, leading directly into search algorithms.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AI tasks can be framed as 'problem-solving search': finding a sequence of actions that transforms an initial state into a goal state.</a:t>
            </a:r>
          </a:p>
          <a:p>
            <a:r>
              <a:t>This approach abstracts away the complexities of the real world into a simplified model, making it computationally tractable.</a:t>
            </a:r>
          </a:p>
          <a:p>
            <a:r>
              <a:t>The process involves defining the problem precisely, exploring possible solutions, and evaluating their effectiveness.</a:t>
            </a:r>
          </a:p>
          <a:p>
            <a:r>
              <a:t>Problem-solving agents are distinct from reflex agents as they involve deliberation, planning, and often exploration.</a:t>
            </a:r>
          </a:p>
          <a:p>
            <a:r>
              <a:t>The core idea is to move through a state space by applying operators (actions) until a goal is reached.</a:t>
            </a:r>
          </a:p>
          <a:p>
            <a:r>
              <a:t>This paradigm is foundational for tasks like pathfinding, game playing, and logistics.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a 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well-defined problem has four key components:</a:t>
            </a:r>
          </a:p>
          <a:p>
            <a:r>
              <a:t>1. Initial State: The starting point of the agent, describing the situation before any actions are taken.</a:t>
            </a:r>
          </a:p>
          <a:p>
            <a:r>
              <a:t>2. Actions (or Operators): A set of possible actions available to the agent. A 'successor function' describes the state resulting from each action.</a:t>
            </a:r>
          </a:p>
          <a:p>
            <a:r>
              <a:t>3. Goal Test: A way to determine if a given state is a goal state, indicating that the problem has been solved.</a:t>
            </a:r>
          </a:p>
          <a:p>
            <a:r>
              <a:t>4. Path Cost: A function that assigns a numerical cost to each path (sequence of actions). The aim is often to find a path with the lowest cost.</a:t>
            </a:r>
          </a:p>
          <a:p>
            <a:r>
              <a:t>The solution to a problem is a sequence of actions that leads from the initial state to a goal state.</a:t>
            </a:r>
          </a:p>
          <a:p>
            <a:r>
              <a:t>This formalization allows us to use general search algorithms, rather than custom solutions for each problem.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Problems and Search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Once a problem is formulated, a 'search problem' is created, which consists of finding a path from the initial state to a goal state.</a:t>
            </a:r>
          </a:p>
          <a:p>
            <a:r>
              <a:t>The states and actions define a 'state space' graph where nodes are states and edges are actions.</a:t>
            </a:r>
          </a:p>
          <a:p>
            <a:r>
              <a:t>During search, we often build a 'search tree', which is a systematic way to explore the state space.</a:t>
            </a:r>
          </a:p>
          <a:p>
            <a:r>
              <a:t>The root of the search tree corresponds to the initial state; nodes are generated by applying actions to parent nodes.</a:t>
            </a:r>
          </a:p>
          <a:p>
            <a:r>
              <a:t>A 'node' in the search tree typically contains the state, the parent node, the action that generated it, and the path cost from the initial state.</a:t>
            </a:r>
          </a:p>
          <a:p>
            <a:r>
              <a:t>The challenge is to efficiently explore this tree to find a solution, avoiding redundant paths and infinite loops.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Toy Problems for Illustration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Toy problems are simplified models used to illustrate core AI concepts and test algorithms, despite being abstractions of real-world complexity.</a:t>
            </a:r>
          </a:p>
          <a:p>
            <a:r>
              <a:t>1. Vacuum World: A simple agent in two rooms, cleaning or moving, used to demonstrate simple reflex and model-based agents and state space search.</a:t>
            </a:r>
          </a:p>
          <a:p>
            <a:r>
              <a:t>2. 8-Puzzle (or 15-Puzzle): Sliding tiles on a 3x3 (or 4x4) grid to reach a goal configuration. A classic test for search algorithms and heuristics.</a:t>
            </a:r>
          </a:p>
          <a:p>
            <a:r>
              <a:t>3. Missionaries and Cannibals: Three missionaries and three cannibals on one side of a river, needing to cross with a boat, subject to the constraint that cannibals never outnumber missionaries on either bank.</a:t>
            </a:r>
          </a:p>
          <a:p>
            <a:r>
              <a:t>4. Water Jug Problem: Given two jugs of different capacities, measure out a specific amount of water.</a:t>
            </a:r>
          </a:p>
          <a:p>
            <a:r>
              <a:t>These problems, while simple, expose complexities related to state representation, action definition, and the combinatorial explosion of states.</a:t>
            </a:r>
          </a:p>
          <a:p>
            <a:r>
              <a:t>They are invaluable for understanding the performance and limitations of various search strategies.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AI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real-world problems can be effectively framed and solved using AI search techniques, though often with greater scale and complexity.</a:t>
            </a:r>
          </a:p>
          <a:p>
            <a:r>
              <a:t>1. Route Finding/Navigation: Finding the shortest or fastest path between two locations, considering traffic, road conditions, and various transport modes (e.g., GPS systems).</a:t>
            </a:r>
          </a:p>
          <a:p>
            <a:r>
              <a:t>2. Traveling Salesperson Problem (TSP): Finding the shortest possible route that visits each city exactly once and returns to the origin city. Critically important for logistics and delivery.</a:t>
            </a:r>
          </a:p>
          <a:p>
            <a:r>
              <a:t>3. Scheduling and Planning: Allocating resources and ordering tasks to achieve goals efficiently, used in airline scheduling, factory production, and project management.</a:t>
            </a:r>
          </a:p>
          <a:p>
            <a:r>
              <a:t>4. Game Playing: AI agents develop strategies to play games like chess, Go, and poker, involving complex search spaces and adversarial reasoning.</a:t>
            </a:r>
          </a:p>
          <a:p>
            <a:r>
              <a:t>5. Robot Motion Planning: Determining a sequence of movements for a robot to navigate from a start to a goal configuration while avoiding obstacles.</a:t>
            </a:r>
          </a:p>
          <a:p>
            <a:r>
              <a:t>These problems often require more advanced search techniques, including informed search and optimization methods, due to their vast state spaces.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5: State Space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delves into the critical concept of state space representation, which is fundamental to AI problem solving.</a:t>
            </a:r>
          </a:p>
          <a:p>
            <a:r>
              <a:t>We will formalize how problems are modeled as a graph of states and transitions, forming the basis for search algorithms.</a:t>
            </a:r>
          </a:p>
          <a:p>
            <a:r>
              <a:t>Understanding how to represent states and actions is crucial for developing efficient search strategies.</a:t>
            </a:r>
          </a:p>
          <a:p>
            <a:r>
              <a:t>The objective is to teach you how to translate real-world problems into a formal structure that can be processed by AI algorithms.</a:t>
            </a:r>
          </a:p>
          <a:p>
            <a:r>
              <a:t>We'll cover the definition of state space, the role of operators, and the distinction between graph and tree representations.</a:t>
            </a:r>
          </a:p>
          <a:p>
            <a:r>
              <a:t>This topic serves as the direct prerequisite for understanding and implementing search algorithms.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State Space?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state space is a mathematical abstraction used in AI to represent all possible configurations or situations a problem solver can be in.</a:t>
            </a:r>
          </a:p>
          <a:p>
            <a:r>
              <a:t>It's typically modeled as a graph where each node represents a unique state, and each edge represents a valid transition (action or operator) between states.</a:t>
            </a:r>
          </a:p>
          <a:p>
            <a:r>
              <a:t>The initial state is the starting node, and one or more goal states are the target nodes within this graph.</a:t>
            </a:r>
          </a:p>
          <a:p>
            <a:r>
              <a:t>The path from the initial state to a goal state corresponds to a sequence of actions that solves the problem.</a:t>
            </a:r>
          </a:p>
          <a:p>
            <a:r>
              <a:t>The size and complexity of the state space directly impact the computational resources required to find a solution.</a:t>
            </a:r>
          </a:p>
          <a:p>
            <a:r>
              <a:t>Effective state space representation is vital for the design of efficient search algorithms.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Representing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state must contain enough information to decide what actions are legal and what states will result from those actions.</a:t>
            </a:r>
          </a:p>
          <a:p>
            <a:r>
              <a:t>For the 8-puzzle, a state can be represented as a 3x3 array (or list) of numbers, where 0 represents the blank tile.</a:t>
            </a:r>
          </a:p>
          <a:p>
            <a:r>
              <a:t>For the Missionaries and Cannibals problem, a state might be a tuple (M, C, B) representing the number of missionaries and cannibals on the left bank, and boat's position.</a:t>
            </a:r>
          </a:p>
          <a:p>
            <a:r>
              <a:t>States should be precise, unambiguous, and complete, capturing all relevant aspects of the problem at a given point in time.</a:t>
            </a:r>
          </a:p>
          <a:p>
            <a:r>
              <a:t>Choosing an appropriate level of abstraction for state representation is critical; too much detail can lead to a combinatorially explosive state space, too little can obscure important information.</a:t>
            </a:r>
          </a:p>
          <a:p>
            <a:r>
              <a:t>The specific data structure used (e.g., list, array, object) depends on the problem and programming language.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 and Transitions (Operators)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Actions (also called operators or moves) are functions that map one state to another, defining the possible transitions within the state space.</a:t>
            </a:r>
          </a:p>
          <a:p>
            <a:r>
              <a:t>Each action has preconditions (conditions that must be true for the action to be applied) and effects (how the state changes after the action).</a:t>
            </a:r>
          </a:p>
          <a:p>
            <a:r>
              <a:t>For the 8-puzzle, actions are 'move blank left', 'move blank right', 'move blank up', 'move blank down', each having preconditions (e.g., cannot move blank left if it's already in the leftmost column).</a:t>
            </a:r>
          </a:p>
          <a:p>
            <a:r>
              <a:t>A 'successor function' takes a state as input and returns a list of (action, successor_state) pairs reachable from the input state.</a:t>
            </a:r>
          </a:p>
          <a:p>
            <a:r>
              <a:t>The cost of an action (edge weight) can also be associated, representing the effort, time, or resources required to perform it.</a:t>
            </a:r>
          </a:p>
          <a:p>
            <a:r>
              <a:t>Defining actions correctly ensures that the search explores only valid paths and avoids illegal moves.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vs. Tree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underlying state space is fundamentally a graph, as different action sequences can often lead to the same state, forming cycles.</a:t>
            </a:r>
          </a:p>
          <a:p>
            <a:r>
              <a:t>In a 'state space graph', each node represents a unique state, and edges represent transitions between them. Cycles are common.</a:t>
            </a:r>
          </a:p>
          <a:p>
            <a:r>
              <a:t>A 'search tree', on the other hand, is a conceptual tree built by the search algorithm during its exploration.</a:t>
            </a:r>
          </a:p>
          <a:p>
            <a:r>
              <a:t>In a search tree, multiple nodes can correspond to the same state if that state is reached via different paths.</a:t>
            </a:r>
          </a:p>
          <a:p>
            <a:r>
              <a:t>A node in a search tree typically stores the path from the root (initial state) to that state, making it easy to reconstruct the solution.</a:t>
            </a:r>
          </a:p>
          <a:p>
            <a:r>
              <a:t>Algorithms often build a search tree to keep track of the exploration process and implicitly manage visited states in the underlying graph.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in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 state space representation is the bedrock of problem-solving in AI, directly influencing the feasibility and efficiency of search.</a:t>
            </a:r>
          </a:p>
          <a:p>
            <a:r>
              <a:t>A good representation can prune the search space, making an intractable problem solvable.</a:t>
            </a:r>
          </a:p>
          <a:p>
            <a:r>
              <a:t>It dictates how easily successor states can be generated and how quickly goal states can be identified.</a:t>
            </a:r>
          </a:p>
          <a:p>
            <a:r>
              <a:t>Poor representation can lead to an enormous or ill-defined state space, causing algorithms to become computationally prohibitive.</a:t>
            </a:r>
          </a:p>
          <a:p>
            <a:r>
              <a:t>Choosing the right level of abstraction for states and actions is a crucial skill in AI system design.</a:t>
            </a:r>
          </a:p>
          <a:p>
            <a:r>
              <a:t>This foundational understanding enables the application of generic search algorithms to a wide variety of specific problems.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6: Uninformed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introduces Uninformed Search strategies, also known as 'blind search', which are fundamental in AI.</a:t>
            </a:r>
          </a:p>
          <a:p>
            <a:r>
              <a:t>These algorithms operate without any domain-specific knowledge or heuristics to guide their search, exploring the state space systematically.</a:t>
            </a:r>
          </a:p>
          <a:p>
            <a:r>
              <a:t>Understanding uninformed search is crucial as it forms the basis for more advanced informed search techniques.</a:t>
            </a:r>
          </a:p>
          <a:p>
            <a:r>
              <a:t>The objective is to explore the principles, properties, and trade-offs of various blind search methods.</a:t>
            </a:r>
          </a:p>
          <a:p>
            <a:r>
              <a:t>We will analyze their completeness, optimality, and computational complexity (time and space).</a:t>
            </a:r>
          </a:p>
          <a:p>
            <a:r>
              <a:t>This topic provides the theoretical foundation for navigating state spaces and finding solutions.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Uninformed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Uninformed search strategies are methods for traversing a state space graph or tree without using any problem-specific knowledge beyond the problem definition itself.</a:t>
            </a:r>
          </a:p>
          <a:p>
            <a:r>
              <a:t>They are 'blind' in the sense that they cannot distinguish between more or less promising states, exploring states in a predetermined order.</a:t>
            </a:r>
          </a:p>
          <a:p>
            <a:r>
              <a:t>The primary goal is to find *any* path from the initial state to a goal state, though some methods can also find an optimal path.</a:t>
            </a:r>
          </a:p>
          <a:p>
            <a:r>
              <a:t>These strategies are general-purpose algorithms that can be applied to any search problem that is formally defined.</a:t>
            </a:r>
          </a:p>
          <a:p>
            <a:r>
              <a:t>Examples include Breadth-First Search (BFS), Depth-First Search (DFS), Uniform Cost Search, and Iterative Deepening DFS.</a:t>
            </a:r>
          </a:p>
          <a:p>
            <a:r>
              <a:t>While often less efficient than informed search, they provide guarantees about finding solutions under certain conditions.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Properties of Search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evaluating search algorithms, four key properties are considered:</a:t>
            </a:r>
          </a:p>
          <a:p>
            <a:r>
              <a:t>1. Completeness: Guarantees that if a solution exists, the algorithm will eventually find it. Important for problems where solutions are rare or hard to find.</a:t>
            </a:r>
          </a:p>
          <a:p>
            <a:r>
              <a:t>2. Optimality: Guarantees that the algorithm finds the best (e.g., cheapest, shortest) solution among all possible solutions. Relevant when path costs matter.</a:t>
            </a:r>
          </a:p>
          <a:p>
            <a:r>
              <a:t>3. Time Complexity: Measures the time taken by the algorithm to find a solution, typically as a function of the branching factor (b) and depth of the solution (d) or maximum depth (m).</a:t>
            </a:r>
          </a:p>
          <a:p>
            <a:r>
              <a:t>4. Space Complexity: Measures the maximum memory required by the algorithm to store states and other data structures during the search.</a:t>
            </a:r>
          </a:p>
          <a:p>
            <a:r>
              <a:t>These properties help in choosing the most appropriate search strategy for a given problem and resource constraints.</a:t>
            </a:r>
          </a:p>
          <a:p>
            <a:r>
              <a:t>There is often a trade-off between optimality, completeness, and computational complexity.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Uninformed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Breadth-First Search (BFS): Explores all nodes at the current depth level before moving to the next level.</a:t>
            </a:r>
          </a:p>
          <a:p>
            <a:r>
              <a:t>2. Depth-First Search (DFS): Explores as far as possible along each branch before backtracking.</a:t>
            </a:r>
          </a:p>
          <a:p>
            <a:r>
              <a:t>3. Uniform Cost Search (UCS): Expands the node with the lowest path cost from the start node, guaranteeing an optimal solution in general graphs.</a:t>
            </a:r>
          </a:p>
          <a:p>
            <a:r>
              <a:t>4. Depth-Limited Search (DLS): DFS with a predetermined depth limit 'L', preventing infinite loops in cyclic graphs.</a:t>
            </a:r>
          </a:p>
          <a:p>
            <a:r>
              <a:t>5. Iterative Deepening Depth-First Search (IDDFS): Combines DFS's space efficiency with BFS's completeness and optimality by performing DLS repeatedly with increasing depth limits.</a:t>
            </a:r>
          </a:p>
          <a:p>
            <a:r>
              <a:t>6. Bidirectional Search: Runs two simultaneous searches, one forward from the initial state and one backward from the goal state, meeting in the middle.</a:t>
            </a:r>
          </a:p>
          <a:p>
            <a:r>
              <a:t>Each type has distinct characteristics regarding completeness, optimality, and complexity trade-offs.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Uninformed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Uninformed search is appropriate in situations where problem-specific knowledge or heuristics are unavailable or difficult to formulate.</a:t>
            </a:r>
          </a:p>
          <a:p>
            <a:r>
              <a:t>They are suitable for relatively small state spaces where the computational cost of exploration is manageable.</a:t>
            </a:r>
          </a:p>
          <a:p>
            <a:r>
              <a:t>When a solution is guaranteed to exist and any solution is acceptable (not necessarily optimal), DFS or BFS might suffice.</a:t>
            </a:r>
          </a:p>
          <a:p>
            <a:r>
              <a:t>For finding optimal solutions in unweighted graphs, BFS is a good choice due to its level-by-level exploration.</a:t>
            </a:r>
          </a:p>
          <a:p>
            <a:r>
              <a:t>For finding optimal solutions in weighted graphs without a heuristic, Uniform Cost Search is necessary.</a:t>
            </a:r>
          </a:p>
          <a:p>
            <a:r>
              <a:t>IDDFS is often preferred for its completeness, optimality (for optimal path length), and relatively low space complexity.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Uninformed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primary limitation is their computational expense, especially for large state spaces, due to their 'blind' exploration.</a:t>
            </a:r>
          </a:p>
          <a:p>
            <a:r>
              <a:t>Time complexity often grows exponentially with the depth of the solution (b^d), making them impractical for deep solutions.</a:t>
            </a:r>
          </a:p>
          <a:p>
            <a:r>
              <a:t>Space complexity can also be a significant issue, particularly for BFS, which must store all nodes at the current level.</a:t>
            </a:r>
          </a:p>
          <a:p>
            <a:r>
              <a:t>Without a heuristic, they cannot effectively prioritize promising paths, leading to extensive exploration of unpromising regions.</a:t>
            </a:r>
          </a:p>
          <a:p>
            <a:r>
              <a:t>They are inefficient for problems where the branching factor is very high or the goal is very deep.</a:t>
            </a:r>
          </a:p>
          <a:p>
            <a:r>
              <a:t>Real-world problems with vast state spaces typically require informed search techniques to be solvable within reasonable time and memory.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7: BFS (Breadth-First Search)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focuses on Breadth-First Search (BFS), a foundational uninformed search algorithm.</a:t>
            </a:r>
          </a:p>
          <a:p>
            <a:r>
              <a:t>We will examine its step-by-step operation, how it explores a state space, and its data structures.</a:t>
            </a:r>
          </a:p>
          <a:p>
            <a:r>
              <a:t>Understanding BFS is critical for graspings search fundamentals and its applications in various computing domains.</a:t>
            </a:r>
          </a:p>
          <a:p>
            <a:r>
              <a:t>The objective is to provide a detailed understanding of BFS's properties, complexity, and practical uses.</a:t>
            </a:r>
          </a:p>
          <a:p>
            <a:r>
              <a:t>We'll cover its completeness and optimality guarantees, along with its time and space requirements.</a:t>
            </a:r>
          </a:p>
          <a:p>
            <a:r>
              <a:t>BFS offers a robust method for finding shortest paths in unweighted graphs.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Algorithm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Breadth-First Search (BFS) is an algorithm for traversing or searching tree or graph data structures.</a:t>
            </a:r>
          </a:p>
          <a:p>
            <a:r>
              <a:t>It systematically explores the graph level by level, starting from the root (initial state) and exploring all immediate neighbors.</a:t>
            </a:r>
          </a:p>
          <a:p>
            <a:r>
              <a:t>After visiting all nodes at the current depth, it moves on to the nodes at the next depth level.</a:t>
            </a:r>
          </a:p>
          <a:p>
            <a:r>
              <a:t>This process ensures that it finds the shallowest (shortest) path to any goal node in an unweighted graph.</a:t>
            </a:r>
          </a:p>
          <a:p>
            <a:r>
              <a:t>BFS typically uses a Queue data structure to manage the order of node expansion, ensuring FIFO (First-In, First-Out) processing.</a:t>
            </a:r>
          </a:p>
          <a:p>
            <a:r>
              <a:t>It's widely used in problems where the shortest path in terms of number of steps is desired.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Pseudocode/Steps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Initialize a Queue with the initial state (node) and a set to keep track of visited states.</a:t>
            </a:r>
          </a:p>
          <a:p>
            <a:r>
              <a:t>2. While the Queue is not empty:</a:t>
            </a:r>
          </a:p>
          <a:p>
            <a:r>
              <a:t>3. Dequeue the first node from the Queue (let's call it current_node).</a:t>
            </a:r>
          </a:p>
          <a:p>
            <a:r>
              <a:t>4. If current_node is the goal state, then a solution has been found. Reconstruct and return the path.</a:t>
            </a:r>
          </a:p>
          <a:p>
            <a:r>
              <a:t>5. Otherwise, for each unvisited neighbor (successor state) of current_node:</a:t>
            </a:r>
          </a:p>
          <a:p>
            <a:r>
              <a:t>6. Add the neighbor to the visited set and Enqueue it.</a:t>
            </a:r>
          </a:p>
          <a:p>
            <a:r>
              <a:t>Note: A 'visited' set (or hash table) is crucial to avoid infinite loops in graphs and redundant processing.</a:t>
            </a:r>
          </a:p>
          <a:p>
            <a:r>
              <a:t>Path reconstruction typically involves storing parent pointers in each node to trace back from the goal to the start.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Properties (Completeness &amp; Optimality)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Completeness: BFS is complete. If a solution exists, BFS is guaranteed to find it, provided the branching factor is finite.</a:t>
            </a:r>
          </a:p>
          <a:p>
            <a:r>
              <a:t>This is because it explores all nodes at a given depth before moving deeper, ensuring no shallow solution is missed.</a:t>
            </a:r>
          </a:p>
          <a:p>
            <a:r>
              <a:t>Optimality: BFS is optimal for unweighted graphs. It guarantees finding the shortest path (in terms of the number of actions/edges) to the goal.</a:t>
            </a:r>
          </a:p>
          <a:p>
            <a:r>
              <a:t>This is because the first time BFS encounters a goal node, it must have traversed the minimum number of edges to reach it.</a:t>
            </a:r>
          </a:p>
          <a:p>
            <a:r>
              <a:t>For weighted graphs, BFS is not optimal; Uniform Cost Search is required to guarantee the minimum cost path.</a:t>
            </a:r>
          </a:p>
          <a:p>
            <a:r>
              <a:t>Its completeness and optimality make BFS a robust choice for certain types of search problems.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Complexity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Complexity: O(b^d), where 'b' is the branching factor (average number of successors per state) and 'd' is the depth of the shallowest goal.</a:t>
            </a:r>
          </a:p>
          <a:p>
            <a:r>
              <a:t>In the worst case, BFS might explore all nodes up to depth 'd' and some nodes at depth 'd+1'.</a:t>
            </a:r>
          </a:p>
          <a:p>
            <a:r>
              <a:t>This exponential complexity means BFS can be very slow for problems with deep solutions or high branching factors.</a:t>
            </a:r>
          </a:p>
          <a:p>
            <a:r>
              <a:t>Space Complexity: O(b^d). This is often the most significant drawback of BFS.</a:t>
            </a:r>
          </a:p>
          <a:p>
            <a:r>
              <a:t>In the worst case, BFS must store all nodes at depth 'd' in the queue, which can be an enormous number.</a:t>
            </a:r>
          </a:p>
          <a:p>
            <a:r>
              <a:t>For very large state spaces, BFS can quickly run out of memory before finding a solution.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 the shortest path in an unweighted graph: This is BFS's most common and direct application, e.g., finding the minimum number of moves in a game.</a:t>
            </a:r>
          </a:p>
          <a:p>
            <a:r>
              <a:t>Web crawlers: BFS can be used to traverse the web, starting from a given URL and systematically visiting all linked pages level by level.</a:t>
            </a:r>
          </a:p>
          <a:p>
            <a:r>
              <a:t>Social network analysis: Finding the shortest connection path between two people (e.g., 'degrees of separation').</a:t>
            </a:r>
          </a:p>
          <a:p>
            <a:r>
              <a:t>GPS navigation systems: While often using informed search, BFS can be used for finding routes in simplified, unweighted road networks.</a:t>
            </a:r>
          </a:p>
          <a:p>
            <a:r>
              <a:t>Broadcasting in networks: Sending a message to all nodes in a network using the shortest possible path.</a:t>
            </a:r>
          </a:p>
          <a:p>
            <a:r>
              <a:t>Garbage collection in programming languages (e.g., Cheney's algorithm) and finding connected components in a graph.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8: DFS (Depth-First Search)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introduces Depth-First Search (DFS), another fundamental uninformed search algorithm.</a:t>
            </a:r>
          </a:p>
          <a:p>
            <a:r>
              <a:t>We will understand how DFS explores the state space by going as deep as possible along each branch before backtracking.</a:t>
            </a:r>
          </a:p>
          <a:p>
            <a:r>
              <a:t>Understanding DFS is essential for its unique properties and applications in various computational tasks.</a:t>
            </a:r>
          </a:p>
          <a:p>
            <a:r>
              <a:t>The objective is to provide a detailed understanding of DFS's properties, complexity, and practical uses.</a:t>
            </a:r>
          </a:p>
          <a:p>
            <a:r>
              <a:t>We'll cover its completeness, optimality, and how its time and space complexity differ from BFS.</a:t>
            </a:r>
          </a:p>
          <a:p>
            <a:r>
              <a:t>DFS provides an alternative search strategy, often with different trade-offs in performance.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Algorithm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Depth-First Search (DFS) is an algorithm for traversing or searching tree or graph data structures.</a:t>
            </a:r>
          </a:p>
          <a:p>
            <a:r>
              <a:t>It explores as far as possible along each branch before backtracking. It essentially goes 'deep' into one path first.</a:t>
            </a:r>
          </a:p>
          <a:p>
            <a:r>
              <a:t>If it hits a dead end or a node that has no further unvisited children, it backtracks to the most recent node it hasn't fully explored.</a:t>
            </a:r>
          </a:p>
          <a:p>
            <a:r>
              <a:t>DFS typically uses a Stack data structure (or implicitly, recursion) to manage the order of node expansion, ensuring LIFO (Last-In, First-Out) processing.</a:t>
            </a:r>
          </a:p>
          <a:p>
            <a:r>
              <a:t>Unlike BFS, DFS does not guarantee finding the shortest path, even in unweighted graphs, as it might explore a very long path to a goal first.</a:t>
            </a:r>
          </a:p>
          <a:p>
            <a:r>
              <a:t>It's particularly useful when the solution depth is unknown or when memory is a critical constraint.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Pseudocode/Steps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Initialize a Stack with the initial state (node) and a set to keep track of visited states.</a:t>
            </a:r>
          </a:p>
          <a:p>
            <a:r>
              <a:t>2. Mark the initial state as visited.</a:t>
            </a:r>
          </a:p>
          <a:p>
            <a:r>
              <a:t>3. While the Stack is not empty:</a:t>
            </a:r>
          </a:p>
          <a:p>
            <a:r>
              <a:t>4. Pop the top node from the Stack (let's call it current_node).</a:t>
            </a:r>
          </a:p>
          <a:p>
            <a:r>
              <a:t>5. If current_node is the goal state, then a solution has been found. Reconstruct and return the path.</a:t>
            </a:r>
          </a:p>
          <a:p>
            <a:r>
              <a:t>6. For each unvisited neighbor (successor state) of current_node (often in reverse order of generation for consistent traversal):</a:t>
            </a:r>
          </a:p>
          <a:p>
            <a:r>
              <a:t>7. Mark the neighbor as visited and Push it onto the Stack.</a:t>
            </a:r>
          </a:p>
          <a:p>
            <a:r>
              <a:t>Recursive implementation of DFS naturally handles the stack management and backtracking.</a:t>
            </a:r>
          </a:p>
          <a:p>
            <a:r>
              <a:t>Care must be taken to handle cycles in graphs to prevent infinite loops by maintaining a 'visited' set.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Properties (Completeness &amp; Optimality)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Completeness: DFS is not complete for graphs with cycles or infinite depth. If a goal is not reachable or the search gets stuck in a cycle, it might never terminate.</a:t>
            </a:r>
          </a:p>
          <a:p>
            <a:r>
              <a:t>To ensure completeness in graphs, a visited set is crucial to prevent revisiting nodes and falling into infinite loops.</a:t>
            </a:r>
          </a:p>
          <a:p>
            <a:r>
              <a:t>When a depth limit (Depth-Limited Search) is imposed, DFS can be complete within that limit.</a:t>
            </a:r>
          </a:p>
          <a:p>
            <a:r>
              <a:t>Optimality: DFS is generally not optimal. Even if it finds a solution, there's no guarantee it's the shortest or lowest-cost path.</a:t>
            </a:r>
          </a:p>
          <a:p>
            <a:r>
              <a:t>It might discover a deep, suboptimal solution before finding a shallower, optimal one.</a:t>
            </a:r>
          </a:p>
          <a:p>
            <a:r>
              <a:t>This makes DFS less suitable for problems where path optimality is a primary concern without further modifications (e.g., iterative deepening).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Complexity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Complexity: O(b^m), where 'b' is the branching factor and 'm' is the maximum depth of the search space (which can be infinite).</a:t>
            </a:r>
          </a:p>
          <a:p>
            <a:r>
              <a:t>In the worst case, DFS might explore the entire search space down to its maximum depth.</a:t>
            </a:r>
          </a:p>
          <a:p>
            <a:r>
              <a:t>If the search space is finite and without cycles (like a finite tree), time complexity is proportional to the number of nodes in the tree.</a:t>
            </a:r>
          </a:p>
          <a:p>
            <a:r>
              <a:t>Space Complexity: O(b*m). This is a significant advantage over BFS.</a:t>
            </a:r>
          </a:p>
          <a:p>
            <a:r>
              <a:t>DFS only needs to store the current path from the root to the current node and the unexpanded siblings for backtracking.</a:t>
            </a:r>
          </a:p>
          <a:p>
            <a:r>
              <a:t>This makes DFS highly memory-efficient, especially for problems with very deep solutions but limited branching.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Topological Sorting: Ordering nodes in a directed acyclic graph (DAG) such that for every directed edge (u, v), u comes before v. Essential for task scheduling.</a:t>
            </a:r>
          </a:p>
          <a:p>
            <a:r>
              <a:t>Finding Connected Components: Identifying all reachable nodes from a given starting node in a graph.</a:t>
            </a:r>
          </a:p>
          <a:p>
            <a:r>
              <a:t>Cycle Detection: Detecting the presence of cycles in a graph, which is important in various network and dependency analyses.</a:t>
            </a:r>
          </a:p>
          <a:p>
            <a:r>
              <a:t>Maze Solving: DFS can be used to find a path through a maze by exploring one path fully before backtracking.</a:t>
            </a:r>
          </a:p>
          <a:p>
            <a:r>
              <a:t>Pathfinding (when solution depth is unknown and memory is constrained): Although not optimal, it's efficient in memory.</a:t>
            </a:r>
          </a:p>
          <a:p>
            <a:r>
              <a:t>Solving puzzles: Certain puzzles like Sudoku solvers or constraint satisfaction problems can leverage DFS-like backtracking 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