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 Introduction: Welcome to Introduction to AI</a:t>
            </a:r>
          </a:p>
        </p:txBody>
      </p:sp>
      <p:sp>
        <p:nvSpPr>
          <p:cNvPr id="3" name="Content Placeholder 2"/>
          <p:cNvSpPr>
            <a:spLocks noGrp="1"/>
          </p:cNvSpPr>
          <p:nvPr>
            <p:ph idx="1"/>
          </p:nvPr>
        </p:nvSpPr>
        <p:spPr/>
        <p:txBody>
          <a:bodyPr/>
          <a:lstStyle/>
          <a:p>
            <a:r>
              <a:t>Welcome to 'Introduction to Artificial Intelligence', a foundational course exploring the principles and techniques behind intelligent systems.</a:t>
            </a:r>
          </a:p>
          <a:p>
            <a:r>
              <a:t>Artificial Intelligence (AI) is a rapidly evolving field that aims to create machines capable of performing tasks that typically require human intelligence.</a:t>
            </a:r>
          </a:p>
          <a:p>
            <a:r>
              <a:t>This unit will cover core concepts from the definition and history of AI to advanced search algorithms and intelligent agents.</a:t>
            </a:r>
          </a:p>
          <a:p>
            <a:r>
              <a:t>Understanding these fundamentals is crucial for appreciating the capabilities and limitations of current AI technologies and for future developments.</a:t>
            </a:r>
          </a:p>
          <a:p>
            <a:r>
              <a:t>Throughout this course, we will combine theoretical understanding with practical insights into how AI is applied in real-world scenarios.</a:t>
            </a:r>
          </a:p>
          <a:p>
            <a:r>
              <a:t>Our journey will equip you with a strong conceptual framework for further study in specialized AI domains like machine learning, robotics, and natural language processing.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1: Definition and History of AI - What is AI?</a:t>
            </a:r>
          </a:p>
        </p:txBody>
      </p:sp>
      <p:sp>
        <p:nvSpPr>
          <p:cNvPr id="3" name="Content Placeholder 2"/>
          <p:cNvSpPr>
            <a:spLocks noGrp="1"/>
          </p:cNvSpPr>
          <p:nvPr>
            <p:ph idx="1"/>
          </p:nvPr>
        </p:nvSpPr>
        <p:spPr/>
        <p:txBody>
          <a:bodyPr/>
          <a:lstStyle/>
          <a:p>
            <a:r>
              <a:t>Artificial Intelligence (AI) is broadly defined as the science and engineering of making intelligent machines, especially intelligent computer programs (John McCarthy, 1956).</a:t>
            </a:r>
          </a:p>
          <a:p>
            <a:r>
              <a:t>It encompasses various capabilities: reasoning, knowledge representation, planning, learning, natural language processing (NLP), perception, and the ability to move and manipulate objects.</a:t>
            </a:r>
          </a:p>
          <a:p>
            <a:r>
              <a:t>Key approaches to defining AI include 'thinking humanly' (cognitive modeling), 'acting humanly' (Turing Test), 'thinking rationally' (laws of thought), and 'acting rationally' (rational agent approach).</a:t>
            </a:r>
          </a:p>
          <a:p>
            <a:r>
              <a:t>The 'acting rationally' approach is predominant in modern AI, focusing on building agents that maximize expected utility given their perceptions.</a:t>
            </a:r>
          </a:p>
          <a:p>
            <a:r>
              <a:t>AI systems aim to simulate or exceed human cognitive functions, allowing machines to solve complex problems and adapt to new situations.</a:t>
            </a:r>
          </a:p>
          <a:p>
            <a:r>
              <a:t>The ultimate goal of AI remains a subject of philosophical debate, ranging from creating narrow task-specific intelligence to achieving artificial general intelligence (AGI).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1: Early Visions and Philosophical Roots</a:t>
            </a:r>
          </a:p>
        </p:txBody>
      </p:sp>
      <p:sp>
        <p:nvSpPr>
          <p:cNvPr id="3" name="Content Placeholder 2"/>
          <p:cNvSpPr>
            <a:spLocks noGrp="1"/>
          </p:cNvSpPr>
          <p:nvPr>
            <p:ph idx="1"/>
          </p:nvPr>
        </p:nvSpPr>
        <p:spPr/>
        <p:txBody>
          <a:bodyPr/>
          <a:lstStyle/>
          <a:p>
            <a:r>
              <a:t>The concept of intelligent machines dates back to ancient myths, such as Hephaestus's automatons in Greek mythology and the Golem in Jewish folklore.</a:t>
            </a:r>
          </a:p>
          <a:p>
            <a:r>
              <a:t>Philosophical foundations of AI emerged from discussions on the nature of knowledge, reasoning, and the mind-body problem, notably from René Descartes, Thomas Hobbes, and Gottfried Leibniz.</a:t>
            </a:r>
          </a:p>
          <a:p>
            <a:r>
              <a:t>Leibniz envisioned a 'calculus ratiocinator' for automated reasoning, a precursor to symbolic AI.</a:t>
            </a:r>
          </a:p>
          <a:p>
            <a:r>
              <a:t>The advent of formal logic by George Boole in the 19th century provided the mathematical tools necessary to represent and manipulate logical statements.</a:t>
            </a:r>
          </a:p>
          <a:p>
            <a:r>
              <a:t>Early 20th-century developments in computability theory by Alan Turing and Alonzo Church laid the theoretical groundwork for general-purpose computers.</a:t>
            </a:r>
          </a:p>
          <a:p>
            <a:r>
              <a:t>Alan Turing's seminal 1950 paper, 'Computing Machinery and Intelligence', introduced the 'Imitation Game' (Turing Test) as a practical measure of machine intelligence.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1: The Birth of AI (1950s-1970s)</a:t>
            </a:r>
          </a:p>
        </p:txBody>
      </p:sp>
      <p:sp>
        <p:nvSpPr>
          <p:cNvPr id="3" name="Content Placeholder 2"/>
          <p:cNvSpPr>
            <a:spLocks noGrp="1"/>
          </p:cNvSpPr>
          <p:nvPr>
            <p:ph idx="1"/>
          </p:nvPr>
        </p:nvSpPr>
        <p:spPr/>
        <p:txBody>
          <a:bodyPr/>
          <a:lstStyle/>
          <a:p>
            <a:r>
              <a:t>The term 'Artificial Intelligence' was coined by John McCarthy in 1956 for the Dartmouth Summer Research Project on Artificial Intelligence, marking the field's formal inception.</a:t>
            </a:r>
          </a:p>
          <a:p>
            <a:r>
              <a:t>Early AI research focused on symbolic reasoning, attempting to mimic human problem-solving through logical inference and rule-based systems.</a:t>
            </a:r>
          </a:p>
          <a:p>
            <a:r>
              <a:t>Key early achievements include Allen Newell and Herbert Simon's Logic Theorist (1956), which proved mathematical theorems, and General Problem Solver (GPS) (1959).</a:t>
            </a:r>
          </a:p>
          <a:p>
            <a:r>
              <a:t>Marvin Minsky and Seymour Papert's work at MIT laid foundations for neural networks and machine perception, though their 1969 book 'Perceptrons' initially dampened enthusiasm for neural nets.</a:t>
            </a:r>
          </a:p>
          <a:p>
            <a:r>
              <a:t>Early AI programs like ELIZA (1966) simulated conversational interaction, and SHRDLU (1972) demonstrated natural language understanding in a limited 'blocks world'.</a:t>
            </a:r>
          </a:p>
          <a:p>
            <a:r>
              <a:t>This period saw significant optimism, fueled by breakthroughs in automated reasoning and symbolic manipulation, leading to ambitious predictions about AI's future.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1: AI Winters and Expert Systems (1970s-1990s)</a:t>
            </a:r>
          </a:p>
        </p:txBody>
      </p:sp>
      <p:sp>
        <p:nvSpPr>
          <p:cNvPr id="3" name="Content Placeholder 2"/>
          <p:cNvSpPr>
            <a:spLocks noGrp="1"/>
          </p:cNvSpPr>
          <p:nvPr>
            <p:ph idx="1"/>
          </p:nvPr>
        </p:nvSpPr>
        <p:spPr/>
        <p:txBody>
          <a:bodyPr/>
          <a:lstStyle/>
          <a:p>
            <a:r>
              <a:t>The first 'AI winter' occurred in the mid-1970s due to unrealistic expectations, limited computational power, and the failure of AI to scale beyond 'toy' problems.</a:t>
            </a:r>
          </a:p>
          <a:p>
            <a:r>
              <a:t>Despite setbacks, the 1980s saw a resurgence with 'expert systems', which encoded human expert knowledge into rule-based programs for specific domains.</a:t>
            </a:r>
          </a:p>
          <a:p>
            <a:r>
              <a:t>DENDRAL (1965) and MYCIN (1972) were pioneering expert systems for chemical structure identification and medical diagnosis, respectively, achieving expert-level performance.</a:t>
            </a:r>
          </a:p>
          <a:p>
            <a:r>
              <a:t>The commercial success of expert systems, particularly XCON (R1) for configuring DEC computer systems, temporarily revitalized interest and investment in AI.</a:t>
            </a:r>
          </a:p>
          <a:p>
            <a:r>
              <a:t>However, the brittle nature of expert systems (difficulty in acquiring knowledge, lack of common sense, poor handling of uncertainty) led to another 'AI winter' in the late 1980s.</a:t>
            </a:r>
          </a:p>
          <a:p>
            <a:r>
              <a:t>During this period, focus shifted towards more robust, sub-symbolic approaches and probabilistic methods, laying groundwork for machine learning.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1: Modern AI: Machine Learning, Big Data, and Deep Learning (1990s-Present)</a:t>
            </a:r>
          </a:p>
        </p:txBody>
      </p:sp>
      <p:sp>
        <p:nvSpPr>
          <p:cNvPr id="3" name="Content Placeholder 2"/>
          <p:cNvSpPr>
            <a:spLocks noGrp="1"/>
          </p:cNvSpPr>
          <p:nvPr>
            <p:ph idx="1"/>
          </p:nvPr>
        </p:nvSpPr>
        <p:spPr/>
        <p:txBody>
          <a:bodyPr/>
          <a:lstStyle/>
          <a:p>
            <a:r>
              <a:t>The late 20th and early 21st centuries witnessed a significant shift towards data-driven and statistical AI, driven by advancements in machine learning (ML).</a:t>
            </a:r>
          </a:p>
          <a:p>
            <a:r>
              <a:t>Increased computational power (Moore's Law), availability of vast datasets ('Big Data'), and new algorithms (e.g., Support Vector Machines, Boosting) propelled ML forward.</a:t>
            </a:r>
          </a:p>
          <a:p>
            <a:r>
              <a:t>Deep Learning, a subfield of ML using artificial neural networks with multiple layers, revolutionized areas like computer vision and natural language processing.</a:t>
            </a:r>
          </a:p>
          <a:p>
            <a:r>
              <a:t>Breakthroughs like AlexNet in 2012 for image recognition demonstrated the unprecedented capabilities of deep neural networks.</a:t>
            </a:r>
          </a:p>
          <a:p>
            <a:r>
              <a:t>Current AI encompasses a wide range of techniques, including reinforcement learning, evolutionary computation, and probabilistic graphical models.</a:t>
            </a:r>
          </a:p>
          <a:p>
            <a:r>
              <a:t>The rise of AI has had profound impacts across industries, leading to new products, services, and ethical considerations regarding its societal implications.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2: Applications of AI - Overview</a:t>
            </a:r>
          </a:p>
        </p:txBody>
      </p:sp>
      <p:sp>
        <p:nvSpPr>
          <p:cNvPr id="3" name="Content Placeholder 2"/>
          <p:cNvSpPr>
            <a:spLocks noGrp="1"/>
          </p:cNvSpPr>
          <p:nvPr>
            <p:ph idx="1"/>
          </p:nvPr>
        </p:nvSpPr>
        <p:spPr/>
        <p:txBody>
          <a:bodyPr/>
          <a:lstStyle/>
          <a:p>
            <a:r>
              <a:t>Artificial Intelligence has permeated nearly every sector, transforming how businesses operate and how individuals interact with technology.</a:t>
            </a:r>
          </a:p>
          <a:p>
            <a:r>
              <a:t>AI applications can be broadly categorized into domains such as Natural Language Processing, Computer Vision, Robotics, Expert Systems, and Machine Learning-driven analytics.</a:t>
            </a:r>
          </a:p>
          <a:p>
            <a:r>
              <a:t>These applications leverage AI to automate tasks, make predictions, personalize experiences, optimize operations, and gain insights from vast amounts of data.</a:t>
            </a:r>
          </a:p>
          <a:p>
            <a:r>
              <a:t>The versatility of AI allows it to solve problems ranging from mundane data entry to complex scientific discovery.</a:t>
            </a:r>
          </a:p>
          <a:p>
            <a:r>
              <a:t>Understanding the breadth of AI applications provides context for the theoretical concepts and highlights the practical impact of the field.</a:t>
            </a:r>
          </a:p>
          <a:p>
            <a:r>
              <a:t>Many modern technologies, from smartphone features to industrial automation, are powered by sophisticated AI algorithms.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2: Natural Language Processing (NLP)</a:t>
            </a:r>
          </a:p>
        </p:txBody>
      </p:sp>
      <p:sp>
        <p:nvSpPr>
          <p:cNvPr id="3" name="Content Placeholder 2"/>
          <p:cNvSpPr>
            <a:spLocks noGrp="1"/>
          </p:cNvSpPr>
          <p:nvPr>
            <p:ph idx="1"/>
          </p:nvPr>
        </p:nvSpPr>
        <p:spPr/>
        <p:txBody>
          <a:bodyPr/>
          <a:lstStyle/>
          <a:p>
            <a:r>
              <a:t>Natural Language Processing (NLP) enables computers to understand, interpret, and generate human language in a valuable way.</a:t>
            </a:r>
          </a:p>
          <a:p>
            <a:r>
              <a:t>Key NLP tasks include machine translation (e.g., Google Translate), sentiment analysis (determining emotional tone in text), and text summarization.</a:t>
            </a:r>
          </a:p>
          <a:p>
            <a:r>
              <a:t>Chatbots and virtual assistants (e.g., Siri, Alexa, Google Assistant) are prominent examples, allowing users to interact with computers using natural speech or text.</a:t>
            </a:r>
          </a:p>
          <a:p>
            <a:r>
              <a:t>Information retrieval and extraction systems use NLP to find relevant information from large text corpora and extract specific entities or facts.</a:t>
            </a:r>
          </a:p>
          <a:p>
            <a:r>
              <a:t>Modern NLP utilizes deep learning models like transformers (e.g., BERT, GPT-3) to achieve state-of-the-art performance across various linguistic tasks.</a:t>
            </a:r>
          </a:p>
          <a:p>
            <a:r>
              <a:t>Applications extend to content moderation, spam filtering, legal document analysis, and generating creative content like news articles or poetry.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2: Computer Vision</a:t>
            </a:r>
          </a:p>
        </p:txBody>
      </p:sp>
      <p:sp>
        <p:nvSpPr>
          <p:cNvPr id="3" name="Content Placeholder 2"/>
          <p:cNvSpPr>
            <a:spLocks noGrp="1"/>
          </p:cNvSpPr>
          <p:nvPr>
            <p:ph idx="1"/>
          </p:nvPr>
        </p:nvSpPr>
        <p:spPr/>
        <p:txBody>
          <a:bodyPr/>
          <a:lstStyle/>
          <a:p>
            <a:r>
              <a:t>Computer Vision equips machines with the ability to 'see' and interpret visual information from images and videos, akin to human sight.</a:t>
            </a:r>
          </a:p>
          <a:p>
            <a:r>
              <a:t>Core tasks include object detection (identifying objects within an image), image classification (categorizing entire images), and facial recognition.</a:t>
            </a:r>
          </a:p>
          <a:p>
            <a:r>
              <a:t>Applications are widespread: autonomous vehicles use vision for navigation, obstacle avoidance, and traffic sign recognition.</a:t>
            </a:r>
          </a:p>
          <a:p>
            <a:r>
              <a:t>In healthcare, computer vision aids in medical image analysis for disease detection (e.g., tumors in X-rays, diabetic retinopathy), improving diagnostic accuracy.</a:t>
            </a:r>
          </a:p>
          <a:p>
            <a:r>
              <a:t>Security and surveillance systems employ facial recognition and behavior analysis to monitor premises and identify individuals.</a:t>
            </a:r>
          </a:p>
          <a:p>
            <a:r>
              <a:t>Other uses include quality control in manufacturing, augmented reality experiences, agricultural monitoring, and content recommendation based on visual preferences.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2: Robotics and Autonomous Systems</a:t>
            </a:r>
          </a:p>
        </p:txBody>
      </p:sp>
      <p:sp>
        <p:nvSpPr>
          <p:cNvPr id="3" name="Content Placeholder 2"/>
          <p:cNvSpPr>
            <a:spLocks noGrp="1"/>
          </p:cNvSpPr>
          <p:nvPr>
            <p:ph idx="1"/>
          </p:nvPr>
        </p:nvSpPr>
        <p:spPr/>
        <p:txBody>
          <a:bodyPr/>
          <a:lstStyle/>
          <a:p>
            <a:r>
              <a:t>Robotics integrates AI with mechanical engineering to create intelligent machines capable of sensing, planning, and acting in the physical world.</a:t>
            </a:r>
          </a:p>
          <a:p>
            <a:r>
              <a:t>Autonomous systems, a broader category, include self-driving cars, drones, and robotic assistants that can operate with minimal or no human intervention.</a:t>
            </a:r>
          </a:p>
          <a:p>
            <a:r>
              <a:t>Industrial robots (e.g., robotic arms on assembly lines) perform repetitive tasks with high precision and speed, enhancing manufacturing efficiency.</a:t>
            </a:r>
          </a:p>
          <a:p>
            <a:r>
              <a:t>Service robots in healthcare (e.g., surgical robots like da Vinci), logistics (warehouse robots), and homes (robot vacuums) provide assistance and automation.</a:t>
            </a:r>
          </a:p>
          <a:p>
            <a:r>
              <a:t>The challenge in robotics lies in developing robust perception, navigation, manipulation, and human-robot interaction capabilities.</a:t>
            </a:r>
          </a:p>
          <a:p>
            <a:r>
              <a:t>Ethical considerations around job displacement, safety, and accountability are increasingly important as autonomous systems become more prevalent.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2: AI in Healthcare, Finance, and Other Industries</a:t>
            </a:r>
          </a:p>
        </p:txBody>
      </p:sp>
      <p:sp>
        <p:nvSpPr>
          <p:cNvPr id="3" name="Content Placeholder 2"/>
          <p:cNvSpPr>
            <a:spLocks noGrp="1"/>
          </p:cNvSpPr>
          <p:nvPr>
            <p:ph idx="1"/>
          </p:nvPr>
        </p:nvSpPr>
        <p:spPr/>
        <p:txBody>
          <a:bodyPr/>
          <a:lstStyle/>
          <a:p>
            <a:r>
              <a:t>In healthcare, AI assists in drug discovery and development, personalized medicine (tailoring treatments to individual patients), and predictive analytics for disease outbreaks.</a:t>
            </a:r>
          </a:p>
          <a:p>
            <a:r>
              <a:t>AI-powered diagnostic tools analyze medical data to provide early and accurate diagnoses, augmenting the capabilities of medical professionals.</a:t>
            </a:r>
          </a:p>
          <a:p>
            <a:r>
              <a:t>Financial services utilize AI for algorithmic trading, fraud detection, credit scoring, and personalized financial advice (robo-advisors).</a:t>
            </a:r>
          </a:p>
          <a:p>
            <a:r>
              <a:t>AI's ability to process and analyze vast datasets helps identify suspicious patterns in transactions, significantly reducing financial crime.</a:t>
            </a:r>
          </a:p>
          <a:p>
            <a:r>
              <a:t>In retail, AI drives personalized recommendations, optimized supply chains, and dynamic pricing strategies.</a:t>
            </a:r>
          </a:p>
          <a:p>
            <a:r>
              <a:t>Other diverse applications include climate modeling, personalized education, smart city infrastructure management, and creative arts (AI-generated music and 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3: Intelligent Agents - Defining an Agent</a:t>
            </a:r>
          </a:p>
        </p:txBody>
      </p:sp>
      <p:sp>
        <p:nvSpPr>
          <p:cNvPr id="3" name="Content Placeholder 2"/>
          <p:cNvSpPr>
            <a:spLocks noGrp="1"/>
          </p:cNvSpPr>
          <p:nvPr>
            <p:ph idx="1"/>
          </p:nvPr>
        </p:nvSpPr>
        <p:spPr/>
        <p:txBody>
          <a:bodyPr/>
          <a:lstStyle/>
          <a:p>
            <a:r>
              <a:t>An intelligent agent is anything that can perceive its environment through sensors and act upon that environment through actuators.</a:t>
            </a:r>
          </a:p>
          <a:p>
            <a:r>
              <a:t>This definition is general enough to encompass humans, robots, software programs, and even thermostat systems.</a:t>
            </a:r>
          </a:p>
          <a:p>
            <a:r>
              <a:t>The agent's 'percepts' are its inputs from the environment, and its 'actions' are its outputs that change the environment.</a:t>
            </a:r>
          </a:p>
          <a:p>
            <a:r>
              <a:t>A rational agent is one that acts in a way that is expected to maximize its performance measure, given the percept sequence it has observed so far.</a:t>
            </a:r>
          </a:p>
          <a:p>
            <a:r>
              <a:t>The concept of an intelligent agent provides a unified framework for studying AI problems, focusing on the agent's interaction with its environment.</a:t>
            </a:r>
          </a:p>
          <a:p>
            <a:r>
              <a:t>The agent function maps percept sequences to actions: f: P* → A, determining what action an agent should take based on its history of observations.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3: PEAS Description for Agents</a:t>
            </a:r>
          </a:p>
        </p:txBody>
      </p:sp>
      <p:sp>
        <p:nvSpPr>
          <p:cNvPr id="3" name="Content Placeholder 2"/>
          <p:cNvSpPr>
            <a:spLocks noGrp="1"/>
          </p:cNvSpPr>
          <p:nvPr>
            <p:ph idx="1"/>
          </p:nvPr>
        </p:nvSpPr>
        <p:spPr/>
        <p:txBody>
          <a:bodyPr/>
          <a:lstStyle/>
          <a:p>
            <a:r>
              <a:t>To fully specify an intelligent agent's task, it is useful to define its Performance measure, Environment, Actuators, and Sensors (PEAS).</a:t>
            </a:r>
          </a:p>
          <a:p>
            <a:r>
              <a:t>**Performance Measure**: The criteria for success, defining what makes the agent's actions desirable (e.g., vacuum cleaner: dirt cleaned, power consumed).</a:t>
            </a:r>
          </a:p>
          <a:p>
            <a:r>
              <a:t>**Environment**: The world in which the agent operates (e.g., vacuum cleaner: room layout, dirt distribution, furniture).</a:t>
            </a:r>
          </a:p>
          <a:p>
            <a:r>
              <a:t>**Actuators**: The mechanisms by which the agent interacts with the environment (e.g., vacuum cleaner: wheels, brushes, suction mechanism).</a:t>
            </a:r>
          </a:p>
          <a:p>
            <a:r>
              <a:t>**Sensors**: The mechanisms by which the agent perceives its environment (e.g., vacuum cleaner: dirt detector, bump sensor, location sensor).</a:t>
            </a:r>
          </a:p>
          <a:p>
            <a:r>
              <a:t>A well-defined PEAS description is crucial for designing and evaluating an effective intelligent agent for a specific problem.</a:t>
            </a:r>
          </a:p>
          <a:p>
            <a:r>
              <a:t>For example, for a self-driving car: P (safety, trip duration, comfort), E (roads, traffic, pedestrians, weather), A (steering, accelerator, brake, horn), S (cameras, radar, lidar, GPS).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3: Types of Environments</a:t>
            </a:r>
          </a:p>
        </p:txBody>
      </p:sp>
      <p:sp>
        <p:nvSpPr>
          <p:cNvPr id="3" name="Content Placeholder 2"/>
          <p:cNvSpPr>
            <a:spLocks noGrp="1"/>
          </p:cNvSpPr>
          <p:nvPr>
            <p:ph idx="1"/>
          </p:nvPr>
        </p:nvSpPr>
        <p:spPr/>
        <p:txBody>
          <a:bodyPr/>
          <a:lstStyle/>
          <a:p>
            <a:r>
              <a:t>Environments can be characterized by several properties that influence agent design:</a:t>
            </a:r>
          </a:p>
          <a:p>
            <a:r>
              <a:t>**Fully Observable vs. Partially Observable**: If an agent's sensors give it access to the complete state of the environment at all times, it's fully observable; otherwise, partially observable.</a:t>
            </a:r>
          </a:p>
          <a:p>
            <a:r>
              <a:t>**Single Agent vs. Multiagent**: Whether the agent is the only entity acting in the environment, or if other agents (human or AI) are also present.</a:t>
            </a:r>
          </a:p>
          <a:p>
            <a:r>
              <a:t>**Deterministic vs. Stochastic**: If the next state of the environment is completely determined by the current state and the agent's action (deterministic), or if randomness is involved (stochastic).</a:t>
            </a:r>
          </a:p>
          <a:p>
            <a:r>
              <a:t>**Episodic vs. Sequential**: In episodic environments, each action decision is independent of previous actions; in sequential, current actions affect future decisions.</a:t>
            </a:r>
          </a:p>
          <a:p>
            <a:r>
              <a:t>**Static vs. Dynamic**: A static environment does not change while the agent is deliberating; a dynamic one does. Semi-dynamic if environment changes but performance score doesn't.</a:t>
            </a:r>
          </a:p>
          <a:p>
            <a:r>
              <a:t>**Discrete vs. Continuous**: Refers to the finite or infinite number of percepts, actions, and states of the environment.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3: Agent Programs and Architectures</a:t>
            </a:r>
          </a:p>
        </p:txBody>
      </p:sp>
      <p:sp>
        <p:nvSpPr>
          <p:cNvPr id="3" name="Content Placeholder 2"/>
          <p:cNvSpPr>
            <a:spLocks noGrp="1"/>
          </p:cNvSpPr>
          <p:nvPr>
            <p:ph idx="1"/>
          </p:nvPr>
        </p:nvSpPr>
        <p:spPr/>
        <p:txBody>
          <a:bodyPr/>
          <a:lstStyle/>
          <a:p>
            <a:r>
              <a:t>An agent program is the implementation of the agent function, taking current percepts as input and returning an action.</a:t>
            </a:r>
          </a:p>
          <a:p>
            <a:r>
              <a:t>Agent programs combine with the hardware (sensors and actuators) to form an agent architecture.</a:t>
            </a:r>
          </a:p>
          <a:p>
            <a:r>
              <a:t>**Simple Reflex Agents**: Select actions based only on the current percept, ignoring history (e.g., if dirt then suck). Effective for fully observable, deterministic environments.</a:t>
            </a:r>
          </a:p>
          <a:p>
            <a:r>
              <a:t>**Model-Based Reflex Agents**: Maintain an internal state to keep track of the unobserved aspects of the environment, using a 'model' of how the world evolves and how actions affect it.</a:t>
            </a:r>
          </a:p>
          <a:p>
            <a:r>
              <a:t>**Goal-Based Agents**: Expand on model-based agents by having explicit goals they try to achieve, choosing actions that lead to the goal state.</a:t>
            </a:r>
          </a:p>
          <a:p>
            <a:r>
              <a:t>**Utility-Based Agents**: When multiple goals or paths to a goal exist, these agents choose actions that maximize a utility function, reflecting the agent's preference among states.</a:t>
            </a:r>
          </a:p>
          <a:p>
            <a:r>
              <a:t>**Learning Agents**: These agents improve their performance over time by learning from experience, modifying their agent program based on feedback.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3: Rationality and Autonomy</a:t>
            </a:r>
          </a:p>
        </p:txBody>
      </p:sp>
      <p:sp>
        <p:nvSpPr>
          <p:cNvPr id="3" name="Content Placeholder 2"/>
          <p:cNvSpPr>
            <a:spLocks noGrp="1"/>
          </p:cNvSpPr>
          <p:nvPr>
            <p:ph idx="1"/>
          </p:nvPr>
        </p:nvSpPr>
        <p:spPr/>
        <p:txBody>
          <a:bodyPr/>
          <a:lstStyle/>
          <a:p>
            <a:r>
              <a:t>**Rationality**: An agent is rational if it acts to achieve the best possible outcome (or the best expected outcome in uncertain situations), given its current percept sequence and knowledge.</a:t>
            </a:r>
          </a:p>
          <a:p>
            <a:r>
              <a:t>Rationality implies having a performance measure, prior knowledge of the environment, and knowing the actions it can perform.</a:t>
            </a:r>
          </a:p>
          <a:p>
            <a:r>
              <a:t>It's crucial to distinguish rationality from omniscience; an omniscient agent knows the actual outcome of its actions, but a rational agent only acts based on its available knowledge.</a:t>
            </a:r>
          </a:p>
          <a:p>
            <a:r>
              <a:t>**Autonomy**: An agent is autonomous to the extent that its behavior is determined by its own experience rather than by pre-programmed knowledge.</a:t>
            </a:r>
          </a:p>
          <a:p>
            <a:r>
              <a:t>A completely autonomous agent can learn to compensate for incomplete or incorrect prior knowledge by adapting its behavior.</a:t>
            </a:r>
          </a:p>
          <a:p>
            <a:r>
              <a:t>Achieving autonomy often involves a learning component within the agent architecture, allowing it to modify its internal models and decision-making processes over 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4: AI Problem Solving - Problem Formulation</a:t>
            </a:r>
          </a:p>
        </p:txBody>
      </p:sp>
      <p:sp>
        <p:nvSpPr>
          <p:cNvPr id="3" name="Content Placeholder 2"/>
          <p:cNvSpPr>
            <a:spLocks noGrp="1"/>
          </p:cNvSpPr>
          <p:nvPr>
            <p:ph idx="1"/>
          </p:nvPr>
        </p:nvSpPr>
        <p:spPr/>
        <p:txBody>
          <a:bodyPr/>
          <a:lstStyle/>
          <a:p>
            <a:r>
              <a:t>Many AI tasks can be framed as search problems, where an agent needs to find a sequence of actions to reach a desired goal state.</a:t>
            </a:r>
          </a:p>
          <a:p>
            <a:r>
              <a:t>**Goal Formulation**: The first step in problem-solving, defining the set of target situations the agent wants to achieve. (e.g., for a robot: 'reach location X').</a:t>
            </a:r>
          </a:p>
          <a:p>
            <a:r>
              <a:t>**Problem Formulation**: Deciding what actions and states to consider, often involving abstraction to simplify the real world into a manageable representation.</a:t>
            </a:r>
          </a:p>
          <a:p>
            <a:r>
              <a:t>A well-formulated problem includes an initial state, a set of possible actions, a transition model (describing effects of actions), a goal test, and a path cost function.</a:t>
            </a:r>
          </a:p>
          <a:p>
            <a:r>
              <a:t>The quality of a solution is often measured by the path cost, which could be the number of steps, time taken, or resources consumed.</a:t>
            </a:r>
          </a:p>
          <a:p>
            <a:r>
              <a:t>Example: In the '8-puzzle', the goal is a specific configuration of tiles, and actions are moving a blank tile up, down, left, or right.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4: Components of a Problem</a:t>
            </a:r>
          </a:p>
        </p:txBody>
      </p:sp>
      <p:sp>
        <p:nvSpPr>
          <p:cNvPr id="3" name="Content Placeholder 2"/>
          <p:cNvSpPr>
            <a:spLocks noGrp="1"/>
          </p:cNvSpPr>
          <p:nvPr>
            <p:ph idx="1"/>
          </p:nvPr>
        </p:nvSpPr>
        <p:spPr/>
        <p:txBody>
          <a:bodyPr/>
          <a:lstStyle/>
          <a:p>
            <a:r>
              <a:t>A formal definition of a search problem consists of five key components:</a:t>
            </a:r>
          </a:p>
          <a:p>
            <a:r>
              <a:t>**Initial State**: The state from which the agent starts its search (e.g., initial configuration of the 8-puzzle).</a:t>
            </a:r>
          </a:p>
          <a:p>
            <a:r>
              <a:t>**Actions (or Successor Function)**: A description of the possible actions available to the agent in any given state. Returns a set of (action, next_state) pairs.</a:t>
            </a:r>
          </a:p>
          <a:p>
            <a:r>
              <a:t>**Transition Model**: Defines what state results from performing a given action in a given state. Formally, RESULT(s, a) = s'.</a:t>
            </a:r>
          </a:p>
          <a:p>
            <a:r>
              <a:t>**Goal Test**: A function that determines whether a given state is a goal state. Can be an explicit set of goal states or an abstract property.</a:t>
            </a:r>
          </a:p>
          <a:p>
            <a:r>
              <a:t>**Path Cost Function**: A function that assigns a numerical cost to a path. It is often the sum of individual step costs (e.g., g(n) = cost to reach node n).</a:t>
            </a:r>
          </a:p>
          <a:p>
            <a:r>
              <a:t>The solution to a search problem is a sequence of actions that leads from the initial state to a goal state, minimizing the path cost.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4: Search Space and Solution</a:t>
            </a:r>
          </a:p>
        </p:txBody>
      </p:sp>
      <p:sp>
        <p:nvSpPr>
          <p:cNvPr id="3" name="Content Placeholder 2"/>
          <p:cNvSpPr>
            <a:spLocks noGrp="1"/>
          </p:cNvSpPr>
          <p:nvPr>
            <p:ph idx="1"/>
          </p:nvPr>
        </p:nvSpPr>
        <p:spPr/>
        <p:txBody>
          <a:bodyPr/>
          <a:lstStyle/>
          <a:p>
            <a:r>
              <a:t>The **search space** is an abstract representation of all possible states and transitions in a problem, typically visualized as a graph or tree.</a:t>
            </a:r>
          </a:p>
          <a:p>
            <a:r>
              <a:t>Nodes in the graph represent states, and edges represent actions or transitions between states.</a:t>
            </a:r>
          </a:p>
          <a:p>
            <a:r>
              <a:t>A **path** in the search space is a sequence of states connected by actions, starting from the initial state.</a:t>
            </a:r>
          </a:p>
          <a:p>
            <a:r>
              <a:t>A **solution** to a search problem is a path from the initial state to a goal state. Optimal solutions are paths with the lowest path cost.</a:t>
            </a:r>
          </a:p>
          <a:p>
            <a:r>
              <a:t>The process of problem-solving involves systematically exploring the search space to find a path to the goal.</a:t>
            </a:r>
          </a:p>
          <a:p>
            <a:r>
              <a:t>The complexity of the search space can vary dramatically; some problems have small, finite spaces, while others are infinite or very large.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4: Search Algorithms: General Framework</a:t>
            </a:r>
          </a:p>
        </p:txBody>
      </p:sp>
      <p:sp>
        <p:nvSpPr>
          <p:cNvPr id="3" name="Content Placeholder 2"/>
          <p:cNvSpPr>
            <a:spLocks noGrp="1"/>
          </p:cNvSpPr>
          <p:nvPr>
            <p:ph idx="1"/>
          </p:nvPr>
        </p:nvSpPr>
        <p:spPr/>
        <p:txBody>
          <a:bodyPr/>
          <a:lstStyle/>
          <a:p>
            <a:r>
              <a:t>Search algorithms are methods for systematically exploring the search space to find a solution path.</a:t>
            </a:r>
          </a:p>
          <a:p>
            <a:r>
              <a:t>Most search algorithms operate by maintaining a **fringe** (or 'open list') of states that have been generated but not yet expanded.</a:t>
            </a:r>
          </a:p>
          <a:p>
            <a:r>
              <a:t>**Expansion** involves generating all successor states from a chosen node in the fringe.</a:t>
            </a:r>
          </a:p>
          <a:p>
            <a:r>
              <a:t>A **closed list** (or 'explored set') is typically used to keep track of already expanded states to avoid redundant work and cycles.</a:t>
            </a:r>
          </a:p>
          <a:p>
            <a:r>
              <a:t>The choice of which node to expand next from the fringe determines the specific search strategy (e.g., breadth-first, depth-first, A*).</a:t>
            </a:r>
          </a:p>
          <a:p>
            <a:r>
              <a:t>Search algorithms are evaluated based on completeness (guaranteed to find a solution if one exists), optimality (guaranteed to find the best solution), time complexity, and space complexity.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4: Example: The 8-Puzzle Problem</a:t>
            </a:r>
          </a:p>
        </p:txBody>
      </p:sp>
      <p:sp>
        <p:nvSpPr>
          <p:cNvPr id="3" name="Content Placeholder 2"/>
          <p:cNvSpPr>
            <a:spLocks noGrp="1"/>
          </p:cNvSpPr>
          <p:nvPr>
            <p:ph idx="1"/>
          </p:nvPr>
        </p:nvSpPr>
        <p:spPr/>
        <p:txBody>
          <a:bodyPr/>
          <a:lstStyle/>
          <a:p>
            <a:r>
              <a:t>The 8-puzzle is a classic AI search problem consisting of a 3x3 grid with 8 numbered tiles and one blank space.</a:t>
            </a:r>
          </a:p>
          <a:p>
            <a:r>
              <a:t>**States**: A configuration of the tiles on the board. There are 9!/2 = 181,440 reachable states.</a:t>
            </a:r>
          </a:p>
          <a:p>
            <a:r>
              <a:t>**Initial State**: Any specific configuration of the tiles.</a:t>
            </a:r>
          </a:p>
          <a:p>
            <a:r>
              <a:t>**Actions**: Move the blank tile up, down, left, or right into an adjacent tile's position. This implicitly moves the adjacent tile into the blank's position.</a:t>
            </a:r>
          </a:p>
          <a:p>
            <a:r>
              <a:t>**Goal Test**: Check if the current state matches the desired goal configuration (e.g., tiles in numerical order).</a:t>
            </a:r>
          </a:p>
          <a:p>
            <a:r>
              <a:t>**Path Cost**: Usually 1 for each move, aiming to find the shortest sequence of moves.</a:t>
            </a:r>
          </a:p>
          <a:p>
            <a:r>
              <a:t>This problem is small enough to demonstrate search algorithms effectively, yet complex enough to highlight the challenges of search.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5: State Space Representation - Definition</a:t>
            </a:r>
          </a:p>
        </p:txBody>
      </p:sp>
      <p:sp>
        <p:nvSpPr>
          <p:cNvPr id="3" name="Content Placeholder 2"/>
          <p:cNvSpPr>
            <a:spLocks noGrp="1"/>
          </p:cNvSpPr>
          <p:nvPr>
            <p:ph idx="1"/>
          </p:nvPr>
        </p:nvSpPr>
        <p:spPr/>
        <p:txBody>
          <a:bodyPr/>
          <a:lstStyle/>
          <a:p>
            <a:r>
              <a:t>A state space is a mathematical representation of a problem in terms of states and operators (actions).</a:t>
            </a:r>
          </a:p>
          <a:p>
            <a:r>
              <a:t>It defines all possible configurations a problem can be in and the ways it can transition between these configurations.</a:t>
            </a:r>
          </a:p>
          <a:p>
            <a:r>
              <a:t>Formally, a state space is a 4-tuple (S, A, T, s0) where S is the set of all possible states, A is the set of actions, T is the transition model, and s0 is the initial state.</a:t>
            </a:r>
          </a:p>
          <a:p>
            <a:r>
              <a:t>States represent snapshots of the problem at a given moment, capturing all relevant information needed to decide on the next action.</a:t>
            </a:r>
          </a:p>
          <a:p>
            <a:r>
              <a:t>The chosen representation of states significantly impacts the efficiency and feasibility of solving a problem.</a:t>
            </a:r>
          </a:p>
          <a:p>
            <a:r>
              <a:t>For discrete problems, states are often represented symbolically (e.g., 'Agent at (x,y) with N items').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5: Representing States</a:t>
            </a:r>
          </a:p>
        </p:txBody>
      </p:sp>
      <p:sp>
        <p:nvSpPr>
          <p:cNvPr id="3" name="Content Placeholder 2"/>
          <p:cNvSpPr>
            <a:spLocks noGrp="1"/>
          </p:cNvSpPr>
          <p:nvPr>
            <p:ph idx="1"/>
          </p:nvPr>
        </p:nvSpPr>
        <p:spPr/>
        <p:txBody>
          <a:bodyPr/>
          <a:lstStyle/>
          <a:p>
            <a:r>
              <a:t>The choice of state representation is critical; it must be complete (capture all necessary information) and concise (avoid irrelevant details).</a:t>
            </a:r>
          </a:p>
          <a:p>
            <a:r>
              <a:t>For the 8-puzzle, a state can be represented as a 3x3 array or a list of 9 numbers indicating tile positions.</a:t>
            </a:r>
          </a:p>
          <a:p>
            <a:r>
              <a:t>In a robot navigation problem, a state might include the robot's (x,y) coordinates, orientation, and battery level.</a:t>
            </a:r>
          </a:p>
          <a:p>
            <a:r>
              <a:t>For a game like chess, a state involves the positions of all pieces on the board, whose turn it is, and castling/en passant rights.</a:t>
            </a:r>
          </a:p>
          <a:p>
            <a:r>
              <a:t>Too granular a state representation leads to an enormous search space, while too abstract a representation might lose crucial information.</a:t>
            </a:r>
          </a:p>
          <a:p>
            <a:r>
              <a:t>State features, often called state variables, are used to define the properties of a state uniquely.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5: Operators (Actions) and Transitions</a:t>
            </a:r>
          </a:p>
        </p:txBody>
      </p:sp>
      <p:sp>
        <p:nvSpPr>
          <p:cNvPr id="3" name="Content Placeholder 2"/>
          <p:cNvSpPr>
            <a:spLocks noGrp="1"/>
          </p:cNvSpPr>
          <p:nvPr>
            <p:ph idx="1"/>
          </p:nvPr>
        </p:nvSpPr>
        <p:spPr/>
        <p:txBody>
          <a:bodyPr/>
          <a:lstStyle/>
          <a:p>
            <a:r>
              <a:t>Operators (or actions) define the permissible transitions between states in the state space.</a:t>
            </a:r>
          </a:p>
          <a:p>
            <a:r>
              <a:t>Each operator transforms one state into another, representing a legal move or action in the problem domain.</a:t>
            </a:r>
          </a:p>
          <a:p>
            <a:r>
              <a:t>The **transition model** (or successor function) formally describes the outcome of applying an action to a state: `RESULT(s, a) = s'`</a:t>
            </a:r>
          </a:p>
          <a:p>
            <a:r>
              <a:t>Operators often have associated costs, which contribute to the path cost function for evaluating solutions.</a:t>
            </a:r>
          </a:p>
          <a:p>
            <a:r>
              <a:t>For example, in the Traveling Salesperson Problem, an operator might be 'travel from city A to city B'.</a:t>
            </a:r>
          </a:p>
          <a:p>
            <a:r>
              <a:t>The set of available operators can vary depending on the current state (e.g., in a maze, you can only move into adjacent open cells).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5: State Space Graphs and Trees</a:t>
            </a:r>
          </a:p>
        </p:txBody>
      </p:sp>
      <p:sp>
        <p:nvSpPr>
          <p:cNvPr id="3" name="Content Placeholder 2"/>
          <p:cNvSpPr>
            <a:spLocks noGrp="1"/>
          </p:cNvSpPr>
          <p:nvPr>
            <p:ph idx="1"/>
          </p:nvPr>
        </p:nvSpPr>
        <p:spPr/>
        <p:txBody>
          <a:bodyPr/>
          <a:lstStyle/>
          <a:p>
            <a:r>
              <a:t>A state space can be visualized as a **graph**, where nodes are states and directed edges are actions connecting states.</a:t>
            </a:r>
          </a:p>
          <a:p>
            <a:r>
              <a:t>When a search algorithm explores the state space, it implicitly constructs a **search tree**.</a:t>
            </a:r>
          </a:p>
          <a:p>
            <a:r>
              <a:t>The root of the search tree is the initial state, and its children are states reachable from the root by one action.</a:t>
            </a:r>
          </a:p>
          <a:p>
            <a:r>
              <a:t>Nodes in the search tree represent paths from the initial state to the current state, crucial for reconstructing the solution.</a:t>
            </a:r>
          </a:p>
          <a:p>
            <a:r>
              <a:t>A graph representation is more memory-efficient if many paths lead to the same state (cycles are handled). A tree representation can have repeated states.</a:t>
            </a:r>
          </a:p>
          <a:p>
            <a:r>
              <a:t>Algorithms often use a 'closed list' or 'explored set' to avoid processing duplicate states in a graph search, transforming the tree exploration into a graph traversal.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5: Challenges in State Space Representation</a:t>
            </a:r>
          </a:p>
        </p:txBody>
      </p:sp>
      <p:sp>
        <p:nvSpPr>
          <p:cNvPr id="3" name="Content Placeholder 2"/>
          <p:cNvSpPr>
            <a:spLocks noGrp="1"/>
          </p:cNvSpPr>
          <p:nvPr>
            <p:ph idx="1"/>
          </p:nvPr>
        </p:nvSpPr>
        <p:spPr/>
        <p:txBody>
          <a:bodyPr/>
          <a:lstStyle/>
          <a:p>
            <a:r>
              <a:t>**State Explosion Problem**: Many real-world problems have an astronomically large number of possible states, making exhaustive search impractical.</a:t>
            </a:r>
          </a:p>
          <a:p>
            <a:r>
              <a:t>This exponential growth of states with problem size is a major challenge in AI and highlights the need for efficient search strategies.</a:t>
            </a:r>
          </a:p>
          <a:p>
            <a:r>
              <a:t>**Choice of Abstraction**: Deciding what level of detail to include in the state representation is crucial. Too much detail leads to explosion, too little leads to loss of information.</a:t>
            </a:r>
          </a:p>
          <a:p>
            <a:r>
              <a:t>**Handling Uncertainty**: In stochastic environments, actions do not always lead to predictable outcomes, complicating state transitions and requiring probabilistic models.</a:t>
            </a:r>
          </a:p>
          <a:p>
            <a:r>
              <a:t>**Dynamic Environments**: If the environment changes independently of the agent's actions, the state space itself can be dynamic, requiring replanning.</a:t>
            </a:r>
          </a:p>
          <a:p>
            <a:r>
              <a:t>Effective state space representation is fundamental to designing solvable AI problems and impacts the performance of any subsequent search algorithm.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6: Uninformed Search - Introduction</a:t>
            </a:r>
          </a:p>
        </p:txBody>
      </p:sp>
      <p:sp>
        <p:nvSpPr>
          <p:cNvPr id="3" name="Content Placeholder 2"/>
          <p:cNvSpPr>
            <a:spLocks noGrp="1"/>
          </p:cNvSpPr>
          <p:nvPr>
            <p:ph idx="1"/>
          </p:nvPr>
        </p:nvSpPr>
        <p:spPr/>
        <p:txBody>
          <a:bodyPr/>
          <a:lstStyle/>
          <a:p>
            <a:r>
              <a:t>Uninformed search algorithms (also known as blind search) have no information about the 'goodness' of a state or how far it is from the goal.</a:t>
            </a:r>
          </a:p>
          <a:p>
            <a:r>
              <a:t>They only know the difference between a goal state and a non-goal state, and the rules for generating successor states.</a:t>
            </a:r>
          </a:p>
          <a:p>
            <a:r>
              <a:t>These algorithms systematically explore the search space, relying solely on the order in which states are generated and expanded.</a:t>
            </a:r>
          </a:p>
          <a:p>
            <a:r>
              <a:t>They are general-purpose search methods that can be applied to any problem that can be formulated as a state-space search.</a:t>
            </a:r>
          </a:p>
          <a:p>
            <a:r>
              <a:t>The primary uniformed search strategies include Breadth-First Search (BFS), Depth-First Search (DFS), Depth-Limited Search (DLS), Iterative Deepening Depth-First Search (IDDFS), and Uniform-Cost Search (UCS).</a:t>
            </a:r>
          </a:p>
          <a:p>
            <a:r>
              <a:t>While simple to implement, their efficiency can be limited for large search spaces due to lack of heuristic guidance.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6: General Search Algorithm Framework</a:t>
            </a:r>
          </a:p>
        </p:txBody>
      </p:sp>
      <p:sp>
        <p:nvSpPr>
          <p:cNvPr id="3" name="Content Placeholder 2"/>
          <p:cNvSpPr>
            <a:spLocks noGrp="1"/>
          </p:cNvSpPr>
          <p:nvPr>
            <p:ph idx="1"/>
          </p:nvPr>
        </p:nvSpPr>
        <p:spPr/>
        <p:txBody>
          <a:bodyPr/>
          <a:lstStyle/>
          <a:p>
            <a:r>
              <a:t>All uniformed search algorithms share a common framework:</a:t>
            </a:r>
          </a:p>
          <a:p>
            <a:r>
              <a:t>Initialize an `open list` (or `fringe`) with the initial state.</a:t>
            </a:r>
          </a:p>
          <a:p>
            <a:r>
              <a:t>Initialize a `closed list` (or `explored set`) as empty.</a:t>
            </a:r>
          </a:p>
          <a:p>
            <a:r>
              <a:t>Loop:</a:t>
            </a:r>
          </a:p>
          <a:p>
            <a:r>
              <a:t>If `open list` is empty, return failure (no solution found).</a:t>
            </a:r>
          </a:p>
          <a:p>
            <a:r>
              <a:t>Remove a node `n` from the `open list` (selection strategy varies per algorithm).</a:t>
            </a:r>
          </a:p>
          <a:p>
            <a:r>
              <a:t>If `n` is a goal state, return the path from initial state to `n` (success).</a:t>
            </a:r>
          </a:p>
          <a:p>
            <a:r>
              <a:t>Add `n` to the `closed list`.</a:t>
            </a:r>
          </a:p>
          <a:p>
            <a:r>
              <a:t>Generate all successor nodes `s'` of `n`.</a:t>
            </a:r>
          </a:p>
          <a:p>
            <a:r>
              <a:t>For each `s'`, if `s'` is not in `open list` and not in `closed list`, add `s'` to `open list`.</a:t>
            </a:r>
          </a:p>
          <a:p>
            <a:r>
              <a:t>The difference between uninformed search algorithms primarily lies in the data structure used for the `open list` and thus the order of node expansion.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6: Evaluating Search Algorithms</a:t>
            </a:r>
          </a:p>
        </p:txBody>
      </p:sp>
      <p:sp>
        <p:nvSpPr>
          <p:cNvPr id="3" name="Content Placeholder 2"/>
          <p:cNvSpPr>
            <a:spLocks noGrp="1"/>
          </p:cNvSpPr>
          <p:nvPr>
            <p:ph idx="1"/>
          </p:nvPr>
        </p:nvSpPr>
        <p:spPr/>
        <p:txBody>
          <a:bodyPr/>
          <a:lstStyle/>
          <a:p>
            <a:r>
              <a:t>Search algorithms are evaluated based on four key criteria:</a:t>
            </a:r>
          </a:p>
          <a:p>
            <a:r>
              <a:t>**Completeness**: Is the algorithm guaranteed to find a solution if one exists? (Yes/No)</a:t>
            </a:r>
          </a:p>
          <a:p>
            <a:r>
              <a:t>**Optimality**: Is the algorithm guaranteed to find the optimal (lowest cost) solution? (Yes/No)</a:t>
            </a:r>
          </a:p>
          <a:p>
            <a:r>
              <a:t>**Time Complexity**: How long does it take to find a solution? Measured by the number of nodes generated/expanded.</a:t>
            </a:r>
          </a:p>
          <a:p>
            <a:r>
              <a:t>**Space Complexity**: How much memory does the algorithm require? Measured by the maximum number of nodes stored in memory (open and closed lists).</a:t>
            </a:r>
          </a:p>
          <a:p>
            <a:r>
              <a:t>These complexities are often expressed in terms of `b` (branching factor), `d` (depth of the shallowest goal), and `m` (maximum depth of the state space).</a:t>
            </a:r>
          </a:p>
          <a:p>
            <a:r>
              <a:t>The trade-offs between these criteria often dictate which algorithm is suitable for a given problem.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6: Limitations of Uninformed Search</a:t>
            </a:r>
          </a:p>
        </p:txBody>
      </p:sp>
      <p:sp>
        <p:nvSpPr>
          <p:cNvPr id="3" name="Content Placeholder 2"/>
          <p:cNvSpPr>
            <a:spLocks noGrp="1"/>
          </p:cNvSpPr>
          <p:nvPr>
            <p:ph idx="1"/>
          </p:nvPr>
        </p:nvSpPr>
        <p:spPr/>
        <p:txBody>
          <a:bodyPr/>
          <a:lstStyle/>
          <a:p>
            <a:r>
              <a:t>**Computational Cost**: For problems with large branching factors and deep solution paths, uninformed search can be extremely inefficient.</a:t>
            </a:r>
          </a:p>
          <a:p>
            <a:r>
              <a:t>They may explore vast, irrelevant portions of the search space before stumbling upon a goal.</a:t>
            </a:r>
          </a:p>
          <a:p>
            <a:r>
              <a:t>**Memory Consumption**: Algorithms like Breadth-First Search can consume enormous amounts of memory, as they need to store all nodes at a given depth.</a:t>
            </a:r>
          </a:p>
          <a:p>
            <a:r>
              <a:t>This makes them impractical for problems with deep solutions.</a:t>
            </a:r>
          </a:p>
          <a:p>
            <a:r>
              <a:t>**Lack of Direction**: Without any domain-specific knowledge or heuristics, uniformed searches essentially perform a brute-force exploration.</a:t>
            </a:r>
          </a:p>
          <a:p>
            <a:r>
              <a:t>They are best suited for problems with small, finite state spaces or where the solution is known to be very shallow.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6: When to Use Uninformed Search</a:t>
            </a:r>
          </a:p>
        </p:txBody>
      </p:sp>
      <p:sp>
        <p:nvSpPr>
          <p:cNvPr id="3" name="Content Placeholder 2"/>
          <p:cNvSpPr>
            <a:spLocks noGrp="1"/>
          </p:cNvSpPr>
          <p:nvPr>
            <p:ph idx="1"/>
          </p:nvPr>
        </p:nvSpPr>
        <p:spPr/>
        <p:txBody>
          <a:bodyPr/>
          <a:lstStyle/>
          <a:p>
            <a:r>
              <a:t>Uninformed search methods are appropriate when no heuristic information is available or easily computable for a given problem.</a:t>
            </a:r>
          </a:p>
          <a:p>
            <a:r>
              <a:t>They serve as baseline methods against which more sophisticated (informed) algorithms can be compared.</a:t>
            </a:r>
          </a:p>
          <a:p>
            <a:r>
              <a:t>Useful for problems with small search spaces, where exhaustive exploration is feasible without excessive computational cost.</a:t>
            </a:r>
          </a:p>
          <a:p>
            <a:r>
              <a:t>For problems where completeness and optimality are paramount, and the solution depth is known to be shallow (e.g., BFS and UCS guarantees).</a:t>
            </a:r>
          </a:p>
          <a:p>
            <a:r>
              <a:t>Often used in pedagogical settings to introduce core search concepts before delving into more complex heuristic-guided approaches.</a:t>
            </a:r>
          </a:p>
          <a:p>
            <a:r>
              <a:t>They highlight the necessity of incorporating domain-specific knowledge to improve search efficiency in complex AI problems.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7: Breadth-First Search (BFS) - Algorithm</a:t>
            </a:r>
          </a:p>
        </p:txBody>
      </p:sp>
      <p:sp>
        <p:nvSpPr>
          <p:cNvPr id="3" name="Content Placeholder 2"/>
          <p:cNvSpPr>
            <a:spLocks noGrp="1"/>
          </p:cNvSpPr>
          <p:nvPr>
            <p:ph idx="1"/>
          </p:nvPr>
        </p:nvSpPr>
        <p:spPr/>
        <p:txBody>
          <a:bodyPr/>
          <a:lstStyle/>
          <a:p>
            <a:r>
              <a:t>Breadth-First Search (BFS) is an uninformed search algorithm that explores the search space level by level.</a:t>
            </a:r>
          </a:p>
          <a:p>
            <a:r>
              <a:t>It expands all nodes at depth `d` before expanding any nodes at depth `d+1`.</a:t>
            </a:r>
          </a:p>
          <a:p>
            <a:r>
              <a:t>BFS uses a **queue** (First-In, First-Out) for its `open list` (fringe), ensuring that the oldest, shallowest nodes are expanded first.</a:t>
            </a:r>
          </a:p>
          <a:p>
            <a:r>
              <a:t>Start with the initial node, add it to the queue.</a:t>
            </a:r>
          </a:p>
          <a:p>
            <a:r>
              <a:t>While the queue is not empty, dequeue a node, check if it's the goal. If not, generate its children and enqueue them.</a:t>
            </a:r>
          </a:p>
          <a:p>
            <a:r>
              <a:t>To prevent cycles and redundant work, a `closed list` (set of visited nodes) is maintained.</a:t>
            </a:r>
          </a:p>
          <a:p>
            <a:r>
              <a:t>The path to the goal can be reconstructed by storing parent pointers for each node.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7: BFS Properties: Completeness and Optimality</a:t>
            </a:r>
          </a:p>
        </p:txBody>
      </p:sp>
      <p:sp>
        <p:nvSpPr>
          <p:cNvPr id="3" name="Content Placeholder 2"/>
          <p:cNvSpPr>
            <a:spLocks noGrp="1"/>
          </p:cNvSpPr>
          <p:nvPr>
            <p:ph idx="1"/>
          </p:nvPr>
        </p:nvSpPr>
        <p:spPr/>
        <p:txBody>
          <a:bodyPr/>
          <a:lstStyle/>
          <a:p>
            <a:r>
              <a:t>**Completeness**: BFS is complete. If a solution exists, BFS is guaranteed to find it, assuming the branching factor `b` is finite.</a:t>
            </a:r>
          </a:p>
          <a:p>
            <a:r>
              <a:t>This is because it explores all nodes at a shallower depth before moving to deeper ones, ensuring it will eventually reach any reachable goal.</a:t>
            </a:r>
          </a:p>
          <a:p>
            <a:r>
              <a:t>**Optimality**: BFS is optimal if step costs are uniform (e.g., each action costs 1). In this scenario, the first goal found will always be the shallowest, and thus the one with the fewest steps.</a:t>
            </a:r>
          </a:p>
          <a:p>
            <a:r>
              <a:t>If step costs vary, BFS is not guaranteed to find the optimal solution; Uniform-Cost Search is needed for that.</a:t>
            </a:r>
          </a:p>
          <a:p>
            <a:r>
              <a:t>The path found is of minimum length in terms of number of steps.</a:t>
            </a:r>
          </a:p>
          <a:p>
            <a:r>
              <a:t>This makes BFS suitable for problems where the shortest path (in terms of moves) is desired and all moves have equal cost.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7: BFS Properties: Time Complexity</a:t>
            </a:r>
          </a:p>
        </p:txBody>
      </p:sp>
      <p:sp>
        <p:nvSpPr>
          <p:cNvPr id="3" name="Content Placeholder 2"/>
          <p:cNvSpPr>
            <a:spLocks noGrp="1"/>
          </p:cNvSpPr>
          <p:nvPr>
            <p:ph idx="1"/>
          </p:nvPr>
        </p:nvSpPr>
        <p:spPr/>
        <p:txBody>
          <a:bodyPr/>
          <a:lstStyle/>
          <a:p>
            <a:r>
              <a:t>The time complexity of BFS is proportional to the number of nodes expanded, which is related to the branching factor `b` and the depth `d` of the shallowest goal.</a:t>
            </a:r>
          </a:p>
          <a:p>
            <a:r>
              <a:t>In the worst case, BFS might expand all nodes up to depth `d`.</a:t>
            </a:r>
          </a:p>
          <a:p>
            <a:r>
              <a:t>The number of nodes at depth `d` is `b^d`, and the total number of nodes in a tree up to depth `d` is `1 + b + b^2 + ... + b^d = (b^(d+1) - 1) / (b-1)`, which is approximately `O(b^d)`.</a:t>
            </a:r>
          </a:p>
          <a:p>
            <a:r>
              <a:t>Thus, time complexity is **O(b^d)**. This exponential complexity can be very high for deep solutions or large branching factors.</a:t>
            </a:r>
          </a:p>
          <a:p>
            <a:r>
              <a:t>For example, if `b=10` and `d=5`, BFS might explore 100,000 nodes.</a:t>
            </a:r>
          </a:p>
          <a:p>
            <a:r>
              <a:t>This exponential growth is the primary practical limitation of BFS for large problem instances.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7: BFS Properties: Space Complexity</a:t>
            </a:r>
          </a:p>
        </p:txBody>
      </p:sp>
      <p:sp>
        <p:nvSpPr>
          <p:cNvPr id="3" name="Content Placeholder 2"/>
          <p:cNvSpPr>
            <a:spLocks noGrp="1"/>
          </p:cNvSpPr>
          <p:nvPr>
            <p:ph idx="1"/>
          </p:nvPr>
        </p:nvSpPr>
        <p:spPr/>
        <p:txBody>
          <a:bodyPr/>
          <a:lstStyle/>
          <a:p>
            <a:r>
              <a:t>BFS also suffers from significant space complexity, as it needs to store all nodes in the queue and the `closed list`.</a:t>
            </a:r>
          </a:p>
          <a:p>
            <a:r>
              <a:t>In the worst case, all nodes at depth `d` are stored in the queue simultaneously before expansion.</a:t>
            </a:r>
          </a:p>
          <a:p>
            <a:r>
              <a:t>The number of nodes at depth `d` is `b^d`.</a:t>
            </a:r>
          </a:p>
          <a:p>
            <a:r>
              <a:t>Therefore, space complexity is also **O(b^d)**.</a:t>
            </a:r>
          </a:p>
          <a:p>
            <a:r>
              <a:t>This can quickly exhaust available memory for problems with deep solutions, even if the total number of states isn't excessively large.</a:t>
            </a:r>
          </a:p>
          <a:p>
            <a:r>
              <a:t>For `b=10` and `d=5`, storing 100,000 nodes might require considerable memory, each node potentially storing state information and parent pointers.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7: BFS Example and Use Cases</a:t>
            </a:r>
          </a:p>
        </p:txBody>
      </p:sp>
      <p:sp>
        <p:nvSpPr>
          <p:cNvPr id="3" name="Content Placeholder 2"/>
          <p:cNvSpPr>
            <a:spLocks noGrp="1"/>
          </p:cNvSpPr>
          <p:nvPr>
            <p:ph idx="1"/>
          </p:nvPr>
        </p:nvSpPr>
        <p:spPr/>
        <p:txBody>
          <a:bodyPr/>
          <a:lstStyle/>
          <a:p>
            <a:r>
              <a:t>Consider finding the shortest path in an unweighted graph (e.g., shortest number of bus stops to reach a destination). BFS is ideal.</a:t>
            </a:r>
          </a:p>
          <a:p>
            <a:r>
              <a:t>**Example: Maze Solving**: Starting from the entrance, BFS explores all adjacent cells, then all cells adjacent to those, and so on, until the exit is found.</a:t>
            </a:r>
          </a:p>
          <a:p>
            <a:r>
              <a:t>The first path found guarantees the minimum number of moves.</a:t>
            </a:r>
          </a:p>
          <a:p>
            <a:r>
              <a:t>**Applications**: Finding the shortest path between two nodes in an unweighted graph, web crawling (exploring web pages 'level by level'), network broadcasting.</a:t>
            </a:r>
          </a:p>
          <a:p>
            <a:r>
              <a:t>BFS is a foundational algorithm in graph theory and is often used when paths are desired in terms of minimal edges, or when exploring neighbors uniformly.</a:t>
            </a:r>
          </a:p>
          <a:p>
            <a:r>
              <a:t>It's generally preferred over DFS when the solution is known to be shallow, or when optimality for unit-cost paths is critical.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8: Depth-First Search (DFS) - Algorithm</a:t>
            </a:r>
          </a:p>
        </p:txBody>
      </p:sp>
      <p:sp>
        <p:nvSpPr>
          <p:cNvPr id="3" name="Content Placeholder 2"/>
          <p:cNvSpPr>
            <a:spLocks noGrp="1"/>
          </p:cNvSpPr>
          <p:nvPr>
            <p:ph idx="1"/>
          </p:nvPr>
        </p:nvSpPr>
        <p:spPr/>
        <p:txBody>
          <a:bodyPr/>
          <a:lstStyle/>
          <a:p>
            <a:r>
              <a:t>Depth-First Search (DFS) is an uninformed search algorithm that explores as far as possible along each branch before backtracking.</a:t>
            </a:r>
          </a:p>
          <a:p>
            <a:r>
              <a:t>It expands the deepest unexpanded node first.</a:t>
            </a:r>
          </a:p>
          <a:p>
            <a:r>
              <a:t>DFS uses a **stack** (Last-In, First-Out) for its `open list` (fringe), ensuring that the most recently added, deepest nodes are expanded first.</a:t>
            </a:r>
          </a:p>
          <a:p>
            <a:r>
              <a:t>Start with the initial node, add it to the stack.</a:t>
            </a:r>
          </a:p>
          <a:p>
            <a:r>
              <a:t>While the stack is not empty, pop a node, check if it's the goal. If not, generate its children and push them onto the stack (order can affect efficiency).</a:t>
            </a:r>
          </a:p>
          <a:p>
            <a:r>
              <a:t>A `closed list` (set of visited nodes) is crucial to prevent infinite loops in graphs with cycles.</a:t>
            </a:r>
          </a:p>
          <a:p>
            <a:r>
              <a:t>The path to the goal is reconstructed by following parent pointers from the goal node back to the initial state.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8: DFS Properties: Completeness</a:t>
            </a:r>
          </a:p>
        </p:txBody>
      </p:sp>
      <p:sp>
        <p:nvSpPr>
          <p:cNvPr id="3" name="Content Placeholder 2"/>
          <p:cNvSpPr>
            <a:spLocks noGrp="1"/>
          </p:cNvSpPr>
          <p:nvPr>
            <p:ph idx="1"/>
          </p:nvPr>
        </p:nvSpPr>
        <p:spPr/>
        <p:txBody>
          <a:bodyPr/>
          <a:lstStyle/>
          <a:p>
            <a:r>
              <a:t>**Completeness**: DFS is generally not complete for infinite state spaces or graphs with cycles if a `closed list` is not used.</a:t>
            </a:r>
          </a:p>
          <a:p>
            <a:r>
              <a:t>Without a `closed list`, DFS can get stuck in an infinite loop by traversing a cycle repeatedly.</a:t>
            </a:r>
          </a:p>
          <a:p>
            <a:r>
              <a:t>Even with a `closed list`, if the search space is infinitely deep and the goal is at a finite depth, DFS might go down an infinitely long path first and never find the goal.</a:t>
            </a:r>
          </a:p>
          <a:p>
            <a:r>
              <a:t>However, if the search space is finite and there are no infinite paths (or cycles are detected by a `closed list`), DFS is complete.</a:t>
            </a:r>
          </a:p>
          <a:p>
            <a:r>
              <a:t>To ensure completeness in general graphs, a `closed list` must be used to detect and avoid re-visiting states.</a:t>
            </a:r>
          </a:p>
          <a:p>
            <a:r>
              <a:t>For tree search, DFS is incomplete if the tree has infinite depth.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8: DFS Properties: Optimality</a:t>
            </a:r>
          </a:p>
        </p:txBody>
      </p:sp>
      <p:sp>
        <p:nvSpPr>
          <p:cNvPr id="3" name="Content Placeholder 2"/>
          <p:cNvSpPr>
            <a:spLocks noGrp="1"/>
          </p:cNvSpPr>
          <p:nvPr>
            <p:ph idx="1"/>
          </p:nvPr>
        </p:nvSpPr>
        <p:spPr/>
        <p:txBody>
          <a:bodyPr/>
          <a:lstStyle/>
          <a:p>
            <a:r>
              <a:t>**Optimality**: DFS is generally not optimal, even for uniform step costs.</a:t>
            </a:r>
          </a:p>
          <a:p>
            <a:r>
              <a:t>Because DFS explores deeply, it might find a long path to a goal before exploring shorter, shallower paths.</a:t>
            </a:r>
          </a:p>
          <a:p>
            <a:r>
              <a:t>It does not guarantee finding the shortest or lowest-cost path, even if one exists.</a:t>
            </a:r>
          </a:p>
          <a:p>
            <a:r>
              <a:t>For example, if the closest goal is at depth `d`, but there's a much deeper path that DFS explores first, it will find the deeper goal and terminate.</a:t>
            </a:r>
          </a:p>
          <a:p>
            <a:r>
              <a:t>This makes DFS unsuitable for problems where an optimal solution (minimum path cost) is strictly required.</a:t>
            </a:r>
          </a:p>
          <a:p>
            <a:r>
              <a:t>The primary advantage of DFS is often its space efficiency rather than its solution quality.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8: DFS Properties: Time and Space Complexity</a:t>
            </a:r>
          </a:p>
        </p:txBody>
      </p:sp>
      <p:sp>
        <p:nvSpPr>
          <p:cNvPr id="3" name="Content Placeholder 2"/>
          <p:cNvSpPr>
            <a:spLocks noGrp="1"/>
          </p:cNvSpPr>
          <p:nvPr>
            <p:ph idx="1"/>
          </p:nvPr>
        </p:nvSpPr>
        <p:spPr/>
        <p:txBody>
          <a:bodyPr/>
          <a:lstStyle/>
          <a:p>
            <a:r>
              <a:t>**Time Complexity**: In the worst case, DFS might explore the entire search space up to the maximum depth `m`.</a:t>
            </a:r>
          </a:p>
          <a:p>
            <a:r>
              <a:t>This results in a time complexity of **O(b^m)**, where `b` is the branching factor and `m` is the maximum depth of the search tree.</a:t>
            </a:r>
          </a:p>
          <a:p>
            <a:r>
              <a:t>If `m` is much larger than `d` (the depth of the shallowest goal), DFS can be significantly slower than BFS.</a:t>
            </a:r>
          </a:p>
          <a:p>
            <a:r>
              <a:t>**Space Complexity**: DFS has a much lower space complexity compared to BFS.</a:t>
            </a:r>
          </a:p>
          <a:p>
            <a:r>
              <a:t>It only needs to store the current path from the root to the deepest node being explored, plus the unexpanded siblings for backtracking.</a:t>
            </a:r>
          </a:p>
          <a:p>
            <a:r>
              <a:t>The space complexity is **O(b*m)**, where `b` is the branching factor and `m` is the maximum depth.</a:t>
            </a:r>
          </a:p>
          <a:p>
            <a:r>
              <a:t>This linear space complexity is a major advantage for problems with very deep but narrow search spaces, or when memory is limited.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8: DFS Example and Use Cases</a:t>
            </a:r>
          </a:p>
        </p:txBody>
      </p:sp>
      <p:sp>
        <p:nvSpPr>
          <p:cNvPr id="3" name="Content Placeholder 2"/>
          <p:cNvSpPr>
            <a:spLocks noGrp="1"/>
          </p:cNvSpPr>
          <p:nvPr>
            <p:ph idx="1"/>
          </p:nvPr>
        </p:nvSpPr>
        <p:spPr/>
        <p:txBody>
          <a:bodyPr/>
          <a:lstStyle/>
          <a:p>
            <a:r>
              <a:t>**Example: Navigating a Tree/Graph**: DFS can be used to check if a path exists between two nodes, or to find connected components.</a:t>
            </a:r>
          </a:p>
          <a:p>
            <a:r>
              <a:t>**Backtracking algorithms**: Many problems (e.g., N-Queens, Sudoku solvers, constraint satisfaction problems) naturally map to DFS with backtracking.</a:t>
            </a:r>
          </a:p>
          <a:p>
            <a:r>
              <a:t>**Topological Sorting**: Used to order a directed acyclic graph (DAG) where nodes have dependencies.</a:t>
            </a:r>
          </a:p>
          <a:p>
            <a:r>
              <a:t>**Cycle Detection**: In graph theory, DFS can efficiently detect cycles in a graph.</a:t>
            </a:r>
          </a:p>
          <a:p>
            <a:r>
              <a:t>When the goal is known to be very deep, or memory is a severe constraint, DFS is often a good candidate.</a:t>
            </a:r>
          </a:p>
          <a:p>
            <a:r>
              <a:t>However, if shallow solutions are preferred or optimality is required, other algorithms are generally more suitable.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9: Heuristic Search - Introduction</a:t>
            </a:r>
          </a:p>
        </p:txBody>
      </p:sp>
      <p:sp>
        <p:nvSpPr>
          <p:cNvPr id="3" name="Content Placeholder 2"/>
          <p:cNvSpPr>
            <a:spLocks noGrp="1"/>
          </p:cNvSpPr>
          <p:nvPr>
            <p:ph idx="1"/>
          </p:nvPr>
        </p:nvSpPr>
        <p:spPr/>
        <p:txBody>
          <a:bodyPr/>
          <a:lstStyle/>
          <a:p>
            <a:r>
              <a:t>Heuristic search (also known as informed search) incorporates domain-specific knowledge to guide the search process.</a:t>
            </a:r>
          </a:p>
          <a:p>
            <a:r>
              <a:t>Unlike uninformed search, these algorithms use an evaluation function, called a **heuristic function**, to estimate the 'cost' or 'distance' from a given state to the goal.</a:t>
            </a:r>
          </a:p>
          <a:p>
            <a:r>
              <a:t>A heuristic function, denoted `h(n)`, estimates the cost of the cheapest path from state `n` to the goal state.</a:t>
            </a:r>
          </a:p>
          <a:p>
            <a:r>
              <a:t>The goal is to expand nodes that are more likely to lead to a solution, thereby reducing the number of nodes explored and improving efficiency.</a:t>
            </a:r>
          </a:p>
          <a:p>
            <a:r>
              <a:t>Heuristic search algorithms sacrifice guaranteed optimality for a potential increase in speed, though some (like A*) can be optimal under certain heuristic conditions.</a:t>
            </a:r>
          </a:p>
          <a:p>
            <a:r>
              <a:t>Key heuristic search algorithms include Greedy Best-First Search and A* Search.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9: The Heuristic Function h(n)</a:t>
            </a:r>
          </a:p>
        </p:txBody>
      </p:sp>
      <p:sp>
        <p:nvSpPr>
          <p:cNvPr id="3" name="Content Placeholder 2"/>
          <p:cNvSpPr>
            <a:spLocks noGrp="1"/>
          </p:cNvSpPr>
          <p:nvPr>
            <p:ph idx="1"/>
          </p:nvPr>
        </p:nvSpPr>
        <p:spPr/>
        <p:txBody>
          <a:bodyPr/>
          <a:lstStyle/>
          <a:p>
            <a:r>
              <a:t>A heuristic function `h(n)` takes a state `n` and returns a non-negative numerical estimate of the cost from `n` to the nearest goal state.</a:t>
            </a:r>
          </a:p>
          <a:p>
            <a:r>
              <a:t>The quality of a heuristic function directly impacts the performance of informed search algorithms.</a:t>
            </a:r>
          </a:p>
          <a:p>
            <a:r>
              <a:t>A good heuristic is one that is 'admissible' and 'consistent' (or monotonic), properties critical for optimality guarantees.</a:t>
            </a:r>
          </a:p>
          <a:p>
            <a:r>
              <a:t>**Admissible Heuristic**: A heuristic `h(n)` is admissible if for every node `n`, `h(n)` is less than or equal to the true cost `h*(n)` to reach the goal from `n`.</a:t>
            </a:r>
          </a:p>
          <a:p>
            <a:r>
              <a:t>An admissible heuristic never overestimates the cost to the goal, making it optimistic.</a:t>
            </a:r>
          </a:p>
          <a:p>
            <a:r>
              <a:t>**Consistent (Monotonic) Heuristic**: A heuristic `h(n)` is consistent if for every node `n` and every successor `n'` of `n` generated by action `a`, the cost of moving from `n` to `n'` plus `h(n')` is greater than or equal to `h(n)`: `h(n) ≤ c(n, a, n') + h(n')`.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9: Greedy Best-First Search (GBFS)</a:t>
            </a:r>
          </a:p>
        </p:txBody>
      </p:sp>
      <p:sp>
        <p:nvSpPr>
          <p:cNvPr id="3" name="Content Placeholder 2"/>
          <p:cNvSpPr>
            <a:spLocks noGrp="1"/>
          </p:cNvSpPr>
          <p:nvPr>
            <p:ph idx="1"/>
          </p:nvPr>
        </p:nvSpPr>
        <p:spPr/>
        <p:txBody>
          <a:bodyPr/>
          <a:lstStyle/>
          <a:p>
            <a:r>
              <a:t>Greedy Best-First Search expands the node that appears to be closest to the goal, according to the heuristic function `h(n)`.</a:t>
            </a:r>
          </a:p>
          <a:p>
            <a:r>
              <a:t>It uses a **priority queue** for its `open list` (fringe), ordered by the `h(n)` value (lowest `h(n)` first).</a:t>
            </a:r>
          </a:p>
          <a:p>
            <a:r>
              <a:t>At each step, GBFS selects the node that it believes is 'best' (i.e., has the smallest estimated cost to the goal) to expand next.</a:t>
            </a:r>
          </a:p>
          <a:p>
            <a:r>
              <a:t>**Completeness**: GBFS is not complete. It can get stuck in infinite loops if a `closed list` is not used, or if it continuously explores paths that appear promising but lead away from the goal.</a:t>
            </a:r>
          </a:p>
          <a:p>
            <a:r>
              <a:t>**Optimality**: GBFS is not optimal. It often finds a solution quickly but might miss the optimal path because it only considers the immediate estimated cost to the goal, not the cost incurred so far.</a:t>
            </a:r>
          </a:p>
          <a:p>
            <a:r>
              <a:t>**Time &amp; Space Complexity**: Can be significantly better than uninformed search if the heuristic is good, but in the worst case, it can still be `O(b^m)` like DFS.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9: Heuristic Functions for the 8-Puzzle</a:t>
            </a:r>
          </a:p>
        </p:txBody>
      </p:sp>
      <p:sp>
        <p:nvSpPr>
          <p:cNvPr id="3" name="Content Placeholder 2"/>
          <p:cNvSpPr>
            <a:spLocks noGrp="1"/>
          </p:cNvSpPr>
          <p:nvPr>
            <p:ph idx="1"/>
          </p:nvPr>
        </p:nvSpPr>
        <p:spPr/>
        <p:txBody>
          <a:bodyPr/>
          <a:lstStyle/>
          <a:p>
            <a:r>
              <a:t>For the 8-puzzle, common admissible heuristics include:</a:t>
            </a:r>
          </a:p>
          <a:p>
            <a:r>
              <a:t>**Manhattan Distance (h1)**: The sum of the horizontal and vertical distances of each tile from its goal position. (e.g., tile 2 is 1 right and 1 down from its goal, so 2 steps).</a:t>
            </a:r>
          </a:p>
          <a:p>
            <a:r>
              <a:t>This heuristic is admissible because each move can only reduce the Manhattan distance of one tile by at most 1, and only if that tile is the one being moved towards its goal.</a:t>
            </a:r>
          </a:p>
          <a:p>
            <a:r>
              <a:t>**Number of Misplaced Tiles (h2)**: The count of tiles that are not in their correct goal positions (excluding the blank).</a:t>
            </a:r>
          </a:p>
          <a:p>
            <a:r>
              <a:t>This is also admissible because each move can correct at most one misplaced tile, so the number of moves needed is at least the number of misplaced tiles.</a:t>
            </a:r>
          </a:p>
          <a:p>
            <a:r>
              <a:t>Typically, `h1` (Manhattan Distance) is a stronger heuristic than `h2` (Misplaced Tiles) because it provides a more accurate estimate of the remaining cost.</a:t>
            </a:r>
          </a:p>
          <a:p>
            <a:r>
              <a:t>A stronger heuristic prunes the search space more effectively, leading to fewer nodes expanded.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9: Designing Heuristics and Trade-offs</a:t>
            </a:r>
          </a:p>
        </p:txBody>
      </p:sp>
      <p:sp>
        <p:nvSpPr>
          <p:cNvPr id="3" name="Content Placeholder 2"/>
          <p:cNvSpPr>
            <a:spLocks noGrp="1"/>
          </p:cNvSpPr>
          <p:nvPr>
            <p:ph idx="1"/>
          </p:nvPr>
        </p:nvSpPr>
        <p:spPr/>
        <p:txBody>
          <a:bodyPr/>
          <a:lstStyle/>
          <a:p>
            <a:r>
              <a:t>Heuristics can be derived from relaxed versions of the original problem, where some constraints are removed to make the problem easier to solve.</a:t>
            </a:r>
          </a:p>
          <a:p>
            <a:r>
              <a:t>The cost of solving the relaxed problem then serves as an admissible heuristic for the original problem.</a:t>
            </a:r>
          </a:p>
          <a:p>
            <a:r>
              <a:t>Another approach is to learn heuristics from experience, using machine learning techniques to predict the remaining cost.</a:t>
            </a:r>
          </a:p>
          <a:p>
            <a:r>
              <a:t>The effectiveness of a heuristic search algorithm largely depends on the quality of its heuristic function.</a:t>
            </a:r>
          </a:p>
          <a:p>
            <a:r>
              <a:t>A **good heuristic** should be easy to compute and accurately estimate the cost to the goal. A heuristic that is too computationally expensive might negate its benefits.</a:t>
            </a:r>
          </a:p>
          <a:p>
            <a:r>
              <a:t>There is a trade-off between the 'informedness' of a heuristic (how accurate it is) and the computational cost of evaluating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10: A* Algorithm - Introduction</a:t>
            </a:r>
          </a:p>
        </p:txBody>
      </p:sp>
      <p:sp>
        <p:nvSpPr>
          <p:cNvPr id="3" name="Content Placeholder 2"/>
          <p:cNvSpPr>
            <a:spLocks noGrp="1"/>
          </p:cNvSpPr>
          <p:nvPr>
            <p:ph idx="1"/>
          </p:nvPr>
        </p:nvSpPr>
        <p:spPr/>
        <p:txBody>
          <a:bodyPr/>
          <a:lstStyle/>
          <a:p>
            <a:r>
              <a:t>The A* (pronounced 'A-star') algorithm is one of the most widely used and effective heuristic search algorithms.</a:t>
            </a:r>
          </a:p>
          <a:p>
            <a:r>
              <a:t>It combines the best features of Uniform-Cost Search (which is optimal and complete) and Greedy Best-First Search (which is often fast but not optimal).</a:t>
            </a:r>
          </a:p>
          <a:p>
            <a:r>
              <a:t>A* evaluates nodes using an evaluation function `f(n) = g(n) + h(n)`.</a:t>
            </a:r>
          </a:p>
          <a:p>
            <a:r>
              <a:t>`g(n)` is the cost of the path from the initial state to node `n`.</a:t>
            </a:r>
          </a:p>
          <a:p>
            <a:r>
              <a:t>`h(n)` is the estimated cost of the cheapest path from node `n` to the goal state (the heuristic function).</a:t>
            </a:r>
          </a:p>
          <a:p>
            <a:r>
              <a:t>A* expands the node `n` with the lowest `f(n)` value in its `open list` (fringe), using a priority queue.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10: A* Properties: Completeness</a:t>
            </a:r>
          </a:p>
        </p:txBody>
      </p:sp>
      <p:sp>
        <p:nvSpPr>
          <p:cNvPr id="3" name="Content Placeholder 2"/>
          <p:cNvSpPr>
            <a:spLocks noGrp="1"/>
          </p:cNvSpPr>
          <p:nvPr>
            <p:ph idx="1"/>
          </p:nvPr>
        </p:nvSpPr>
        <p:spPr/>
        <p:txBody>
          <a:bodyPr/>
          <a:lstStyle/>
          <a:p>
            <a:r>
              <a:t>**Completeness**: A* is complete, provided that the branching factor `b` is finite, step costs are positive, and the heuristic function `h(n)` is admissible (or `h(n) &lt;= h*(n)`).</a:t>
            </a:r>
          </a:p>
          <a:p>
            <a:r>
              <a:t>The positive step cost condition ensures that `g(n)` monotonically increases, guaranteeing that A* won't get stuck exploring an infinitely deep path with finite cost.</a:t>
            </a:r>
          </a:p>
          <a:p>
            <a:r>
              <a:t>If `h(n)` is not admissible (overestimates costs), A* may prune away the optimal path, making it incomplete in finding optimal solutions.</a:t>
            </a:r>
          </a:p>
          <a:p>
            <a:r>
              <a:t>As long as there is a solution and the conditions hold, A* will eventually find it.</a:t>
            </a:r>
          </a:p>
          <a:p>
            <a:r>
              <a:t>This makes A* a robust choice for many pathfinding problems.</a:t>
            </a:r>
          </a:p>
          <a:p>
            <a:r>
              <a:t>In practice, for graphs, a `closed list` is used to prevent cycles and handle re-visiting states efficiently.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10: A* Properties: Optimality</a:t>
            </a:r>
          </a:p>
        </p:txBody>
      </p:sp>
      <p:sp>
        <p:nvSpPr>
          <p:cNvPr id="3" name="Content Placeholder 2"/>
          <p:cNvSpPr>
            <a:spLocks noGrp="1"/>
          </p:cNvSpPr>
          <p:nvPr>
            <p:ph idx="1"/>
          </p:nvPr>
        </p:nvSpPr>
        <p:spPr/>
        <p:txBody>
          <a:bodyPr/>
          <a:lstStyle/>
          <a:p>
            <a:r>
              <a:t>**Optimality**: A* is optimal if its heuristic function `h(n)` is admissible (never overestimates the cost to the goal).</a:t>
            </a:r>
          </a:p>
          <a:p>
            <a:r>
              <a:t>Additionally, if A* uses a `closed list` and the heuristic is consistent (a stronger condition than admissibility), then A* is optimal without needing to re-expand nodes.</a:t>
            </a:r>
          </a:p>
          <a:p>
            <a:r>
              <a:t>A consistent heuristic ensures that `f(n)` values along any path are non-decreasing, guaranteeing that the first time A* finds a path to a node, it is the optimal path to that node.</a:t>
            </a:r>
          </a:p>
          <a:p>
            <a:r>
              <a:t>This property is crucial for many practical applications, ensuring that the best possible solution is found.</a:t>
            </a:r>
          </a:p>
          <a:p>
            <a:r>
              <a:t>If `h(n)` is admissible but not consistent, A* can still be optimal but might need to re-expand nodes if a cheaper path to an already visited node is found.</a:t>
            </a:r>
          </a:p>
          <a:p>
            <a:r>
              <a:t>The balance between `g(n)` (known cost) and `h(n)` (estimated cost) allows A* to efficiently balance exploring promising paths with ensuring overall optimality.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10: A* Properties: Time and Space Complexity</a:t>
            </a:r>
          </a:p>
        </p:txBody>
      </p:sp>
      <p:sp>
        <p:nvSpPr>
          <p:cNvPr id="3" name="Content Placeholder 2"/>
          <p:cNvSpPr>
            <a:spLocks noGrp="1"/>
          </p:cNvSpPr>
          <p:nvPr>
            <p:ph idx="1"/>
          </p:nvPr>
        </p:nvSpPr>
        <p:spPr/>
        <p:txBody>
          <a:bodyPr/>
          <a:lstStyle/>
          <a:p>
            <a:r>
              <a:t>**Time Complexity**: The time complexity of A* is highly dependent on the quality of the heuristic function.</a:t>
            </a:r>
          </a:p>
          <a:p>
            <a:r>
              <a:t>In the worst case (e.g., if `h(n)=0`, A* degenerates to Uniform-Cost Search), it can be exponential, `O(b^d)`.</a:t>
            </a:r>
          </a:p>
          <a:p>
            <a:r>
              <a:t>With a sufficiently good heuristic, A* can be much faster, approaching `O(d)` or even `O(log d)` in some specific cases, effectively pruning a vast portion of the search space.</a:t>
            </a:r>
          </a:p>
          <a:p>
            <a:r>
              <a:t>**Space Complexity**: Like BFS, A* stores all generated nodes in the `open list` and `closed list`.</a:t>
            </a:r>
          </a:p>
          <a:p>
            <a:r>
              <a:t>Therefore, its space complexity is also exponential, `O(b^d)`, in the worst case.</a:t>
            </a:r>
          </a:p>
          <a:p>
            <a:r>
              <a:t>This is the primary practical limitation of A* for problems with extremely large or deep search spaces, even with a good heuristic.</a:t>
            </a:r>
          </a:p>
          <a:p>
            <a:r>
              <a:t>Variants like Iterative Deepening A* (IDA*) or Simplified Memory-bounded A* (SMA*) address the space complexity at the cost of potential re-computation or sub-optimality.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Topic 10: A* Example and Use Cases</a:t>
            </a:r>
          </a:p>
        </p:txBody>
      </p:sp>
      <p:sp>
        <p:nvSpPr>
          <p:cNvPr id="3" name="Content Placeholder 2"/>
          <p:cNvSpPr>
            <a:spLocks noGrp="1"/>
          </p:cNvSpPr>
          <p:nvPr>
            <p:ph idx="1"/>
          </p:nvPr>
        </p:nvSpPr>
        <p:spPr/>
        <p:txBody>
          <a:bodyPr/>
          <a:lstStyle/>
          <a:p>
            <a:r>
              <a:t>**Example: Pathfinding in a Grid Map (e.g., video games, robotics navigation)**: Given a grid with obstacles and varying terrain costs, A* finds the shortest path.</a:t>
            </a:r>
          </a:p>
          <a:p>
            <a:r>
              <a:t>Here, `g(n)` is the actual distance traveled from the start, and `h(n)` can be Manhattan distance or Euclidean distance to the goal (admissible).</a:t>
            </a:r>
          </a:p>
          <a:p>
            <a:r>
              <a:t>**Applications**: Route planning (GPS navigation), network routing, shortest path in games, sequence alignment in bioinformatics, industrial robotics planning.</a:t>
            </a:r>
          </a:p>
          <a:p>
            <a:r>
              <a:t>A* is the algorithm of choice for many pathfinding scenarios where an optimal path is required and a good admissible heuristic can be designed.</a:t>
            </a:r>
          </a:p>
          <a:p>
            <a:r>
              <a:t>It is a cornerstone algorithm in AI and computer science due to its balance of completeness, optimality, and practical efficiency with effective heuristics.</a:t>
            </a:r>
          </a:p>
          <a:p>
            <a:r>
              <a:t>The widespread use of A* underscores the power of informed search in tackling complex computational problems.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