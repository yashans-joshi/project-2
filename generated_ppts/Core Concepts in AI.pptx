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in AI: Module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'Core Concepts in AI', a foundational unit exploring fundamental principles underpinning artificial intelligence.</a:t>
            </a:r>
          </a:p>
          <a:p>
            <a:r>
              <a:t>This module will cover classical AI techniques, focusing on symbolic AI and knowledge-based systems.</a:t>
            </a:r>
          </a:p>
          <a:p>
            <a:r>
              <a:t>We will delve into problem-solving paradigms, logical reasoning, and structured knowledge representation methods.</a:t>
            </a:r>
          </a:p>
          <a:p>
            <a:r>
              <a:t>The unit also provides an essential bridge to modern AI, culminating with an introduction to Machine Learning.</a:t>
            </a:r>
          </a:p>
          <a:p>
            <a:r>
              <a:t>Understanding these core concepts is crucial for appreciating the historical context and ongoing evolution of AI research and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Heuristic Search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Heuristic search refers to problem-solving methods that employ heuristics to guide the search process towards a solution more efficiently.</a:t>
            </a:r>
          </a:p>
          <a:p>
            <a:r>
              <a:t>Unlike uninformed search (e.g., Breadth-First Search, Depth-First Search), heuristic search uses domain-specific knowledge to make educated guesses.</a:t>
            </a:r>
          </a:p>
          <a:p>
            <a:r>
              <a:t>The primary goal is to reduce the computational cost by exploring only the most promising paths in the search space.</a:t>
            </a:r>
          </a:p>
          <a:p>
            <a:r>
              <a:t>Heuristics are 'rules of thumb' or evaluation functions that estimate the 'goodness' of a state or how close it is to the goal state.</a:t>
            </a:r>
          </a:p>
          <a:p>
            <a:r>
              <a:t>These methods are particularly useful for problems with large or infinite search spaces where exhaustive search is impractical or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Search: Greedy Best-First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Greedy Best-First Search (GBFS) expands the node that appears to be closest to the goal, according to a heuristic function h(n).</a:t>
            </a:r>
          </a:p>
          <a:p>
            <a:r>
              <a:t>It prioritizes exploration based solely on the heuristic estimate, aiming for immediate progress towards the goal.</a:t>
            </a:r>
          </a:p>
          <a:p>
            <a:r>
              <a:t>GBFS uses an 'open list' to store nodes to be explored, sorted by their h(n) value, and always selects the node with the lowest h(n).</a:t>
            </a:r>
          </a:p>
          <a:p>
            <a:r>
              <a:t>While often fast, GBFS is not guaranteed to find the optimal solution and can get trapped in local optima or follow non-optimal paths.</a:t>
            </a:r>
          </a:p>
          <a:p>
            <a:r>
              <a:t>Its completeness depends on the problem and the quality of the heuristic; it may not find a solution even if one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Search: Hill Climbing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Hill Climbing is an iterative algorithm that starts with an arbitrary solution to a problem and attempts to find a better solution by making small, incremental changes.</a:t>
            </a:r>
          </a:p>
          <a:p>
            <a:r>
              <a:t>At each step, it moves from the current state to a neighboring state that improves the heuristic evaluation function.</a:t>
            </a:r>
          </a:p>
          <a:p>
            <a:r>
              <a:t>It is a 'greedy' local search algorithm, meaning it only looks for immediate improvements and does not backtrack.</a:t>
            </a:r>
          </a:p>
          <a:p>
            <a:r>
              <a:t>Major drawbacks include getting stuck in local maxima (peaks that are not the global optimum), plateaus (flat regions), and ridges (sloping regions with local maxima along the ridge).</a:t>
            </a:r>
          </a:p>
          <a:p>
            <a:r>
              <a:t>Variations like Stochastic Hill Climbing (randomly chooses among uphill moves) or Random-restart Hill Climbing (repeats from different initial states) aim to mitigate these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Search: Heuristic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**Admissibility**: A heuristic h(n) is admissible if it never overestimates the cost to reach the goal from node n (i.e., h(n) &lt;= h*(n) for all n, where h*(n) is the true cost).</a:t>
            </a:r>
          </a:p>
          <a:p>
            <a:r>
              <a:t>Admissible heuristics are crucial for guaranteeing optimality in algorithms like A* search, ensuring the shortest path is found.</a:t>
            </a:r>
          </a:p>
          <a:p>
            <a:r>
              <a:t>**Consistency (Monotonicity)**: A heuristic h(n) is consistent if, for every node n and every successor n' of n with step cost c(n,n'), h(n) &lt;= c(n,n') + h(n').</a:t>
            </a:r>
          </a:p>
          <a:p>
            <a:r>
              <a:t>Consistency implies admissibility for all nodes in the search space and simplifies proofs of optimality in algorithms like A*.</a:t>
            </a:r>
          </a:p>
          <a:p>
            <a:r>
              <a:t>Consistent heuristics are generally preferred as they ensure that the estimated cost to the goal never decreases as we move away from the start state.</a:t>
            </a:r>
          </a:p>
          <a:p>
            <a:r>
              <a:t>The quality of a heuristic significantly impacts the efficiency and optimality guarantees of a search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Search: Challenges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major challenge is the design of effective heuristics that are both informative (accurate) and computationally inexpensive.</a:t>
            </a:r>
          </a:p>
          <a:p>
            <a:r>
              <a:t>Poorly chosen heuristics can lead to inefficient search, guiding the algorithm towards suboptimal solutions or causing it to explore too many states.</a:t>
            </a:r>
          </a:p>
          <a:p>
            <a:r>
              <a:t>Heuristic search often struggles with local optima, where the algorithm converges to a solution that is locally best but not globally optimal.</a:t>
            </a:r>
          </a:p>
          <a:p>
            <a:r>
              <a:t>Applications include route finding (e.g., GPS navigation), game playing (e.g., chess, Go), resource allocation, and logistics planning.</a:t>
            </a:r>
          </a:p>
          <a:p>
            <a:r>
              <a:t>These techniques are foundational for understanding more complex AI systems that need to navigate vast state spaces efficiently.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A* Algorithm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A* search is one of the most widely used and influential graph traversal and pathfinding algorithms in artificial intelligence.</a:t>
            </a:r>
          </a:p>
          <a:p>
            <a:r>
              <a:t>It is an informed search algorithm that combines aspects of Dijkstra's algorithm (for optimality) and Greedy Best-First Search (for efficiency).</a:t>
            </a:r>
          </a:p>
          <a:p>
            <a:r>
              <a:t>A* aims to find the shortest path from a start node to a goal node in a weighted graph or a tree, guaranteeing optimality if its heuristic is admissible.</a:t>
            </a:r>
          </a:p>
          <a:p>
            <a:r>
              <a:t>It maintains two sets of nodes: an 'open list' of nodes to be evaluated and a 'closed list' of nodes already evaluated.</a:t>
            </a:r>
          </a:p>
          <a:p>
            <a:r>
              <a:t>The algorithm systematically expands the most promising node until the goal is reached, ensuring no better path is overlooked.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Algorithm: Evaluation Function f(n)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A* uses an evaluation function f(n) for each node n, which estimates the total cost of the path through n to the goal.</a:t>
            </a:r>
          </a:p>
          <a:p>
            <a:r>
              <a:t>The function is defined as: f(n) = g(n) + h(n).</a:t>
            </a:r>
          </a:p>
          <a:p>
            <a:r>
              <a:t>**g(n)**: The actual cost or path cost from the start node to the current node n, typically calculated by summing edge weights.</a:t>
            </a:r>
          </a:p>
          <a:p>
            <a:r>
              <a:t>**h(n)**: The estimated cost or heuristic cost from the current node n to the goal node.</a:t>
            </a:r>
          </a:p>
          <a:p>
            <a:r>
              <a:t>By balancing g(n) (cost incurred so far) and h(n) (estimated future cost), A* prioritizes paths that are both short to reach and appear promising for reaching the goal.</a:t>
            </a:r>
          </a:p>
          <a:p>
            <a:r>
              <a:t>The algorithm always expands the node with the lowest f(n) value from the open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Algorithm: Step-by-Step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Initialize: Add the start node to the 'open list' with f(start) = h(start) and g(start) = 0.</a:t>
            </a:r>
          </a:p>
          <a:p>
            <a:r>
              <a:t>2. Loop: While the 'open list' is not empty:</a:t>
            </a:r>
          </a:p>
          <a:p>
            <a:r>
              <a:t>   a. Select the node 'current' from the 'open list' with the lowest f(n).</a:t>
            </a:r>
          </a:p>
          <a:p>
            <a:r>
              <a:t>   b. If 'current' is the goal node, reconstruct the path and return it.</a:t>
            </a:r>
          </a:p>
          <a:p>
            <a:r>
              <a:t>   c. Move 'current' from the 'open list' to the 'closed list'.</a:t>
            </a:r>
          </a:p>
          <a:p>
            <a:r>
              <a:t>   d. For each neighbor 'successor' of 'current':</a:t>
            </a:r>
          </a:p>
          <a:p>
            <a:r>
              <a:t>      i. Calculate tentative_g_score = g(current) + cost(current, successor).</a:t>
            </a:r>
          </a:p>
          <a:p>
            <a:r>
              <a:t>      ii. If 'successor' is in 'closed list' and tentative_g_score &gt;= g(successor), continue to next successor (already found a better path).</a:t>
            </a:r>
          </a:p>
          <a:p>
            <a:r>
              <a:t>      iii. If tentative_g_score &lt; g(successor) or 'successor' not in 'open list':</a:t>
            </a:r>
          </a:p>
          <a:p>
            <a:r>
              <a:t>          Update g(successor) = tentative_g_score, f(successor) = g(successor) + h(successor).</a:t>
            </a:r>
          </a:p>
          <a:p>
            <a:r>
              <a:t>          Set parent of 'successor' to 'current'. Add 'successor' to 'open list' if not already there.</a:t>
            </a:r>
          </a:p>
          <a:p>
            <a:r>
              <a:t>3. If the loop finishes and the goal is not found, no path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Algorithm: Properties and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**Completeness**: A* is complete, meaning it will always find a solution if one exists, provided the search space is finite and the step costs are positive.</a:t>
            </a:r>
          </a:p>
          <a:p>
            <a:r>
              <a:t>**Optimality**: A* is optimal if the heuristic function h(n) is admissible (never overestimates the cost to the goal).</a:t>
            </a:r>
          </a:p>
          <a:p>
            <a:r>
              <a:t>If h(n) is consistent (a stronger condition than admissibility), A* is guaranteed to find the optimal path without re-expanding nodes.</a:t>
            </a:r>
          </a:p>
          <a:p>
            <a:r>
              <a:t>**Dominance**: If h1(n) and h2(n) are both admissible heuristics, and h2(n) ≥ h1(n) for all n (h2 dominates h1), then A* using h2 will expand no more nodes than A* using h1.</a:t>
            </a:r>
          </a:p>
          <a:p>
            <a:r>
              <a:t>This implies that more informed (but still admissible) heuristics lead to more efficient searches.</a:t>
            </a:r>
          </a:p>
          <a:p>
            <a:r>
              <a:t>A* explores the fewest nodes among all optimal search algorithms that use the same heuristic function.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Algorithm: Heuristic Design and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choice and design of the heuristic function h(n) is critical for the performance of A*.</a:t>
            </a:r>
          </a:p>
          <a:p>
            <a:r>
              <a:t>A good heuristic significantly reduces the number of nodes explored, making the search more efficient.</a:t>
            </a:r>
          </a:p>
          <a:p>
            <a:r>
              <a:t>For grid-based pathfinding, common heuristics include:</a:t>
            </a:r>
          </a:p>
          <a:p>
            <a:r>
              <a:t>   - **Manhattan Distance**: Sum of the absolute differences of the x and y coordinates (used for movement restricted to cardinal directions). It is admissible and consistent.</a:t>
            </a:r>
          </a:p>
          <a:p>
            <a:r>
              <a:t>   - **Euclidean Distance**: Straight-line distance between two points (sqrt((x1-x2)^2 + (y1-y2)^2)). It is admissible but not consistent on a grid.</a:t>
            </a:r>
          </a:p>
          <a:p>
            <a:r>
              <a:t>For the 8-puzzle problem, a common admissible heuristic is 'Number of Misplaced Tiles', which counts how many tiles are not in their goal positions.</a:t>
            </a:r>
          </a:p>
          <a:p>
            <a:r>
              <a:t>Another for 8-puzzle is 'Sum of Manhattan Distances of Tiles', which sums the Manhattan distances of each tile from its goal position.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Logic and Reasoning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 and reasoning form a cornerstone of symbolic AI, providing a formal framework for knowledge representation and inference.</a:t>
            </a:r>
          </a:p>
          <a:p>
            <a:r>
              <a:t>It enables AI systems to draw conclusions from given facts and rules, mimicking human deductive thought processes.</a:t>
            </a:r>
          </a:p>
          <a:p>
            <a:r>
              <a:t>Logical approaches allow for precise, unambiguous representation of information, which is critical for complex decision-making and problem-solving.</a:t>
            </a:r>
          </a:p>
          <a:p>
            <a:r>
              <a:t>The core idea is to translate real-world statements into a formal language that computers can manipulate to derive new, valid statements.</a:t>
            </a:r>
          </a:p>
          <a:p>
            <a:r>
              <a:t>This foundational understanding is crucial for areas like expert systems, automated planning, and natural language understanding.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and Reasoning: 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Propositional Logic (or Propositional Calculus) is the simplest form of logic, dealing with propositions (statements that are either true or false).</a:t>
            </a:r>
          </a:p>
          <a:p>
            <a:r>
              <a:t>Atomic propositions are basic statements, represented by symbols (e.g., P, Q, R).</a:t>
            </a:r>
          </a:p>
          <a:p>
            <a:r>
              <a:t>Compound propositions are formed by combining atomic propositions using logical connectives: AND (∧), OR (∨), NOT (¬), IMPLIES (→), and IFF (↔).</a:t>
            </a:r>
          </a:p>
          <a:p>
            <a:r>
              <a:t>The truth value of a compound proposition is determined entirely by the truth values of its constituent atomic propositions, defined by truth tables.</a:t>
            </a:r>
          </a:p>
          <a:p>
            <a:r>
              <a:t>It supports reasoning about simple facts and their relationships, but lacks the ability to represent relationships between objects or quantify over variables.</a:t>
            </a:r>
          </a:p>
          <a:p>
            <a:r>
              <a:t>For example, 'It is raining' (P) and 'The ground is wet' (Q) can be combined as P → Q.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and Reasoning: 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Inference rules are patterns of reasoning that allow us to derive new logical statements (conclusions) from existing ones (premises).</a:t>
            </a:r>
          </a:p>
          <a:p>
            <a:r>
              <a:t>They are syntactical rules that preserve truth, meaning if the premises are true, the conclusion must also be true.</a:t>
            </a:r>
          </a:p>
          <a:p>
            <a:r>
              <a:t>**Modus Ponens**: From 'P' and 'P → Q', we can infer 'Q'. (If it's raining and if it rains then the ground is wet, then the ground is wet).</a:t>
            </a:r>
          </a:p>
          <a:p>
            <a:r>
              <a:t>**And-Introduction**: From 'P' and 'Q', we can infer 'P ∧ Q'.</a:t>
            </a:r>
          </a:p>
          <a:p>
            <a:r>
              <a:t>**And-Elimination**: From 'P ∧ Q', we can infer 'P' (and also 'Q').</a:t>
            </a:r>
          </a:p>
          <a:p>
            <a:r>
              <a:t>**Resolution**: A powerful single inference rule that is complete for propositional logic (and first-order logic when combined with unification). It involves negating a desired conclusion and showing it leads to a contradiction.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and Reasoning: Deductive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Deductive reasoning starts with general statements (axioms, rules) and logically deduces specific conclusions.</a:t>
            </a:r>
          </a:p>
          <a:p>
            <a:r>
              <a:t>If the premises are true, and the reasoning is valid, the conclusion *must* be true; it provides certainty.</a:t>
            </a:r>
          </a:p>
          <a:p>
            <a:r>
              <a:t>Key properties of deductive systems are **Soundness** and **Completeness**.</a:t>
            </a:r>
          </a:p>
          <a:p>
            <a:r>
              <a:t>**Soundness**: An inference system is sound if it only derives conclusions that are logically entailed by the premises (i.e., it never infers a false conclusion from true premises).</a:t>
            </a:r>
          </a:p>
          <a:p>
            <a:r>
              <a:t>**Completeness**: An inference system is complete if it can derive *all* logically entailed conclusions from the premises (i.e., it can find every true statement that follows).</a:t>
            </a:r>
          </a:p>
          <a:p>
            <a:r>
              <a:t>Deductive systems are central to automated theorem proving, logical programming (e.g., Prolog), and constraint satisfaction problems.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and Reasoning: Applications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reasoning is applied in various AI domains, including knowledge-based systems, expert systems, and automated planning.</a:t>
            </a:r>
          </a:p>
          <a:p>
            <a:r>
              <a:t>It provides a clear and verifiable method for making decisions and verifying system behavior.</a:t>
            </a:r>
          </a:p>
          <a:p>
            <a:r>
              <a:t>In automated planning, logic can represent actions, states, and goals, allowing the system to deduce a sequence of actions to achieve a goal.</a:t>
            </a:r>
          </a:p>
          <a:p>
            <a:r>
              <a:t>Limitations of propositional logic include its inability to represent relationships between objects or to generalize statements (e.g., 'All humans are mortal').</a:t>
            </a:r>
          </a:p>
          <a:p>
            <a:r>
              <a:t>The computational complexity of logical inference can be very high, especially for expressive logics and large knowledge bases.</a:t>
            </a:r>
          </a:p>
          <a:p>
            <a:r>
              <a:t>It struggles with uncertain or incomplete information, as logic typically demands definite true/false values for propositions.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4: Predicate Logic (First-Order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Predicate Logic, also known as First-Order Logic (FOL), extends propositional logic to allow reasoning about objects, their properties, and relationships.</a:t>
            </a:r>
          </a:p>
          <a:p>
            <a:r>
              <a:t>It overcomes the limitations of propositional logic by introducing predicates, functions, variables, and quantifiers.</a:t>
            </a:r>
          </a:p>
          <a:p>
            <a:r>
              <a:t>FOL is a highly expressive and powerful formal language, capable of representing complex knowledge structures found in many real-world domains.</a:t>
            </a:r>
          </a:p>
          <a:p>
            <a:r>
              <a:t>It forms the basis for many knowledge representation schemes and logical AI systems.</a:t>
            </a:r>
          </a:p>
          <a:p>
            <a:r>
              <a:t>Understanding FOL is essential for advanced topics in AI, including knowledge representation, automated reasoning, and natural language processing.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 Logic: Syntax and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**Constants**: Specific objects or entities (e.g., 'John', 'London', 'Red').</a:t>
            </a:r>
          </a:p>
          <a:p>
            <a:r>
              <a:t>**Variables**: Placeholders for objects, denoted by lowercase letters (e.g., x, y, z).</a:t>
            </a:r>
          </a:p>
          <a:p>
            <a:r>
              <a:t>**Predicates**: Represent properties of objects or relationships between objects (e.g., 'IsHuman(John)', 'Color(Car, Red)', 'Loves(John, Mary)'). They evaluate to true or false.</a:t>
            </a:r>
          </a:p>
          <a:p>
            <a:r>
              <a:t>**Functions**: Map one or more objects to another object (e.g., 'FatherOf(John)', 'Plus(2, 3)'). Functions return an object, not a truth value.</a:t>
            </a:r>
          </a:p>
          <a:p>
            <a:r>
              <a:t>**Logical Connectives**: Same as propositional logic (¬, ∧, ∨, →, ↔).</a:t>
            </a:r>
          </a:p>
          <a:p>
            <a:r>
              <a:t>**Quantifiers**: Allow statements about collections of objects:</a:t>
            </a:r>
          </a:p>
          <a:p>
            <a:r>
              <a:t>   - **Universal Quantifier (∀)**: 'For all' (e.g., ∀x Human(x) → Mortal(x) - 'All humans are mortal').</a:t>
            </a:r>
          </a:p>
          <a:p>
            <a:r>
              <a:t>   - **Existential Quantifier (∃)**: 'There exists' (e.g., ∃x Loves(John, x) - 'John loves someone').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 Logic: Semantics and 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semantics of FOL define the meaning of sentences by relating them to models (or interpretations) of the world.</a:t>
            </a:r>
          </a:p>
          <a:p>
            <a:r>
              <a:t>An **interpretation** specifies a domain of discourse (set of objects) and assigns meaning to constants, predicates, and functions.</a:t>
            </a:r>
          </a:p>
          <a:p>
            <a:r>
              <a:t>For a given interpretation:</a:t>
            </a:r>
          </a:p>
          <a:p>
            <a:r>
              <a:t>   - Each constant symbol refers to an object in the domain.</a:t>
            </a:r>
          </a:p>
          <a:p>
            <a:r>
              <a:t>   - Each predicate symbol refers to a relation over objects in the domain.</a:t>
            </a:r>
          </a:p>
          <a:p>
            <a:r>
              <a:t>   - Each function symbol refers to a function over objects in the domain.</a:t>
            </a:r>
          </a:p>
          <a:p>
            <a:r>
              <a:t>A sentence is **true** under an interpretation if the relations and properties it asserts hold in that interpretation.</a:t>
            </a:r>
          </a:p>
          <a:p>
            <a:r>
              <a:t>A sentence is **valid** if it is true under all possible interpretations (a tautology).</a:t>
            </a:r>
          </a:p>
          <a:p>
            <a:r>
              <a:t>A sentence is **satisfiable** if there exists at least one interpretation under which it is true.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 Logic: Inference and Unification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Inference in FOL is more complex than propositional logic due to variables and quantifiers.</a:t>
            </a:r>
          </a:p>
          <a:p>
            <a:r>
              <a:t>A key mechanism is **Unification**: The process of finding substitutions for variables that make two logical expressions identical.</a:t>
            </a:r>
          </a:p>
          <a:p>
            <a:r>
              <a:t>For example, 'P(x, A)' and 'P(B, y)' unify with substitution {x/B, y/A} to yield 'P(B, A)'.</a:t>
            </a:r>
          </a:p>
          <a:p>
            <a:r>
              <a:t>Unification is essential for applying inference rules like Modus Ponens to quantified statements.</a:t>
            </a:r>
          </a:p>
          <a:p>
            <a:r>
              <a:t>**Generalized Modus Ponens**: From '∀x P(x) → Q(x)' and 'P(A)', we can infer 'Q(A)' by unifying 'P(x)' with 'P(A)' (substitution {x/A}).</a:t>
            </a:r>
          </a:p>
          <a:p>
            <a:r>
              <a:t>**Resolution Refutation**: A powerful proof procedure for FOL that involves converting sentences into Conjunctive Normal Form (CNF) and applying the resolution rule to find a contradiction, thereby proving the original query.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 Logic: Knowledge Representation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 is highly effective for representing complex knowledge domains due to its expressiveness.</a:t>
            </a:r>
          </a:p>
          <a:p>
            <a:r>
              <a:t>**Example 1: Family Relations**</a:t>
            </a:r>
          </a:p>
          <a:p>
            <a:r>
              <a:t>   - Father(John, Mary): John is the father of Mary.</a:t>
            </a:r>
          </a:p>
          <a:p>
            <a:r>
              <a:t>   - ∀x, y Parent(x, y) ↔ (Father(x, y) ∨ Mother(x, y)): A parent is a father or a mother.</a:t>
            </a:r>
          </a:p>
          <a:p>
            <a:r>
              <a:t>   - ∀x, y Grandparent(x, y) ↔ ∃z (Parent(x, z) ∧ Parent(z, y)): A grandparent is a parent of a parent.</a:t>
            </a:r>
          </a:p>
          <a:p>
            <a:r>
              <a:t>**Example 2: World Knowledge**</a:t>
            </a:r>
          </a:p>
          <a:p>
            <a:r>
              <a:t>   - ∀x Plant(x) → (NeedsSunlight(x) ∧ NeedsWater(x)): All plants need sunlight and water.</a:t>
            </a:r>
          </a:p>
          <a:p>
            <a:r>
              <a:t>   - HasColor(Grass, Green): Grass has the color green.</a:t>
            </a:r>
          </a:p>
          <a:p>
            <a:r>
              <a:t>These examples demonstrate how FOL can capture general rules, specific facts, and hierarchical relationships within a domain.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5: Semantic Networks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networks are a form of knowledge representation where knowledge is represented as a graph.</a:t>
            </a:r>
          </a:p>
          <a:p>
            <a:r>
              <a:t>Nodes in the graph represent concepts, objects, or events, while links (edges) represent relationships between them.</a:t>
            </a:r>
          </a:p>
          <a:p>
            <a:r>
              <a:t>They provide a highly intuitive and visual way to organize and display knowledge, resembling how humans might structure information.</a:t>
            </a:r>
          </a:p>
          <a:p>
            <a:r>
              <a:t>Developed in the 1960s, semantic networks were among the earliest forms of structured knowledge representation in AI.</a:t>
            </a:r>
          </a:p>
          <a:p>
            <a:r>
              <a:t>They are particularly well-suited for representing taxonomic hierarchies and associative relationships.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Networks: Structure and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**Nodes**: Typically oval or rectangular shapes, representing entities, concepts, or attributes.</a:t>
            </a:r>
          </a:p>
          <a:p>
            <a:r>
              <a:t>   - Examples: 'Bird', 'Canary', 'Feathers', 'Flies', 'Yellow'.</a:t>
            </a:r>
          </a:p>
          <a:p>
            <a:r>
              <a:t>**Links (Edges)**: Labeled arrows representing relationships between nodes.</a:t>
            </a:r>
          </a:p>
          <a:p>
            <a:r>
              <a:t>   - The label on the link specifies the type of relationship.</a:t>
            </a:r>
          </a:p>
          <a:p>
            <a:r>
              <a:t>   - Links are typically directed, indicating the direction of the relationship.</a:t>
            </a:r>
          </a:p>
          <a:p>
            <a:r>
              <a:t>A simple semantic network for 'Canary' might have a node 'Canary' connected to 'Bird' via an 'is-a' link, and to 'Yellow' via an 'has-color' link.</a:t>
            </a:r>
          </a:p>
          <a:p>
            <a:r>
              <a:t>The graph structure allows for easy navigation and retrieval of related information.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Networks: Types of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Various types of relations are used to capture different aspects of knowledge:</a:t>
            </a:r>
          </a:p>
          <a:p>
            <a:r>
              <a:t>**'is-a' (or 'a-kind-of')**: Represents a class-subclass or instance-class relationship, forming taxonomic hierarchies.</a:t>
            </a:r>
          </a:p>
          <a:p>
            <a:r>
              <a:t>   - E.g., 'Canary' 'is-a' 'Bird'; 'Bird' 'is-a' 'Animal'.</a:t>
            </a:r>
          </a:p>
          <a:p>
            <a:r>
              <a:t>**'has-a' (or 'part-of')**: Represents a part-whole relationship or property ownership.</a:t>
            </a:r>
          </a:p>
          <a:p>
            <a:r>
              <a:t>   - E.g., 'Bird' 'has-a' 'Wings'; 'Car' 'has-a' 'Engine'.</a:t>
            </a:r>
          </a:p>
          <a:p>
            <a:r>
              <a:t>**Attribute-Value**: Links an entity to its specific attribute value.</a:t>
            </a:r>
          </a:p>
          <a:p>
            <a:r>
              <a:t>   - E.g., 'Canary' 'color' 'Yellow'; 'Bird' 'num-legs' '2'.</a:t>
            </a:r>
          </a:p>
          <a:p>
            <a:r>
              <a:t>**Action/Verb**: Represents an action performed by or on an entity.</a:t>
            </a:r>
          </a:p>
          <a:p>
            <a:r>
              <a:t>   - E.g., 'Bird' 'can' 'Fly'.</a:t>
            </a:r>
          </a:p>
          <a:p>
            <a:r>
              <a:t>These relations allow for detailed modeling of concepts and their interconnections, facilitating powerful inferential capabilities.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Networks: Inference and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primary inference mechanism in semantic networks is **inheritance**.</a:t>
            </a:r>
          </a:p>
          <a:p>
            <a:r>
              <a:t>Properties or attributes of a superclass are inherited by its subclasses and instances, unless explicitly overridden.</a:t>
            </a:r>
          </a:p>
          <a:p>
            <a:r>
              <a:t>For example, if 'Bird' 'can' 'Fly', and 'Canary' 'is-a' 'Bird', then 'Canary' 'can' 'Fly' is inferred.</a:t>
            </a:r>
          </a:p>
          <a:p>
            <a:r>
              <a:t>This greatly reduces redundancy in knowledge representation, as common properties are stored only once at the highest relevant level.</a:t>
            </a:r>
          </a:p>
          <a:p>
            <a:r>
              <a:t>Inheritance queries can be answered by traversing 'is-a' links upwards from a node to its ancestors.</a:t>
            </a:r>
          </a:p>
          <a:p>
            <a:r>
              <a:t>More complex inferences can involve path traversal to find relationships between distant nodes or to answer specific queries.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Networks: Advantages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**Advantages**:</a:t>
            </a:r>
          </a:p>
          <a:p>
            <a:r>
              <a:t>   - **Intuitiveness**: Highly visual and easy to understand, often mapping well to human conceptual models.</a:t>
            </a:r>
          </a:p>
          <a:p>
            <a:r>
              <a:t>   - **Flexibility**: Can represent a wide range of relationships and concepts.</a:t>
            </a:r>
          </a:p>
          <a:p>
            <a:r>
              <a:t>   - **Efficiency (for inheritance)**: Inference via inheritance is often computationally efficient for 'is-a' hierarchies.</a:t>
            </a:r>
          </a:p>
          <a:p>
            <a:r>
              <a:t>**Limitations**:</a:t>
            </a:r>
          </a:p>
          <a:p>
            <a:r>
              <a:t>   - **Ambiguity**: Lack of standardized semantics for link types can lead to misinterpretations (e.g., what exactly does 'is-a' mean sometimes?).</a:t>
            </a:r>
          </a:p>
          <a:p>
            <a:r>
              <a:t>   - **Expressiveness**: Struggles with representing quantified statements ('All birds fly' vs. 'Most birds fly' vs. 'Some birds fly') and disjunctive knowledge.</a:t>
            </a:r>
          </a:p>
          <a:p>
            <a:r>
              <a:t>   - **Computational Complexity**: As networks grow large, pathfinding and certain types of inference can become computationally expensive.</a:t>
            </a:r>
          </a:p>
          <a:p>
            <a:r>
              <a:t>   - **No explicit distinction between classes and instances** (though conventions exist).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6: Frames and Scripts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Frames and Scripts are advanced structured knowledge representation techniques that build upon ideas from semantic networks.</a:t>
            </a:r>
          </a:p>
          <a:p>
            <a:r>
              <a:t>They were introduced by Marvin Minsky and Roger Schank (respectively) in the 1970s to address limitations of simpler representations.</a:t>
            </a:r>
          </a:p>
          <a:p>
            <a:r>
              <a:t>Frames provide a structured way to represent stereotypical objects, concepts, or events, organizing knowledge into 'slots' with 'fillers'.</a:t>
            </a:r>
          </a:p>
          <a:p>
            <a:r>
              <a:t>Scripts extend this by providing a frame-like structure for representing stereotypical sequences of events, focusing on temporal and causal relationships.</a:t>
            </a:r>
          </a:p>
          <a:p>
            <a:r>
              <a:t>These techniques aim to model human-like understanding by capturing default assumptions and expectations associated with common situations.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Frames: Structured Knowledge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**frame** is a data structure representing a stereotypical object, concept, or event.</a:t>
            </a:r>
          </a:p>
          <a:p>
            <a:r>
              <a:t>Each frame has a name and a set of **slots**, which represent attributes or properties associated with the concept.</a:t>
            </a:r>
          </a:p>
          <a:p>
            <a:r>
              <a:t>Each slot can have a **filler**, which is the value for that attribute (e.g., 'color: red', 'legs: 4').</a:t>
            </a:r>
          </a:p>
          <a:p>
            <a:r>
              <a:t>Slots can also specify default values, ranges of acceptable values, pointers to other frames, or even procedural attachments.</a:t>
            </a:r>
          </a:p>
          <a:p>
            <a:r>
              <a:t>**Facets** are properties of slots, such as 'default-value', 'value-range', 'if-needed' (a procedure to compute the value if not present), 'if-added' (a procedure to run when a value is added).</a:t>
            </a:r>
          </a:p>
          <a:p>
            <a:r>
              <a:t>Frames support **inheritance**, where a frame can inherit slots and values from its parent frame, similar to object-oriented programming.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Frames: Example and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**Example: A 'Chair' Frame**</a:t>
            </a:r>
          </a:p>
          <a:p>
            <a:r>
              <a:t>   - Frame Name: Chair</a:t>
            </a:r>
          </a:p>
          <a:p>
            <a:r>
              <a:t>   - is-a: Furniture (default: Furniture)</a:t>
            </a:r>
          </a:p>
          <a:p>
            <a:r>
              <a:t>   - num-legs: 4 (default: 4, value-range: 1-6)</a:t>
            </a:r>
          </a:p>
          <a:p>
            <a:r>
              <a:t>   - Material: (default: wood, value-range: {wood, metal, plastic})</a:t>
            </a:r>
          </a:p>
          <a:p>
            <a:r>
              <a:t>   - Function: (default: 'for sitting')</a:t>
            </a:r>
          </a:p>
          <a:p>
            <a:r>
              <a:t>   - Color: (if-needed: 'ask-user-or-infer')</a:t>
            </a:r>
          </a:p>
          <a:p>
            <a:r>
              <a:t>Reasoning with frames involves:</a:t>
            </a:r>
          </a:p>
          <a:p>
            <a:r>
              <a:t>   - **Inheritance**: If a 'DiningChair' frame inherits from 'Chair', it automatically gets 'num-legs: 4' unless specified otherwise.</a:t>
            </a:r>
          </a:p>
          <a:p>
            <a:r>
              <a:t>   - **Matching**: Comparing a frame with new input data to fill slots and identify the best-fitting frame.</a:t>
            </a:r>
          </a:p>
          <a:p>
            <a:r>
              <a:t>   - **Daemon triggering**: Procedures (if-added, if-needed) attached to slots are activated when values are accessed or modified.</a:t>
            </a:r>
          </a:p>
          <a:p>
            <a:r>
              <a:t>Frames excel at representing taxonomic hierarchies and defaults, providing a structured approach to common-sense reasoning.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Scripts: Representing Event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**script** is a specialized type of frame that represents a stereotypical sequence of events in a particular context.</a:t>
            </a:r>
          </a:p>
          <a:p>
            <a:r>
              <a:t>Introduced by Roger Schank and Robert Abelson, scripts are designed to model human understanding of common situations, like going to a restaurant.</a:t>
            </a:r>
          </a:p>
          <a:p>
            <a:r>
              <a:t>They capture the causal and temporal relationships between actions, allowing an AI system to make predictions and fill in missing information.</a:t>
            </a:r>
          </a:p>
          <a:p>
            <a:r>
              <a:t>Scripts help in natural language understanding by providing expectations about what actions typically follow each other in a given scenario.</a:t>
            </a:r>
          </a:p>
          <a:p>
            <a:r>
              <a:t>They facilitate parsing and inference by providing context-specific knowledge, reducing ambiguity.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Scripts: Components and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script typically includes several components:</a:t>
            </a:r>
          </a:p>
          <a:p>
            <a:r>
              <a:t>   - **Entry Conditions**: Conditions that must be true for the script to be activated.</a:t>
            </a:r>
          </a:p>
          <a:p>
            <a:r>
              <a:t>   - **Props**: Objects that play a role in the script (e.g., table, menu, food, money).</a:t>
            </a:r>
          </a:p>
          <a:p>
            <a:r>
              <a:t>   - **Roles**: Participants in the script (e.g., customer, waiter, chef, cashier).</a:t>
            </a:r>
          </a:p>
          <a:p>
            <a:r>
              <a:t>   - **Scenes**: A sequence of events or sub-scripts, ordered temporally.</a:t>
            </a:r>
          </a:p>
          <a:p>
            <a:r>
              <a:t>   - **Results**: Conditions that are true after the script has been completed.</a:t>
            </a:r>
          </a:p>
          <a:p>
            <a:r>
              <a:t>**Example: Restaurant Script**</a:t>
            </a:r>
          </a:p>
          <a:p>
            <a:r>
              <a:t>   - Roles: Customer, Waiter, Chef, Cashier</a:t>
            </a:r>
          </a:p>
          <a:p>
            <a:r>
              <a:t>   - Props: Table, Menu, Food, Bill, Money</a:t>
            </a:r>
          </a:p>
          <a:p>
            <a:r>
              <a:t>   - Scenes: Entering, Ordering, Eating, Paying, Exiting</a:t>
            </a:r>
          </a:p>
          <a:p>
            <a:r>
              <a:t>   - Results: Customer has less money, Customer is not hungry, Restaurant has more money.</a:t>
            </a:r>
          </a:p>
          <a:p>
            <a:r>
              <a:t>Scripts allow an AI to infer events even if they are not explicitly mentioned in text, based on the established sequence.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Frames and Scripts: Comparison and Utility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Frames and scripts both provide structured ways to organize knowledge, leveraging default values and inheritance for efficiency.</a:t>
            </a:r>
          </a:p>
          <a:p>
            <a:r>
              <a:t>Frames are generally used to represent static, declarative knowledge about objects and concepts (e.g., what a 'car' is).</a:t>
            </a:r>
          </a:p>
          <a:p>
            <a:r>
              <a:t>Scripts are specialized for dynamic, procedural knowledge about sequences of events (e.g., what happens when 'buying a car').</a:t>
            </a:r>
          </a:p>
          <a:p>
            <a:r>
              <a:t>They offer richer expressiveness than simple semantic networks for stereotypical situations.</a:t>
            </a:r>
          </a:p>
          <a:p>
            <a:r>
              <a:t>These models address issues of common-sense reasoning and expectation-driven processing in AI, reducing the need for explicit logical inference for every detail.</a:t>
            </a:r>
          </a:p>
          <a:p>
            <a:r>
              <a:t>While influential, their rigidity can be a limitation for highly novel or unpredictable situations not covered by predefined frames or scripts.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7: Expert Systems -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 Systems (ES) are computer programs designed to mimic the decision-making ability of a human expert in a specific domain.</a:t>
            </a:r>
          </a:p>
          <a:p>
            <a:r>
              <a:t>They represent a significant branch of classical AI, developed to solve complex problems by reasoning through bodies of knowledge, like human experts.</a:t>
            </a:r>
          </a:p>
          <a:p>
            <a:r>
              <a:t>The core idea is to capture and formalize expert knowledge, making it available to non-experts or to automate complex tasks.</a:t>
            </a:r>
          </a:p>
          <a:p>
            <a:r>
              <a:t>Early successes of expert systems (e.g., MYCIN for medical diagnosis, DENDRAL for chemical structure elucidation) fueled AI research.</a:t>
            </a:r>
          </a:p>
          <a:p>
            <a:r>
              <a:t>Expert systems excel in well-defined domains where human expertise can be clearly articulated and formalized into rules or frames.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typical expert system architecture consists of several key components:</a:t>
            </a:r>
          </a:p>
          <a:p>
            <a:r>
              <a:t>1. **Knowledge Base**: Contains the domain-specific facts, rules, and heuristics acquired from human experts.</a:t>
            </a:r>
          </a:p>
          <a:p>
            <a:r>
              <a:t>2. **Inference Engine**: The 'brain' of the ES, responsible for reasoning with the knowledge base and facts in the working memory to derive conclusions.</a:t>
            </a:r>
          </a:p>
          <a:p>
            <a:r>
              <a:t>3. **Working Memory (or Fact Base)**: Stores facts about the current problem being solved, which are input by the user or derived by the inference engine.</a:t>
            </a:r>
          </a:p>
          <a:p>
            <a:r>
              <a:t>4. **User Interface**: Allows users to interact with the system, input data, and receive advice or explanations.</a:t>
            </a:r>
          </a:p>
          <a:p>
            <a:r>
              <a:t>5. **Explanation Module**: Justifies the reasoning process to the user, explaining *how* and *why* a particular conclusion was reached.</a:t>
            </a:r>
          </a:p>
          <a:p>
            <a:r>
              <a:t>6. **Knowledge Acquisition Module**: Tools and methods for acquiring knowledge from human experts and integrating it into the knowledge base.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Systems: Knowledge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way knowledge is represented in the knowledge base is crucial for the expert system's effectiveness.</a:t>
            </a:r>
          </a:p>
          <a:p>
            <a:r>
              <a:t>**Production Rules (IF-THEN Rules)**: The most common form of knowledge representation, linking conditions (IF part) to actions or conclusions (THEN part).</a:t>
            </a:r>
          </a:p>
          <a:p>
            <a:r>
              <a:t>   - Example: IF (patient has fever) AND (patient has cough) THEN (patient likely has flu).</a:t>
            </a:r>
          </a:p>
          <a:p>
            <a:r>
              <a:t>**Frames**: Used to represent stereotypical objects or concepts, organizing knowledge into slots and fillers, particularly useful for taxonomic hierarchies.</a:t>
            </a:r>
          </a:p>
          <a:p>
            <a:r>
              <a:t>**Semantic Networks**: Can represent relationships between concepts visually, providing a graph-based structure for knowledge.</a:t>
            </a:r>
          </a:p>
          <a:p>
            <a:r>
              <a:t>The choice of representation depends on the domain's nature and the type of inference required.</a:t>
            </a:r>
          </a:p>
          <a:p>
            <a:r>
              <a:t>Knowledge acquisition (getting knowledge from experts into a formal representation) is often the most challenging part of building an 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Systems: Inference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inference engine employs different strategies to manipulate the knowledge base and draw conclusions:</a:t>
            </a:r>
          </a:p>
          <a:p>
            <a:r>
              <a:t>**Forward Chaining (Data-Driven)**: Starts with known facts and applies rules to deduce new facts until a conclusion is reached or no more rules can be applied.</a:t>
            </a:r>
          </a:p>
          <a:p>
            <a:r>
              <a:t>   - Useful for problems where you have initial data and want to see what conclusions can be drawn (e.g., predicting outcomes, process monitoring).</a:t>
            </a:r>
          </a:p>
          <a:p>
            <a:r>
              <a:t>**Backward Chaining (Goal-Driven)**: Starts with a potential conclusion (goal) and works backward, trying to find rules and facts that support it.</a:t>
            </a:r>
          </a:p>
          <a:p>
            <a:r>
              <a:t>   - Useful for diagnostic problems where you have a hypothesis and want to find supporting evidence (e.g., medical diagnosis, fault finding).</a:t>
            </a:r>
          </a:p>
          <a:p>
            <a:r>
              <a:t>Many expert systems use a combination of both chaining mechanisms, allowing for flexible reasoning strategies.</a:t>
            </a:r>
          </a:p>
          <a:p>
            <a:r>
              <a:t>The inference engine manages the execution of rules and maintains a record of derived facts and the reasoning path.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Systems: Advantages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**Advantages**:</a:t>
            </a:r>
          </a:p>
          <a:p>
            <a:r>
              <a:t>   - **Preservation of Expertise**: Stores and makes human expert knowledge accessible, even if the expert is unavailable.</a:t>
            </a:r>
          </a:p>
          <a:p>
            <a:r>
              <a:t>   - **Consistency**: Provides consistent and unbiased decisions compared to human experts.</a:t>
            </a:r>
          </a:p>
          <a:p>
            <a:r>
              <a:t>   - **Explanation Capability**: Can explain its reasoning process, building user trust.</a:t>
            </a:r>
          </a:p>
          <a:p>
            <a:r>
              <a:t>   - **Efficiency**: Can process large amounts of information quickly and tirelessly.</a:t>
            </a:r>
          </a:p>
          <a:p>
            <a:r>
              <a:t>**Limitations**:</a:t>
            </a:r>
          </a:p>
          <a:p>
            <a:r>
              <a:t>   - **Knowledge Acquisition Bottleneck**: Extracting and formalizing expert knowledge is difficult, time-consuming, and expensive.</a:t>
            </a:r>
          </a:p>
          <a:p>
            <a:r>
              <a:t>   - **Brittleness**: Often fails outside its narrow domain of expertise; lacks common sense.</a:t>
            </a:r>
          </a:p>
          <a:p>
            <a:r>
              <a:t>   - **Maintenance**: Updating and verifying consistency of large knowledge bases is challenging.</a:t>
            </a:r>
          </a:p>
          <a:p>
            <a:r>
              <a:t>   - **Cost**: Development and deployment can be costly, and performance can degrade with growing complexity.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8: 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(ML) is a subset of AI that focuses on enabling systems to learn from data without being explicitly programmed.</a:t>
            </a:r>
          </a:p>
          <a:p>
            <a:r>
              <a:t>Instead of following hard-coded rules, ML algorithms build models from empirical data to make predictions or decisions.</a:t>
            </a:r>
          </a:p>
          <a:p>
            <a:r>
              <a:t>The core idea is to detect patterns in data and use these patterns to generalize to new, unseen data.</a:t>
            </a:r>
          </a:p>
          <a:p>
            <a:r>
              <a:t>ML has become a dominant paradigm in AI, driving breakthroughs in diverse fields from computer vision to natural language processing.</a:t>
            </a:r>
          </a:p>
          <a:p>
            <a:r>
              <a:t>It represents a shift from symbolic, rule-based AI to data-driven, statistical and computational approaches.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Learning: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**Data**: The raw material for ML, consisting of observations, measurements, or instances.</a:t>
            </a:r>
          </a:p>
          <a:p>
            <a:r>
              <a:t>**Features**: Individual measurable properties or characteristics of a phenomenon being observed (e.g., 'age', 'income', 'pixel intensity').</a:t>
            </a:r>
          </a:p>
          <a:p>
            <a:r>
              <a:t>**Labels (Targets)**: The output variable that we want to predict or classify (e.g., 'spam'/'not spam', 'stock price').</a:t>
            </a:r>
          </a:p>
          <a:p>
            <a:r>
              <a:t>**Model**: The output of the learning algorithm; a mathematical representation of the patterns learned from the data.</a:t>
            </a:r>
          </a:p>
          <a:p>
            <a:r>
              <a:t>**Training**: The process of feeding data to the algorithm to build or refine the model.</a:t>
            </a:r>
          </a:p>
          <a:p>
            <a:r>
              <a:t>**Testing/Evaluation**: Assessing the performance of the trained model on unseen data to estimate its generalization ability.</a:t>
            </a:r>
          </a:p>
          <a:p>
            <a:r>
              <a:t>**Generalization**: The model's ability to perform well on new, previously unseen data, rather than just memorizing the training data.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Learning: Types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**1. Supervised Learning**: Learning from labeled data, where the algorithm is given input-output pairs.</a:t>
            </a:r>
          </a:p>
          <a:p>
            <a:r>
              <a:t>   - Goal: Predict future outputs based on new inputs.</a:t>
            </a:r>
          </a:p>
          <a:p>
            <a:r>
              <a:t>   - Tasks: **Classification** (predicting discrete categories, e.g., spam detection) and **Regression** (predicting continuous values, e.g., housing prices).</a:t>
            </a:r>
          </a:p>
          <a:p>
            <a:r>
              <a:t>**2. Unsupervised Learning**: Learning from unlabeled data, discovering hidden patterns or structures.</a:t>
            </a:r>
          </a:p>
          <a:p>
            <a:r>
              <a:t>   - Goal: Find inherent groupings or reduce data dimensionality.</a:t>
            </a:r>
          </a:p>
          <a:p>
            <a:r>
              <a:t>   - Tasks: **Clustering** (grouping similar data points, e.g., customer segmentation) and **Dimensionality Reduction** (simplifying data, e.g., PCA).</a:t>
            </a:r>
          </a:p>
          <a:p>
            <a:r>
              <a:t>**3. Reinforcement Learning**: Learning through trial and error, by interacting with an environment.</a:t>
            </a:r>
          </a:p>
          <a:p>
            <a:r>
              <a:t>   - Goal: Maximize a cumulative reward by taking actions.</a:t>
            </a:r>
          </a:p>
          <a:p>
            <a:r>
              <a:t>   - Components: Agent, Environment, States, Actions, Rewards (e.g., training a robot to walk, AlphaGo).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Learning: Supervised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algorithms aim to learn a mapping function from input features to output labels.</a:t>
            </a:r>
          </a:p>
          <a:p>
            <a:r>
              <a:t>**Linear Regression**: Used for regression tasks, modeling the relationship between a dependent variable and one or more independent variables by fitting a linear equation.</a:t>
            </a:r>
          </a:p>
          <a:p>
            <a:r>
              <a:t>**Logistic Regression**: Despite its name, primarily used for binary classification, predicting the probability of an instance belonging to a particular class.</a:t>
            </a:r>
          </a:p>
          <a:p>
            <a:r>
              <a:t>**Decision Trees**: Tree-like models where each internal node represents a feature test, each branch represents an outcome, and each leaf node represents a class label or value.</a:t>
            </a:r>
          </a:p>
          <a:p>
            <a:r>
              <a:t>**Support Vector Machines (SVMs)**: Finds an optimal hyperplane that best separates data points into different classes, maximizing the margin between them.</a:t>
            </a:r>
          </a:p>
          <a:p>
            <a:r>
              <a:t>**K-Nearest Neighbors (KNN)**: A non-parametric, instance-based learning algorithm that classifies a new data point based on the majority class of its 'k' nearest neighbors in the feature space.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Learning: Unsupervised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learning focuses on uncovering hidden structures or relationships within unlabeled data.</a:t>
            </a:r>
          </a:p>
          <a:p>
            <a:r>
              <a:t>**K-Means Clustering**: Partitions data into 'k' clusters, where each data point belongs to the cluster with the nearest mean (centroid).</a:t>
            </a:r>
          </a:p>
          <a:p>
            <a:r>
              <a:t>   - It iteratively assigns data points to clusters and updates cluster centroids until convergence.</a:t>
            </a:r>
          </a:p>
          <a:p>
            <a:r>
              <a:t>**Hierarchical Clustering**: Builds a hierarchy of clusters, either by starting with individual points and merging them (agglomerative) or starting with one cluster and dividing it (divisive).</a:t>
            </a:r>
          </a:p>
          <a:p>
            <a:r>
              <a:t>**Principal Component Analysis (PCA)**: A dimensionality reduction technique that transforms data into a new set of orthogonal variables called principal components, capturing maximum variance.</a:t>
            </a:r>
          </a:p>
          <a:p>
            <a:r>
              <a:t>   - Useful for visualizing high-dimensional data, reducing noise, and speeding up subsequent supervised learning tasks.</a:t>
            </a:r>
          </a:p>
          <a:p>
            <a:r>
              <a:t>Other techniques include Independent Component Analysis (ICA) and various anomaly detection algorithms.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Learning: Challenges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**Data Quality**: ML models are only as good as the data they're trained on; bias in data leads to biased models.</a:t>
            </a:r>
          </a:p>
          <a:p>
            <a:r>
              <a:t>**Feature Engineering**: Selecting and transforming raw data into features suitable for ML algorithms often requires significant domain expertise.</a:t>
            </a:r>
          </a:p>
          <a:p>
            <a:r>
              <a:t>**Overfitting/Underfitting**: Overfitting occurs when a model performs well on training data but poorly on new data; underfitting means the model is too simple to capture patterns.</a:t>
            </a:r>
          </a:p>
          <a:p>
            <a:r>
              <a:t>**Interpretability**: Complex models (e.g., deep neural networks) can be 'black boxes', making it hard to understand *why* they make certain predictions.</a:t>
            </a:r>
          </a:p>
          <a:p>
            <a:r>
              <a:t>**Ethical Concerns**: Bias, fairness, privacy, and accountability are critical considerations in ML development and deployment, particularly in sensitive applications.</a:t>
            </a:r>
          </a:p>
          <a:p>
            <a:r>
              <a:t>**Computational Resources**: Training large-scale ML models, especially deep learning, often requires significant computational power and energy.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