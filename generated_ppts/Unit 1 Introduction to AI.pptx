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Journey of Intelligence: A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Defining Artificial Intelligence (AI)</a:t>
            </a:r>
          </a:p>
          <a:p>
            <a:r>
              <a:t>Understanding AI's evolution through key milestones</a:t>
            </a:r>
          </a:p>
          <a:p>
            <a:r>
              <a:t>Exploring the cycles of optimism, challenge, and breakthrough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Seeds of Thought: Pre-AI Foundations (Ancient Times - 1950s)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Ancient philosophical inquiries into the nature of thought and machines</a:t>
            </a:r>
          </a:p>
          <a:p>
            <a:r>
              <a:t>Early mechanical calculators (e.g., Pascal, Leibniz, Babbage)</a:t>
            </a:r>
          </a:p>
          <a:p>
            <a:r>
              <a:t>Formal logic and computability theory (Boole, Frege, Turing)</a:t>
            </a:r>
          </a:p>
          <a:p>
            <a:r>
              <a:t>Alan Turing's 'Computing Machinery and Intelligence' (1950) and the Turing Test</a:t>
            </a:r>
          </a:p>
          <a:p>
            <a:r>
              <a:t>Cybernetics and feedback systems (Norbert Wiener)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Birth of a Field: The Dawn of AI (1950s - 1960s)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Dartmouth Workshop (1956): Term 'Artificial Intelligence' coined</a:t>
            </a:r>
          </a:p>
          <a:p>
            <a:r>
              <a:t>Pioneers: John McCarthy, Marvin Minsky, Allen Newell, Herbert A. Simon</a:t>
            </a:r>
          </a:p>
          <a:p>
            <a:r>
              <a:t>First AI programs: Logic Theorist (1956) by Newell and Simon</a:t>
            </a:r>
          </a:p>
          <a:p>
            <a:r>
              <a:t>Early programs for problem-solving, game playing (Checkers by Samuel)</a:t>
            </a:r>
          </a:p>
          <a:p>
            <a:r>
              <a:t>ELIZA (1966): Natural language processing and conversation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Optimism Fades: The First AI Winter (1970s)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enthusiasm and ambitious predictions proved difficult to meet</a:t>
            </a:r>
          </a:p>
          <a:p>
            <a:r>
              <a:t>Limitations of early AI: 'toy problems', lack of common sense, knowledge representation challenges</a:t>
            </a:r>
          </a:p>
          <a:p>
            <a:r>
              <a:t>Lighthill Report (UK, 1973) critiques AI progress and feasibility</a:t>
            </a:r>
          </a:p>
          <a:p>
            <a:r>
              <a:t>Significant funding cuts by governments (e.g., DARPA), leading to disillusionment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Expert Systems Boom (1980s)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Revival focusing on knowledge-intensive, narrow domains</a:t>
            </a:r>
          </a:p>
          <a:p>
            <a:r>
              <a:t>Development of 'Expert Systems': Rule-based systems mimicking human experts</a:t>
            </a:r>
          </a:p>
          <a:p>
            <a:r>
              <a:t>Commercial success: XCON (DEC) configured VAX computers, saving millions</a:t>
            </a:r>
          </a:p>
          <a:p>
            <a:r>
              <a:t>Rise of LISP machines and dedicated AI hardware</a:t>
            </a:r>
          </a:p>
          <a:p>
            <a:r>
              <a:t>Focus on 'symbolic AI' and explicit knowledge representation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Chill: The Second AI Winter (Late 1980s - Early 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maintenance costs and inflexibility of expert systems</a:t>
            </a:r>
          </a:p>
          <a:p>
            <a:r>
              <a:t>Scalability issues and difficulty in handling uncertainty or novelty</a:t>
            </a:r>
          </a:p>
          <a:p>
            <a:r>
              <a:t>Collapse of the LISP machine market due to cheaper, faster general-purpose hardware</a:t>
            </a:r>
          </a:p>
          <a:p>
            <a:r>
              <a:t>Funding decreased again, leading to another period of reduced research and investment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Approach: Machine Learning Renaissance (1990s - 2000s)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from symbolic AI to statistical and data-driven methods</a:t>
            </a:r>
          </a:p>
          <a:p>
            <a:r>
              <a:t>Increased focus on learning from data rather than explicit programming of rules</a:t>
            </a:r>
          </a:p>
          <a:p>
            <a:r>
              <a:t>Emergence of algorithms: Support Vector Machines (SVMs), Decision Trees, Bayesian Networks</a:t>
            </a:r>
          </a:p>
          <a:p>
            <a:r>
              <a:t>Resurgence of Artificial Neural Networks with the backpropagation algorithm</a:t>
            </a:r>
          </a:p>
          <a:p>
            <a:r>
              <a:t>Growing computational power and availability of large datasets (big data concept)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Deep Learning Revolution (2010s - 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Breakthroughs in Artificial Neural Networks with multiple layers ('Deep Learning')</a:t>
            </a:r>
          </a:p>
          <a:p>
            <a:r>
              <a:t>Key enablers: massive datasets, powerful GPUs, and new network architectures (CNNs, RNNs, Transformers)</a:t>
            </a:r>
          </a:p>
          <a:p>
            <a:r>
              <a:t>Significant advancements in image recognition (ImageNet Challenge), speech recognition, and natural language processing</a:t>
            </a:r>
          </a:p>
          <a:p>
            <a:r>
              <a:t>AlphaGo (DeepMind, 2016) defeats world champion in Go, a complex strategic game</a:t>
            </a:r>
          </a:p>
          <a:p>
            <a:r>
              <a:t>AI becomes integrated into mainstream products and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AI &amp; Future Horizons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Proliferation of AI across industries: healthcare, finance, transportation, entertainment</a:t>
            </a:r>
          </a:p>
          <a:p>
            <a:r>
              <a:t>Rise of Generative AI: GANs, Diffusion Models, and Large Language Models (LLMs) like GPT-3/4</a:t>
            </a:r>
          </a:p>
          <a:p>
            <a:r>
              <a:t>Ethical considerations: bias, privacy, job displacement, accountability, AI safety</a:t>
            </a:r>
          </a:p>
          <a:p>
            <a:r>
              <a:t>The ongoing pursuit of Artificial General Intelligence (AGI) and superintelligence</a:t>
            </a:r>
          </a:p>
          <a:p>
            <a:r>
              <a:t>AI continues to reshape human-technology interaction and societal structures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Key Takeaways &amp; 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AI's history is a cyclical journey of ambition, challenge, and innovation</a:t>
            </a:r>
          </a:p>
          <a:p>
            <a:r>
              <a:t>Progress driven by advancements in algorithms, data availability, and computational power</a:t>
            </a:r>
          </a:p>
          <a:p>
            <a:r>
              <a:t>From symbolic logic to statistical learning and deep neural networks, AI constantly adapts</a:t>
            </a:r>
          </a:p>
          <a:p>
            <a:r>
              <a:t>The future of AI holds immense promise and significant ethical and societal challenges</a:t>
            </a:r>
          </a:p>
          <a:p>
            <a:r>
              <a:t>Understanding AI's past is crucial for navigating its future responsibly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the diverse impact of Artificial Intelligence</a:t>
            </a:r>
          </a:p>
          <a:p>
            <a:r>
              <a:t>From daily life to industry transformation</a:t>
            </a:r>
          </a:p>
          <a:p>
            <a:r>
              <a:t>Understanding how AI is reshaping our 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 A Brief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Simulation of human intelligence processes by machines</a:t>
            </a:r>
          </a:p>
          <a:p>
            <a:r>
              <a:t>Encompasses Machine Learning, Deep Learning, NLP, Computer Vision</a:t>
            </a:r>
          </a:p>
          <a:p>
            <a:r>
              <a:t>Focus on problem-solving, learning, and decision-making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Healthcare &amp; 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**Diagnosis &amp; Treatment:** Faster, more accurate disease detection (e.g., cancer, retinal diseases)</a:t>
            </a:r>
          </a:p>
          <a:p>
            <a:r>
              <a:t>**Drug Discovery:** Accelerating research and development of new medications</a:t>
            </a:r>
          </a:p>
          <a:p>
            <a:r>
              <a:t>**Personalized Medicine:** Tailoring treatments based on individual patient data</a:t>
            </a:r>
          </a:p>
          <a:p>
            <a:r>
              <a:t>**Robotic Surgery:** Enhancing precision and minimally invasive procedures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Transportation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**Autonomous Vehicles:** Self-driving cars, drones, and delivery robots</a:t>
            </a:r>
          </a:p>
          <a:p>
            <a:r>
              <a:t>**Traffic Management:** Optimizing flow, reducing congestion, and preventing accidents</a:t>
            </a:r>
          </a:p>
          <a:p>
            <a:r>
              <a:t>**Route Optimization:** Efficient delivery planning for logistics companies</a:t>
            </a:r>
          </a:p>
          <a:p>
            <a:r>
              <a:t>**Predictive Maintenance:** Monitoring vehicle health to prevent breakdowns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Business &amp;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**Fraud Detection:** Identifying suspicious transactions and preventing financial crime</a:t>
            </a:r>
          </a:p>
          <a:p>
            <a:r>
              <a:t>**Algorithmic Trading:** Automating stock trades based on market analysis</a:t>
            </a:r>
          </a:p>
          <a:p>
            <a:r>
              <a:t>**Customer Service:** Chatbots and virtual assistants for 24/7 support</a:t>
            </a:r>
          </a:p>
          <a:p>
            <a:r>
              <a:t>**Personalized Banking:** Tailoring financial advice and product recommendations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Retail &amp;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**Recommendation Systems:** Suggesting products based on user preferences and history</a:t>
            </a:r>
          </a:p>
          <a:p>
            <a:r>
              <a:t>**Inventory Management:** Optimizing stock levels and predicting demand</a:t>
            </a:r>
          </a:p>
          <a:p>
            <a:r>
              <a:t>**Personalized Shopping:** Customized promotions and user experiences</a:t>
            </a:r>
          </a:p>
          <a:p>
            <a:r>
              <a:t>**Supply Chain Optimization:** Improving efficiency from warehouse to customer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Smart Homes &amp;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**Virtual Assistants:** Siri, Alexa, Google Assistant for daily tasks</a:t>
            </a:r>
          </a:p>
          <a:p>
            <a:r>
              <a:t>**Smart Appliances:** AI-powered thermostats, refrigerators, and security systems</a:t>
            </a:r>
          </a:p>
          <a:p>
            <a:r>
              <a:t>**Content Recommendation:** Personalized suggestions for movies, music, and news</a:t>
            </a:r>
          </a:p>
          <a:p>
            <a:r>
              <a:t>**Spam Filtering &amp; Language Translation:** Enhancing communication and accessibility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Manufacturing &amp;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**Industrial Automation:** Robots performing repetitive or dangerous tasks</a:t>
            </a:r>
          </a:p>
          <a:p>
            <a:r>
              <a:t>**Predictive Maintenance:** Anticipating equipment failures to reduce downtime</a:t>
            </a:r>
          </a:p>
          <a:p>
            <a:r>
              <a:t>**Quality Control:** AI-powered vision systems detecting defects instantly</a:t>
            </a:r>
          </a:p>
          <a:p>
            <a:r>
              <a:t>**Supply Chain Optimization:** Managing logistics and inventory more efficiently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 &amp;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**Bias &amp; Fairness:** Ensuring AI systems are equitable and non-discriminatory</a:t>
            </a:r>
          </a:p>
          <a:p>
            <a:r>
              <a:t>**Privacy &amp; Security:** Protecting personal data used by AI applications</a:t>
            </a:r>
          </a:p>
          <a:p>
            <a:r>
              <a:t>**Job Displacement:** Adapting to changes in the workforce due to automation</a:t>
            </a:r>
          </a:p>
          <a:p>
            <a:r>
              <a:t>**Emerging Trends:** Generative AI, Explainable AI (XAI), AI for Sustainability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 transformative force across all sectors, enhancing efficiency and innovation</a:t>
            </a:r>
          </a:p>
          <a:p>
            <a:r>
              <a:t>Its applications continue to expand, offering solutions to complex challenges</a:t>
            </a:r>
          </a:p>
          <a:p>
            <a:r>
              <a:t>Responsible development and deployment are crucial for maximizing benefits</a:t>
            </a:r>
          </a:p>
          <a:p>
            <a:r>
              <a:t>The future of AI promises even more profound societal and economic impacts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AI's Autonomous Entities</a:t>
            </a:r>
          </a:p>
          <a:p>
            <a:r>
              <a:t>A Core Concept in Artificial Intelligence</a:t>
            </a:r>
          </a:p>
          <a:p>
            <a:r>
              <a:t>Perceive, Reason, Act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**Definition:** Autonomous entities that perceive their environment and act upon it to achieve goals.</a:t>
            </a:r>
          </a:p>
          <a:p>
            <a:r>
              <a:t>Inspired by human intelligence and decision-making processes.</a:t>
            </a:r>
          </a:p>
          <a:p>
            <a:r>
              <a:t>Operate continuously and independently in dynamic environments.</a:t>
            </a:r>
          </a:p>
          <a:p>
            <a:r>
              <a:t>The 'brain' behind many AI systems, from robots to software bots.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an 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**Percepts:** Sensory inputs received from the environment (e.g., camera feed, sensor data).</a:t>
            </a:r>
          </a:p>
          <a:p>
            <a:r>
              <a:t>**Agent Function:** The internal logic that maps percept sequences to actions.</a:t>
            </a:r>
          </a:p>
          <a:p>
            <a:r>
              <a:t>**Actions:** Outputs that affect the environment (e.g., moving, speaking, sending data).</a:t>
            </a:r>
          </a:p>
          <a:p>
            <a:r>
              <a:t>**Environment:** The world in which the agent operates and interacts.</a:t>
            </a:r>
          </a:p>
          <a:p>
            <a:r>
              <a:t>**Performance Measure:** A metric used to evaluate the success or effectiveness of the agent's actions.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**Simple Reflex Agents:** Reacts directly to current percepts (e.g., thermostat).</a:t>
            </a:r>
          </a:p>
          <a:p>
            <a:r>
              <a:t>**Model-Based Reflex Agents:** Maintains internal state (a 'model' of the world) to handle partially observable environments.</a:t>
            </a:r>
          </a:p>
          <a:p>
            <a:r>
              <a:t>**Goal-Based Agents:** Uses goals to make decisions, considering future outcomes and planning sequences of actions.</a:t>
            </a:r>
          </a:p>
          <a:p>
            <a:r>
              <a:t>**Utility-Based Agents:** Aims to maximize its own 'utility' or happiness, choosing actions that yield the highest expected outcome.</a:t>
            </a:r>
          </a:p>
          <a:p>
            <a:r>
              <a:t>**Learning Agents:** Possesses mechanisms to learn from experience and improve performance over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**Autonomy:** Operates without continuous human intervention, making its own decisions.</a:t>
            </a:r>
          </a:p>
          <a:p>
            <a:r>
              <a:t>**Reactivity:** Responds to changes in its environment in a timely and appropriate manner.</a:t>
            </a:r>
          </a:p>
          <a:p>
            <a:r>
              <a:t>**Pro-activity:** Initiates actions based on its goals, rather than merely reacting to stimuli.</a:t>
            </a:r>
          </a:p>
          <a:p>
            <a:r>
              <a:t>**Social Ability:** (Especially in Multi-Agent Systems) Can interact and communicate with other agents or humans.</a:t>
            </a:r>
          </a:p>
          <a:p>
            <a:r>
              <a:t>**Adaptability:** Ability to adjust its behavior and goals based on new information or changes in the environment.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**Robotics:** Autonomous navigation, industrial automation, humanoid robots.</a:t>
            </a:r>
          </a:p>
          <a:p>
            <a:r>
              <a:t>**Gaming:** Non-Player Characters (NPCs) with intelligent behavior, strategic opponents.</a:t>
            </a:r>
          </a:p>
          <a:p>
            <a:r>
              <a:t>**E-commerce:** Recommendation systems, automated trading, customer service chatbots.</a:t>
            </a:r>
          </a:p>
          <a:p>
            <a:r>
              <a:t>**Healthcare:** Diagnostic assistants, personalized treatment plans, drug discovery.</a:t>
            </a:r>
          </a:p>
          <a:p>
            <a:r>
              <a:t>**Smart Homes/Cities:** Environmental control, security systems, traffic management.</a:t>
            </a:r>
          </a:p>
          <a:p>
            <a:r>
              <a:t>**Virtual Personal Assistants:** Siri, Google Assistant, Alexa – understanding queries and performing tasks.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**Complexity &amp; Scalability:** Designing agents for highly complex and dynamic real-world environments.</a:t>
            </a:r>
          </a:p>
          <a:p>
            <a:r>
              <a:t>**Ethical Considerations:** Bias in decision-making, accountability, transparency of actions.</a:t>
            </a:r>
          </a:p>
          <a:p>
            <a:r>
              <a:t>**Human-Agent Interaction:** Developing intuitive and trustworthy interfaces for collaboration.</a:t>
            </a:r>
          </a:p>
          <a:p>
            <a:r>
              <a:t>**Learning Efficiency:** Reducing the need for vast amounts of data and computational resources.</a:t>
            </a:r>
          </a:p>
          <a:p>
            <a:r>
              <a:t>**Robustness &amp; Reliability:** Ensuring agents perform consistently and safely in unforeseen situations.</a:t>
            </a:r>
          </a:p>
          <a:p>
            <a:r>
              <a:t>**Emergent Intelligence:** Developing systems of agents that can achieve complex collective goals.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agents are fundamental building blocks of modern AI systems.</a:t>
            </a:r>
          </a:p>
          <a:p>
            <a:r>
              <a:t>They empower autonomous decision-making and action across diverse domains.</a:t>
            </a:r>
          </a:p>
          <a:p>
            <a:r>
              <a:t>From simple reflexes to complex learning algorithms, agent types vary greatly.</a:t>
            </a:r>
          </a:p>
          <a:p>
            <a:r>
              <a:t>Their applications are vast and continue to expand, transforming industries and daily life.</a:t>
            </a:r>
          </a:p>
          <a:p>
            <a:r>
              <a:t>Ongoing research addresses significant challenges, paving the way for more sophisticated and integrated autonomous systems.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Solving: Navigating Challenges, Finding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essential skill for personal growth and professional success.</a:t>
            </a:r>
          </a:p>
          <a:p>
            <a:r>
              <a:t>A structured approach to overcoming obstacles.</a:t>
            </a:r>
          </a:p>
          <a:p>
            <a:r>
              <a:t>Empowering you to tackle complex situations effectively.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Problem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process of identifying a discrepancy between a current state and a desired state.</a:t>
            </a:r>
          </a:p>
          <a:p>
            <a:r>
              <a:t>Involves analyzing situations, developing solutions, and implementing them.</a:t>
            </a:r>
          </a:p>
          <a:p>
            <a:r>
              <a:t>More than just finding an answer; it's about finding the *best* answer given constraints.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Problem Solving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**Personal Growth:** Builds resilience, critical thinking, and adaptability.</a:t>
            </a:r>
          </a:p>
          <a:p>
            <a:r>
              <a:t>**Professional Success:** Highly valued skill in all industries and roles.</a:t>
            </a:r>
          </a:p>
          <a:p>
            <a:r>
              <a:t>**Innovation &amp; Progress:** Drives new ideas and improvements.</a:t>
            </a:r>
          </a:p>
          <a:p>
            <a:r>
              <a:t>**Decision Making:** Improves the quality and confidence in choices.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Problem-Solving Process (A General 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Often iterative and not always linear.</a:t>
            </a:r>
          </a:p>
          <a:p>
            <a:r>
              <a:t>Provides structure to complex challenges.</a:t>
            </a:r>
          </a:p>
          <a:p>
            <a:r>
              <a:t>Enhances clarity and efficiency in finding solutions.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Define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**Identify the Core Issue:** What exactly needs to be solved?</a:t>
            </a:r>
          </a:p>
          <a:p>
            <a:r>
              <a:t>**Gather Information:** Facts, symptoms, context (Who, What, When, Where, Why, How).</a:t>
            </a:r>
          </a:p>
          <a:p>
            <a:r>
              <a:t>**Avoid Jumping to Solutions:** Ensure a clear understanding first.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Analyze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**Break Down Complexity:** Deconstruct into smaller, manageable parts.</a:t>
            </a:r>
          </a:p>
          <a:p>
            <a:r>
              <a:t>**Root Cause Analysis:** Go beyond symptoms to find underlying causes (e.g., 5 Whys).</a:t>
            </a:r>
          </a:p>
          <a:p>
            <a:r>
              <a:t>**Identify Constraints &amp; Resources:** What are the limitations and available tools?</a:t>
            </a:r>
          </a:p>
          <a:p>
            <a:r>
              <a:t>**Understand Stakeholders:** Who is affected? Whose input is needed?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Brainstorm Potential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**Encourage Creativity:** Think outside the box, no idea is too silly initially.</a:t>
            </a:r>
          </a:p>
          <a:p>
            <a:r>
              <a:t>**Generate Multiple Options:** Don't settle for the first idea.</a:t>
            </a:r>
          </a:p>
          <a:p>
            <a:r>
              <a:t>**Techniques:** Brainstorming, mind mapping, SCAMPER.</a:t>
            </a:r>
          </a:p>
          <a:p>
            <a:r>
              <a:t>**Involve Diverse Perspectives:** Different viewpoints lead to richer ideas.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Evaluate and Select the Best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**Assess Against Criteria:** Feasibility, cost, impact, risk, timeline, resources.</a:t>
            </a:r>
          </a:p>
          <a:p>
            <a:r>
              <a:t>**Pros and Cons Analysis:** Weigh the advantages and disadvantages.</a:t>
            </a:r>
          </a:p>
          <a:p>
            <a:r>
              <a:t>**Decision-Making Tools:** Decision matrices, impact/effort matrix.</a:t>
            </a:r>
          </a:p>
          <a:p>
            <a:r>
              <a:t>**Choose the 'Best Fit':** Most optimal given current circumstances.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Implement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**Develop an Action Plan:** Specific steps, responsibilities, deadlines.</a:t>
            </a:r>
          </a:p>
          <a:p>
            <a:r>
              <a:t>**Communicate Clearly:** Inform all relevant parties.</a:t>
            </a:r>
          </a:p>
          <a:p>
            <a:r>
              <a:t>**Monitor Progress:** Track key indicators and milestones.</a:t>
            </a:r>
          </a:p>
          <a:p>
            <a:r>
              <a:t>**Be Adaptable:** Adjust the plan as needed based on initial results.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Review and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**Evaluate Effectiveness:** Did the solution solve the problem? What was the outcome?</a:t>
            </a:r>
          </a:p>
          <a:p>
            <a:r>
              <a:t>**Gather Feedback:** From those affected and involved.</a:t>
            </a:r>
          </a:p>
          <a:p>
            <a:r>
              <a:t>**Identify Lessons Learned:** What worked well? What could be improved next time?</a:t>
            </a:r>
          </a:p>
          <a:p>
            <a:r>
              <a:t>**Document Findings:** For future reference and continuous improvement.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Obstacles to Effective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**Confirmation Bias:** Seeking only information that supports preconceived notions.</a:t>
            </a:r>
          </a:p>
          <a:p>
            <a:r>
              <a:t>**Fear of Failure:** Hesitation to take risks or try new approaches.</a:t>
            </a:r>
          </a:p>
          <a:p>
            <a:r>
              <a:t>**Lack of Information/Analysis:** Incomplete understanding of the problem.</a:t>
            </a:r>
          </a:p>
          <a:p>
            <a:r>
              <a:t>**Groupthink:** Conforming to group opinion rather than expressing dissent.</a:t>
            </a:r>
          </a:p>
          <a:p>
            <a:r>
              <a:t>**Emotional Barriers:** Stress, frustration, or personal biases affecting judgment.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 for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**Mind Mapping:** Visual organization of ideas and relationships.</a:t>
            </a:r>
          </a:p>
          <a:p>
            <a:r>
              <a:t>**Fishbone Diagram (Ishikawa):** For identifying root causes.</a:t>
            </a:r>
          </a:p>
          <a:p>
            <a:r>
              <a:t>**5 Whys:** Repeatedly asking 'why' to uncover underlying issues.</a:t>
            </a:r>
          </a:p>
          <a:p>
            <a:r>
              <a:t>**SWOT Analysis:** Strengths, Weaknesses, Opportunities, Threats assessment.</a:t>
            </a:r>
          </a:p>
          <a:p>
            <a:r>
              <a:t>**Lateral Thinking:** Generating creative solutions by looking at problems from new angles.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Problem-solving is a structured, yet flexible process.</a:t>
            </a:r>
          </a:p>
          <a:p>
            <a:r>
              <a:t>It's a learnable skill that improves with practice and experience.</a:t>
            </a:r>
          </a:p>
          <a:p>
            <a:r>
              <a:t>Embrace challenges as opportunities for growth and innovation.</a:t>
            </a:r>
          </a:p>
          <a:p>
            <a:r>
              <a:t>Effective problem solvers are invaluable in any context, driving progress and success.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>
            <a:r>
              <a:t>What are your biggest problem-solving challenges or successful strategies?</a:t>
            </a:r>
          </a:p>
          <a:p>
            <a:r>
              <a:t>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