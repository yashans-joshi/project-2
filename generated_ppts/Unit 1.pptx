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Dawn of AI: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Defining Artificial Intelligence: Machines simulating human intelligence.</a:t>
            </a:r>
          </a:p>
          <a:p>
            <a:r>
              <a:t>Why study AI's history? Understanding current trends and future directions.</a:t>
            </a:r>
          </a:p>
          <a:p>
            <a:r>
              <a:t>A journey through conceptualization, breakthroughs, winters, and modern resurgence.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Philosophical Roots &amp; Early Concepts (Pre-1950s)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Ancient myths and automata dreaming of intelligent machines.</a:t>
            </a:r>
          </a:p>
          <a:p>
            <a:r>
              <a:t>Philosophical inquiries into mind, logic, and reasoning (e.g., Aristotle, Descartes).</a:t>
            </a:r>
          </a:p>
          <a:p>
            <a:r>
              <a:t>Pioneering work in formal logic and computation (Boole, Babbage, Lovelace, Turing).</a:t>
            </a:r>
          </a:p>
          <a:p>
            <a:r>
              <a:t>Alan Turing's 'Computing Machinery and Intelligence' (1950) and the Turing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Birth of AI (1956-1960s)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Dartmouth Summer Research Project on Artificial Intelligence (1956) coined the term 'AI'.</a:t>
            </a:r>
          </a:p>
          <a:p>
            <a:r>
              <a:t>Key figures: John McCarthy, Marvin Minsky, Allen Newell, Herbert A. Simon.</a:t>
            </a:r>
          </a:p>
          <a:p>
            <a:r>
              <a:t>Early triumphs: Logic Theorist (first AI program), General Problem Solver (GPS).</a:t>
            </a:r>
          </a:p>
          <a:p>
            <a:r>
              <a:t>Development of LISP, a foundational programming language for AI research.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Enthusiasm &amp; First AI Winter (1960s-1970s)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Grand promises of human-level AI within years led to high expectations.</a:t>
            </a:r>
          </a:p>
          <a:p>
            <a:r>
              <a:t>Challenges emerged: 'Toy problems' didn't scale to real-world complexity.</a:t>
            </a:r>
          </a:p>
          <a:p>
            <a:r>
              <a:t>Limitations of symbolic AI: 'Common sense' knowledge proved difficult to encode.</a:t>
            </a:r>
          </a:p>
          <a:p>
            <a:r>
              <a:t>The Lighthill Report (1973) critiqued AI's progress, leading to funding cuts and the 'AI Winter'.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Expert Systems &amp; Second AI Winter (1980s-Early 1990s)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Rise of 'Expert Systems': AI programs designed to mimic human experts in narrow domains.</a:t>
            </a:r>
          </a:p>
          <a:p>
            <a:r>
              <a:t>Commercial success examples: MYCIN (medical diagnosis), XCON (computer configuration).</a:t>
            </a:r>
          </a:p>
          <a:p>
            <a:r>
              <a:t>Japan's Fifth Generation Computer Systems project fueled global AI investment.</a:t>
            </a:r>
          </a:p>
          <a:p>
            <a:r>
              <a:t>Limitations: Brittleness, knowledge acquisition bottleneck, maintenance costs.</a:t>
            </a:r>
          </a:p>
          <a:p>
            <a:r>
              <a:t>Decline of expert systems and a second 'AI Winter' as promises again outstripped reality.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Resurgence (Late 1990s-2000s)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Shift from symbolic AI to statistical and data-driven approaches (Machine Learning).</a:t>
            </a:r>
          </a:p>
          <a:p>
            <a:r>
              <a:t>Growth of the internet provided vast datasets for training algorithms.</a:t>
            </a:r>
          </a:p>
          <a:p>
            <a:r>
              <a:t>Advancements in algorithms: Support Vector Machines (SVMs), decision trees, Bayesian networks.</a:t>
            </a:r>
          </a:p>
          <a:p>
            <a:r>
              <a:t>AI became integrated into everyday applications like spam filters and recommendation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 &amp; Modern AI Boom (2010s-Present)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Rebirth of Artificial Neural Networks, rebranded as 'Deep Learning'.</a:t>
            </a:r>
          </a:p>
          <a:p>
            <a:r>
              <a:t>Key drivers: Increased computational power (GPUs), vast amounts of data, algorithmic innovations.</a:t>
            </a:r>
          </a:p>
          <a:p>
            <a:r>
              <a:t>Breakthroughs in image recognition (ImageNet), natural language processing, and game playing (AlphaGo).</a:t>
            </a:r>
          </a:p>
          <a:p>
            <a:r>
              <a:t>The era of Generative AI: Large Language Models (LLMs) and diffusion models transforming content creation.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Landscape &amp;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Ubiquitous AI: Powering smartphones, autonomous vehicles, healthcare, finance, and more.</a:t>
            </a:r>
          </a:p>
          <a:p>
            <a:r>
              <a:t>Focus areas: Ethical AI, explainable AI (XAI), safety, and regulatory frameworks.</a:t>
            </a:r>
          </a:p>
          <a:p>
            <a:r>
              <a:t>Ongoing research in Artificial General Intelligence (AGI) and more robust, adaptable systems.</a:t>
            </a:r>
          </a:p>
          <a:p>
            <a:r>
              <a:t>Challenges ahead: Bias, privacy, job displacement, and societal impact.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A Continuous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AI's history is marked by cycles of hype, disillusionment, and sustained progress.</a:t>
            </a:r>
          </a:p>
          <a:p>
            <a:r>
              <a:t>Each 'winter' led to new paradigms and more robust approaches.</a:t>
            </a:r>
          </a:p>
          <a:p>
            <a:r>
              <a:t>From philosophical dreams to powerful algorithms, AI continues to redefine possibilities.</a:t>
            </a:r>
          </a:p>
          <a:p>
            <a:r>
              <a:t>The journey of creating intelligent machines is far from over, with new frontiers constantly emerging.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Exploring the Diverse Landscape of Artificial Intelligence in 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Artificial Intelligence?</a:t>
            </a:r>
          </a:p>
          <a:p>
            <a:r>
              <a:t>Brief history and evolution of AI</a:t>
            </a:r>
          </a:p>
          <a:p>
            <a:r>
              <a:t>The omnipresence of AI in modern life</a:t>
            </a:r>
          </a:p>
          <a:p>
            <a:r>
              <a:t>Overview of topics to be covered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Healthcare &amp; Medicine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Diagnostic assistance and disease detection (e.g., medical imaging analysis)</a:t>
            </a:r>
          </a:p>
          <a:p>
            <a:r>
              <a:t>Drug discovery and personalized medicine</a:t>
            </a:r>
          </a:p>
          <a:p>
            <a:r>
              <a:t>Robotic surgery and precision operations</a:t>
            </a:r>
          </a:p>
          <a:p>
            <a:r>
              <a:t>Predictive analytics for patient outcomes and resource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Finance &amp; Banking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detection and prevention</a:t>
            </a:r>
          </a:p>
          <a:p>
            <a:r>
              <a:t>Algorithmic trading and market analysis</a:t>
            </a:r>
          </a:p>
          <a:p>
            <a:r>
              <a:t>Personalized financial advice and chatbots</a:t>
            </a:r>
          </a:p>
          <a:p>
            <a:r>
              <a:t>Credit scoring and risk assessment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Transportation &amp; 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vehicles (self-driving cars, drones)</a:t>
            </a:r>
          </a:p>
          <a:p>
            <a:r>
              <a:t>Traffic management and optimization</a:t>
            </a:r>
          </a:p>
          <a:p>
            <a:r>
              <a:t>Route planning and supply chain efficiency</a:t>
            </a:r>
          </a:p>
          <a:p>
            <a:r>
              <a:t>Predictive maintenance for vehicles and infrastructure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Service &amp;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Chatbots and virtual assistants for instant support</a:t>
            </a:r>
          </a:p>
          <a:p>
            <a:r>
              <a:t>Personalized recommendations (e-commerce, streaming)</a:t>
            </a:r>
          </a:p>
          <a:p>
            <a:r>
              <a:t>Sentiment analysis for customer feedback</a:t>
            </a:r>
          </a:p>
          <a:p>
            <a:r>
              <a:t>Automated call centers and voice assistants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 &amp;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Personalized learning platforms and adaptive content</a:t>
            </a:r>
          </a:p>
          <a:p>
            <a:r>
              <a:t>Automated grading and feedback systems</a:t>
            </a:r>
          </a:p>
          <a:p>
            <a:r>
              <a:t>Virtual tutors and intelligent teaching assistants</a:t>
            </a:r>
          </a:p>
          <a:p>
            <a:r>
              <a:t>Predictive analytics for student performance and retention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Entertainment &amp;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recommendation engines (Netflix, Spotify)</a:t>
            </a:r>
          </a:p>
          <a:p>
            <a:r>
              <a:t>Generative AI for art, music, and scriptwriting</a:t>
            </a:r>
          </a:p>
          <a:p>
            <a:r>
              <a:t>Special effects in movies and gaming AI</a:t>
            </a:r>
          </a:p>
          <a:p>
            <a:r>
              <a:t>Personalized news feeds and content curation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Manufacturing &amp; Robotics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assembly lines and quality control</a:t>
            </a:r>
          </a:p>
          <a:p>
            <a:r>
              <a:t>Predictive maintenance for machinery</a:t>
            </a:r>
          </a:p>
          <a:p>
            <a:r>
              <a:t>Robotics for hazardous environments and repetitive tasks</a:t>
            </a:r>
          </a:p>
          <a:p>
            <a:r>
              <a:t>Supply chain optimization and inventory management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Agriculture &amp; Food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Precision farming and crop monitoring (drones, sensors)</a:t>
            </a:r>
          </a:p>
          <a:p>
            <a:r>
              <a:t>Predictive analytics for yield forecasting and disease detection</a:t>
            </a:r>
          </a:p>
          <a:p>
            <a:r>
              <a:t>Automated harvesting and robotic farm machinery</a:t>
            </a:r>
          </a:p>
          <a:p>
            <a:r>
              <a:t>Resource optimization (water, fertilizers)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Threat detection and anomaly identification</a:t>
            </a:r>
          </a:p>
          <a:p>
            <a:r>
              <a:t>Behavioral analytics for insider threat detection</a:t>
            </a:r>
          </a:p>
          <a:p>
            <a:r>
              <a:t>Automated incident response</a:t>
            </a:r>
          </a:p>
          <a:p>
            <a:r>
              <a:t>Facial recognition and biometric authentication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Bias in AI algorithms and data</a:t>
            </a:r>
          </a:p>
          <a:p>
            <a:r>
              <a:t>Privacy concerns and data security</a:t>
            </a:r>
          </a:p>
          <a:p>
            <a:r>
              <a:t>Job displacement and societal impact</a:t>
            </a:r>
          </a:p>
          <a:p>
            <a:r>
              <a:t>The need for responsible AI development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AI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Continued integration into daily life</a:t>
            </a:r>
          </a:p>
          <a:p>
            <a:r>
              <a:t>Advancements in general AI and AGI research</a:t>
            </a:r>
          </a:p>
          <a:p>
            <a:r>
              <a:t>Emergence of new, unforeseen applications</a:t>
            </a:r>
          </a:p>
          <a:p>
            <a:r>
              <a:t>Focus on human-AI collaboration and augmentation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a transformative technology across all sectors</a:t>
            </a:r>
          </a:p>
          <a:p>
            <a:r>
              <a:t>Driving innovation, efficiency, and new possibilities</a:t>
            </a:r>
          </a:p>
          <a:p>
            <a:r>
              <a:t>Requires careful consideration of ethical implications</a:t>
            </a:r>
          </a:p>
          <a:p>
            <a:r>
              <a:t>The journey of AI is just beginning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Intelligent Agents: An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are Intelligent Agents?</a:t>
            </a:r>
          </a:p>
          <a:p>
            <a:r>
              <a:t>Core concepts and characteristics</a:t>
            </a:r>
          </a:p>
          <a:p>
            <a:r>
              <a:t>Why study Intelligent Agents?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Defining an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agent is anything that can perceive its environment through sensors and act upon that environment through actuators.</a:t>
            </a:r>
          </a:p>
          <a:p>
            <a:r>
              <a:t>Percept: Agent's input at any given moment.</a:t>
            </a:r>
          </a:p>
          <a:p>
            <a:r>
              <a:t>Percept Sequence: Complete history of everything the agent has ever perceived.</a:t>
            </a:r>
          </a:p>
          <a:p>
            <a:r>
              <a:t>Agent Function: Maps percept sequences to actions.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PEAS Description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framework for specifying an agent's task environment.</a:t>
            </a:r>
          </a:p>
          <a:p>
            <a:r>
              <a:t>P - Performance Measure: Criteria for success.</a:t>
            </a:r>
          </a:p>
          <a:p>
            <a:r>
              <a:t>E - Environment: The world the agent inhabits.</a:t>
            </a:r>
          </a:p>
          <a:p>
            <a:r>
              <a:t>A - Actuators: Means by which the agent affects the environment.</a:t>
            </a:r>
          </a:p>
          <a:p>
            <a:r>
              <a:t>S - Sensors: Means by which the agent perceives the environment.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of Environments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Fully Observable vs. Partially Observable</a:t>
            </a:r>
          </a:p>
          <a:p>
            <a:r>
              <a:t>Deterministic vs. Stochastic</a:t>
            </a:r>
          </a:p>
          <a:p>
            <a:r>
              <a:t>Episodic vs. Sequential</a:t>
            </a:r>
          </a:p>
          <a:p>
            <a:r>
              <a:t>Static vs. Dynamic</a:t>
            </a:r>
          </a:p>
          <a:p>
            <a:r>
              <a:t>Discrete vs. Continuous</a:t>
            </a:r>
          </a:p>
          <a:p>
            <a:r>
              <a:t>Single Agent vs. Multi-Agent (Competitive/Cooperative)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Types: Simple Reflex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Acts solely based on the current percept, ignoring the rest of the percept history.</a:t>
            </a:r>
          </a:p>
          <a:p>
            <a:r>
              <a:t>Uses 'condition-action rules' (if-then rules).</a:t>
            </a:r>
          </a:p>
          <a:p>
            <a:r>
              <a:t>Simple to implement but limited rationality.</a:t>
            </a:r>
          </a:p>
          <a:p>
            <a:r>
              <a:t>Example: Vacuum cleaner agent moving if dirt is present.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Types: Model-Based Reflex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Maintains an internal state (model) of the world.</a:t>
            </a:r>
          </a:p>
          <a:p>
            <a:r>
              <a:t>Uses percept history to update the model.</a:t>
            </a:r>
          </a:p>
          <a:p>
            <a:r>
              <a:t>Helps deal with partially observable environments.</a:t>
            </a:r>
          </a:p>
          <a:p>
            <a:r>
              <a:t>Example: Self-driving car using a map and sensor data to infer current location.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Types: Goal-Based &amp; Utility-Based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Goal-Based: Considers future actions and outcomes to achieve specific goals.</a:t>
            </a:r>
          </a:p>
          <a:p>
            <a:r>
              <a:t>Utility-Based: Selects actions that maximize expected utility (measure of 'happiness' or 'satisfaction').</a:t>
            </a:r>
          </a:p>
          <a:p>
            <a:r>
              <a:t>More flexible and rational, but computationally intensive.</a:t>
            </a:r>
          </a:p>
          <a:p>
            <a:r>
              <a:t>Example: A medical diagnosis agent optimizing patient health outcomes.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Types: Learning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Possess the ability to learn and improve their performance over time.</a:t>
            </a:r>
          </a:p>
          <a:p>
            <a:r>
              <a:t>Composed of four conceptual components: learning element, performance element, critic, and problem generator.</a:t>
            </a:r>
          </a:p>
          <a:p>
            <a:r>
              <a:t>Can adapt to unknown or changing environments.</a:t>
            </a:r>
          </a:p>
          <a:p>
            <a:r>
              <a:t>Example: Reinforcement learning agents in games or robotics.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Intelligent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Robotics and Autonomous Systems (e.g., self-driving cars, industrial robots)</a:t>
            </a:r>
          </a:p>
          <a:p>
            <a:r>
              <a:t>Virtual Assistants (e.g., Siri, Alexa, Google Assistant)</a:t>
            </a:r>
          </a:p>
          <a:p>
            <a:r>
              <a:t>Game AI (e.g., NPCs in video games)</a:t>
            </a:r>
          </a:p>
          <a:p>
            <a:r>
              <a:t>Web Crawlers and Search Engine Optimization</a:t>
            </a:r>
          </a:p>
          <a:p>
            <a:r>
              <a:t>Healthcare (e.g., diagnostic systems, drug discovery)</a:t>
            </a:r>
          </a:p>
          <a:p>
            <a:r>
              <a:t>Finance (e.g., algorithmic trading, fraud detection)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Handling real-world uncertainty and complexity.</a:t>
            </a:r>
          </a:p>
          <a:p>
            <a:r>
              <a:t>Ensuring ethical behavior and preventing bias (AI ethics).</a:t>
            </a:r>
          </a:p>
          <a:p>
            <a:r>
              <a:t>Achieving true common sense reasoning.</a:t>
            </a:r>
          </a:p>
          <a:p>
            <a:r>
              <a:t>Developing explainable AI (XAI) for agents.</a:t>
            </a:r>
          </a:p>
          <a:p>
            <a:r>
              <a:t>Towards truly autonomous and general-purpose intelligent agents.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 Agents form the foundation of many AI systems.</a:t>
            </a:r>
          </a:p>
          <a:p>
            <a:r>
              <a:t>Different agent types are suited for different tasks and environments.</a:t>
            </a:r>
          </a:p>
          <a:p>
            <a:r>
              <a:t>The field continues to evolve, pushing boundaries in autonomy and problem-solving.</a:t>
            </a:r>
          </a:p>
          <a:p>
            <a:r>
              <a:t>Intelligent agents will continue to transform industries and daily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