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 Introduction: Integration and Synthesis in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Welcome to 'Integration and Synthesis in AI', a unit exploring the multifaceted landscape of artificial intelligence.</a:t>
            </a:r>
          </a:p>
          <a:p>
            <a:r>
              <a:t>This course bridges theoretical AI concepts with practical applications, emphasizing their interconnections and societal impact.</a:t>
            </a:r>
          </a:p>
          <a:p>
            <a:r>
              <a:t>We will analyze how various AI domains, such as natural language processing and machine learning, converge to create complex intelligent systems.</a:t>
            </a:r>
          </a:p>
          <a:p>
            <a:r>
              <a:t>A core focus will be on the critical evaluation of AI's ethical, social, and technical challenges, promoting responsible innovation.</a:t>
            </a:r>
          </a:p>
          <a:p>
            <a:r>
              <a:t>Through a series of key topics, we aim to develop a holistic understanding of AI's present capabilities and future trajectory.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Sentiment Analysis: Definition and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Sentiment Analysis (SA), also known as opinion mining, is the computational study of peoples' opinions, sentiments, evaluations, attitudes, and emotions towards entities, events, and attributes.</a:t>
            </a:r>
          </a:p>
          <a:p>
            <a:r>
              <a:t>Its primary goal is to determine the emotional tone behind a piece of text, categorizing it as positive, negative, or neutral.</a:t>
            </a:r>
          </a:p>
          <a:p>
            <a:r>
              <a:t>Applications span diverse fields, including customer feedback analysis, social media monitoring, political polling, and market research.</a:t>
            </a:r>
          </a:p>
          <a:p>
            <a:r>
              <a:t>SA is crucial for businesses to understand brand perception, identify product issues, and gauge campaign effectiveness in real-time.</a:t>
            </a:r>
          </a:p>
          <a:p>
            <a:r>
              <a:t>Beyond simple polarity, advanced SA can detect nuances like sarcasm, irony, and the intensity of emotions, offering deeper insights.</a:t>
            </a:r>
          </a:p>
          <a:p>
            <a:r>
              <a:t>It plays a vital role in reputation management, allowing organizations to respond proactively to public sentiment.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Sentiment Analysis: Methodologies and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Lexicon-based approaches utilize pre-defined dictionaries of words annotated with their sentiment scores (e.g., SentiWordNet, VADER).</a:t>
            </a:r>
          </a:p>
          <a:p>
            <a:r>
              <a:t>Machine Learning (ML) methods, such as Naive Bayes, Support Vector Machines (SVMs), and Logistic Regression, learn sentiment classifications from labeled datasets.</a:t>
            </a:r>
          </a:p>
          <a:p>
            <a:r>
              <a:t>Deep Learning (DL) models, particularly Recurrent Neural Networks (RNNs) like LSTMs and transformers, excel at capturing complex contextual patterns and sequential dependencies in text.</a:t>
            </a:r>
          </a:p>
          <a:p>
            <a:r>
              <a:t>Rule-based systems employ linguistic rules and patterns to identify sentiment-bearing phrases and clauses, often combined with lexicon methods.</a:t>
            </a:r>
          </a:p>
          <a:p>
            <a:r>
              <a:t>Hybrid approaches integrate lexicon, ML, and DL techniques to leverage the strengths of each, improving accuracy and robustness.</a:t>
            </a:r>
          </a:p>
          <a:p>
            <a:r>
              <a:t>Feature engineering, including N-grams, TF-IDF, and word embeddings (e.g., Word2Vec, GloVe), is critical for representing text data effectively for ML/DL models.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Sentiment Analysis: Challenges and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Contextual understanding poses a significant challenge, as the sentiment of a word or phrase can change dramatically based on its surrounding text.</a:t>
            </a:r>
          </a:p>
          <a:p>
            <a:r>
              <a:t>Sarcasm and irony detection remains difficult, as these expressions often convey a sentiment opposite to their literal meaning.</a:t>
            </a:r>
          </a:p>
          <a:p>
            <a:r>
              <a:t>Negation handling requires sophisticated linguistic rules to accurately reverse the sentiment of a phrase (e.g., 'not good' vs. 'good').</a:t>
            </a:r>
          </a:p>
          <a:p>
            <a:r>
              <a:t>Domain specificity means models trained on one domain (e.g., movie reviews) may perform poorly on another (e.g., medical texts) due to differing lexicons and contexts.</a:t>
            </a:r>
          </a:p>
          <a:p>
            <a:r>
              <a:t>Subjectivity detection is complex, distinguishing factual statements from opinionated ones, which are the true target of sentiment analysis.</a:t>
            </a:r>
          </a:p>
          <a:p>
            <a:r>
              <a:t>Multilingual sentiment analysis introduces complexities related to language nuances, cultural differences, and resource availability for less common languages.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Sentiment Analysis: Advanced Concepts and Future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Aspect-Based Sentiment Analysis (ABSA) focuses on identifying sentiments towards specific entities or attributes within a text, rather than the overall sentiment.</a:t>
            </a:r>
          </a:p>
          <a:p>
            <a:r>
              <a:t>Fine-grained sentiment analysis expands beyond positive/negative/neutral to include more granular emotional states like joy, anger, sadness, and fear.</a:t>
            </a:r>
          </a:p>
          <a:p>
            <a:r>
              <a:t>Multimodal sentiment analysis integrates data from various modalities, such as text, audio (intonation, tone), and visual cues (facial expressions, body language), for a richer understanding.</a:t>
            </a:r>
          </a:p>
          <a:p>
            <a:r>
              <a:t>Emotion AI aims to move beyond basic sentiment to recognize and interpret a broader spectrum of human emotions, often utilizing psychological models.</a:t>
            </a:r>
          </a:p>
          <a:p>
            <a:r>
              <a:t>Explainable Sentiment Analysis (XSA) seeks to provide insights into why a model made a particular sentiment prediction, enhancing trust and interpretability.</a:t>
            </a:r>
          </a:p>
          <a:p>
            <a:r>
              <a:t>The integration of SA with large language models (LLMs) offers new avenues for highly nuanced and contextually aware sentiment detection.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Chatbots and Language Models: Evolution and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Early chatbots, like ELIZA and PARRY, were predominantly rule-based systems, relying on pattern matching and pre-defined scripts.</a:t>
            </a:r>
          </a:p>
          <a:p>
            <a:r>
              <a:t>The advent of AI brought forth retrieval-based and generative models, moving beyond rigid rules to more dynamic and conversational interactions.</a:t>
            </a:r>
          </a:p>
          <a:p>
            <a:r>
              <a:t>Generative AI models, especially Large Language Models (LLMs), represent a paradigm shift, capable of creating novel and coherent text.</a:t>
            </a:r>
          </a:p>
          <a:p>
            <a:r>
              <a:t>Transformer architecture, introduced in 2017, revolutionized LLMs by utilizing self-attention mechanisms to process entire sequences in parallel, overcoming limitations of RNNs.</a:t>
            </a:r>
          </a:p>
          <a:p>
            <a:r>
              <a:t>Key components of LLMs include encoder-decoder stacks (for seq2seq tasks) or decoder-only stacks (for generative tasks), multi-head attention, and feed-forward networks.</a:t>
            </a:r>
          </a:p>
          <a:p>
            <a:r>
              <a:t>Pre-training on vast corpora of text data (e.g., common crawl, Wikipedia) allows LLMs to learn statistical relationships and linguistic patterns, forming a general understanding of language.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Chatbots and Language Models: Pre-training and Fine-tuning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Pre-training is an unsupervised learning phase where LLMs are exposed to massive text datasets to learn general language understanding and generation capabilities.</a:t>
            </a:r>
          </a:p>
          <a:p>
            <a:r>
              <a:t>Common pre-training objectives include Masked Language Modeling (MLM), where models predict masked words, and Next Sentence Prediction (NSP), for understanding sentence relationships.</a:t>
            </a:r>
          </a:p>
          <a:p>
            <a:r>
              <a:t>The scale of pre-training data and model parameters (billions to trillions) enables emergent abilities like complex reasoning, summarization, and code generation.</a:t>
            </a:r>
          </a:p>
          <a:p>
            <a:r>
              <a:t>Fine-tuning adapts a pre-trained LLM to specific downstream tasks or domains using smaller, labeled datasets, enhancing performance for particular applications.</a:t>
            </a:r>
          </a:p>
          <a:p>
            <a:r>
              <a:t>Techniques like Parameter-Efficient Fine-Tuning (PEFT), such as LoRA, allow for adapting large models with minimal computational cost by updating only a small subset of parameters.</a:t>
            </a:r>
          </a:p>
          <a:p>
            <a:r>
              <a:t>Reinforcement Learning from Human Feedback (RLHF) is a critical fine-tuning step, aligning model outputs with human preferences and ethical guidelines, reducing harmful or unhelpful responses.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Chatbots and Language Models: Capabilities and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LLMs demonstrate remarkable capabilities in natural language understanding (NLU), including sentiment analysis, named entity recognition, and question answering.</a:t>
            </a:r>
          </a:p>
          <a:p>
            <a:r>
              <a:t>Their natural language generation (NLG) prowess extends to creative writing, content creation, summarization, translation, and even code generation.</a:t>
            </a:r>
          </a:p>
          <a:p>
            <a:r>
              <a:t>Chatbots powered by LLMs provide enhanced customer service, offering more natural, personalized, and context-aware interactions than previous generations.</a:t>
            </a:r>
          </a:p>
          <a:p>
            <a:r>
              <a:t>Applications include virtual assistants, educational tools for personalized learning, therapeutic chatbots for mental health support, and tools for data analysis and insight extraction.</a:t>
            </a:r>
          </a:p>
          <a:p>
            <a:r>
              <a:t>LLMs are increasingly used for complex problem-solving, acting as intelligent assistants that can brainstorm ideas, debug code, and draft extensive reports.</a:t>
            </a:r>
          </a:p>
          <a:p>
            <a:r>
              <a:t>The ability to handle multimodal inputs (text, image, audio) is emerging, enabling more comprehensive and interactive AI agents.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Chatbots and Language Models: Limitations and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Hallucination refers to the generation of factually incorrect or nonsensical information that the model presents as true, a significant challenge for reliability.</a:t>
            </a:r>
          </a:p>
          <a:p>
            <a:r>
              <a:t>Bias amplification occurs when LLMs reflect and magnify biases present in their training data, leading to unfair or discriminatory outputs.</a:t>
            </a:r>
          </a:p>
          <a:p>
            <a:r>
              <a:t>Lack of true common-sense reasoning and world knowledge limits their ability to understand complex causal relationships or adapt to novel, unexpected situations.</a:t>
            </a:r>
          </a:p>
          <a:p>
            <a:r>
              <a:t>Ethical concerns include potential for misuse (e.g., deepfakes, misinformation), intellectual property infringement, and job displacement.</a:t>
            </a:r>
          </a:p>
          <a:p>
            <a:r>
              <a:t>Computational cost for training and inference of large models remains extremely high, posing accessibility and environmental challenges.</a:t>
            </a:r>
          </a:p>
          <a:p>
            <a:r>
              <a:t>The 'black box' nature of deep learning models makes it difficult to understand their decision-making process, impacting trust and debuggability.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Chatbots and Language Models: Ethical Considerations and Future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Addressing algorithmic bias is paramount, requiring careful data curation, fairness metrics, and bias detection/mitigation strategies during development and deployment.</a:t>
            </a:r>
          </a:p>
          <a:p>
            <a:r>
              <a:t>Ensuring transparency and interpretability helps users understand how chatbots arrive at their responses, fostering trust and accountability.</a:t>
            </a:r>
          </a:p>
          <a:p>
            <a:r>
              <a:t>The need for robust safety mechanisms to prevent the generation of harmful, hateful, or misleading content is a critical ongoing research area.</a:t>
            </a:r>
          </a:p>
          <a:p>
            <a:r>
              <a:t>Privacy concerns arise from the handling of user data during interactions, necessitating strong data protection and anonymization protocols.</a:t>
            </a:r>
          </a:p>
          <a:p>
            <a:r>
              <a:t>Future directions involve developing more truly multilingual and culturally aware models, reducing current biases towards dominant languages and cultures.</a:t>
            </a:r>
          </a:p>
          <a:p>
            <a:r>
              <a:t>Research into achieving genuine reasoning capabilities, integrating with external knowledge bases, and advancing towards Artificial General Intelligence (AGI) continues.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Ethical Issues in AI: Foundations and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 ethics is a field that examines the moral implications of developing, deploying, and using artificial intelligence systems.</a:t>
            </a:r>
          </a:p>
          <a:p>
            <a:r>
              <a:t>It addresses questions of responsibility, accountability, fairness, transparency, and autonomy in the context of intelligent machines.</a:t>
            </a:r>
          </a:p>
          <a:p>
            <a:r>
              <a:t>Key ethical principles often cited include beneficence (do good), non-maleficence (do no harm), autonomy (respect user agency), and justice (fairness and equity).</a:t>
            </a:r>
          </a:p>
          <a:p>
            <a:r>
              <a:t>Several organizations, such as the EU High-Level Expert Group on AI, OECD, and IEEE, have proposed ethical guidelines and frameworks for responsible AI development.</a:t>
            </a:r>
          </a:p>
          <a:p>
            <a:r>
              <a:t>These frameworks typically advocate for human oversight, technical robustness and safety, privacy and data governance, transparency, diversity, non-discrimination, and accountability.</a:t>
            </a:r>
          </a:p>
          <a:p>
            <a:r>
              <a:t>The 'value alignment problem' refers to the challenge of ensuring that AI systems act in accordance with human values and objectives, especially as AI becomes more autonomous.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Ethical Issues in AI: Key Dilemmas and Concerns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**Bias and Discrimination:** AI systems can perpetuate or amplify societal biases present in their training data, leading to unfair outcomes in areas like hiring, lending, or criminal justice.</a:t>
            </a:r>
          </a:p>
          <a:p>
            <a:r>
              <a:t>**Accountability and Responsibility:** Determining who is responsible when an autonomous AI system causes harm is complex, involving developers, deployers, and users.</a:t>
            </a:r>
          </a:p>
          <a:p>
            <a:r>
              <a:t>**Privacy and Surveillance:** AI's ability to process vast amounts of personal data raises concerns about surveillance, data misuse, and erosion of individual privacy.</a:t>
            </a:r>
          </a:p>
          <a:p>
            <a:r>
              <a:t>**Autonomy and Control:** As AI systems become more capable and autonomous, questions arise about human control over these systems and potential loss of human agency.</a:t>
            </a:r>
          </a:p>
          <a:p>
            <a:r>
              <a:t>**Job Displacement:** The automation driven by AI could lead to significant workforce disruptions, raising ethical concerns about economic inequality and societal stability.</a:t>
            </a:r>
          </a:p>
          <a:p>
            <a:r>
              <a:t>**Misinformation and Manipulation:** AI-powered tools (e.g., deepfakes, persuasive AI) can be used to generate and spread misinformation, potentially influencing public opinion and undermining trust.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Ethical Issues in AI: Case Studies and Real-world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**Facial Recognition:** Used by law enforcement, it raises concerns about privacy, surveillance, and potential for misidentification, particularly among minority groups.</a:t>
            </a:r>
          </a:p>
          <a:p>
            <a:r>
              <a:t>**Autonomous Vehicles:** Ethical dilemmas arise in accident scenarios, where an AI system might have to make choices with conflicting moral outcomes (e.g., sacrificing occupants vs. pedestrians).</a:t>
            </a:r>
          </a:p>
          <a:p>
            <a:r>
              <a:t>**Hiring Algorithms:** AI tools designed to screen job applicants have been found to exhibit gender or racial biases, leading to discriminatory hiring practices.</a:t>
            </a:r>
          </a:p>
          <a:p>
            <a:r>
              <a:t>**Loan Approval Systems:** Predictive algorithms in finance can inadvertently redline certain demographics or neighborhoods based on historical data, perpetuating economic inequality.</a:t>
            </a:r>
          </a:p>
          <a:p>
            <a:r>
              <a:t>**Social Media Content Moderation:** AI-powered moderation systems face challenges in accurately identifying harmful content while avoiding censorship, often exhibiting biases or errors.</a:t>
            </a:r>
          </a:p>
          <a:p>
            <a:r>
              <a:t>**Healthcare Diagnostics:** While AI can improve diagnostic accuracy, ethical questions arise regarding data privacy, informed consent, and the 'black box' nature of clinical AI decisions.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Ethical Issues in AI: Towards Responsible AI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Implementing 'Ethics by Design' and 'Privacy by Design' principles ensures ethical considerations are integrated throughout the entire AI development lifecycle, not as an afterthought.</a:t>
            </a:r>
          </a:p>
          <a:p>
            <a:r>
              <a:t>Developing and adopting robust AI governance frameworks within organizations, including ethical review boards and clear lines of accountability.</a:t>
            </a:r>
          </a:p>
          <a:p>
            <a:r>
              <a:t>Fostering multidisciplinary collaboration, involving ethicists, legal experts, social scientists, and policymakers alongside AI engineers, to address complex ethical challenges.</a:t>
            </a:r>
          </a:p>
          <a:p>
            <a:r>
              <a:t>Promoting AI literacy and education for both developers and the public to ensure a better understanding of AI capabilities, limitations, and ethical implications.</a:t>
            </a:r>
          </a:p>
          <a:p>
            <a:r>
              <a:t>Investing in research on Explainable AI (XAI) to increase transparency and interpretability of AI models, crucial for building trust and accountability.</a:t>
            </a:r>
          </a:p>
          <a:p>
            <a:r>
              <a:t>Establishing clear regulatory guidelines and standards, potentially through international cooperation, to mitigate risks and ensure fair and safe AI deployment.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Ethical Issues in AI: Future Outlook and Global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rise of advanced AI, including potential Artificial General Intelligence (AGI), intensifies ethical questions about sentience, consciousness, and the definition of intelligence.</a:t>
            </a:r>
          </a:p>
          <a:p>
            <a:r>
              <a:t>Geopolitical implications of AI are significant, with a global race for AI supremacy raising concerns about autonomous weapons systems and surveillance technologies.</a:t>
            </a:r>
          </a:p>
          <a:p>
            <a:r>
              <a:t>The 'digital divide' could widen further if access to advanced AI technologies and their benefits is not equitably distributed globally.</a:t>
            </a:r>
          </a:p>
          <a:p>
            <a:r>
              <a:t>International cooperation is crucial for developing shared norms, standards, and treaties regarding AI ethics, safety, and governance.</a:t>
            </a:r>
          </a:p>
          <a:p>
            <a:r>
              <a:t>Continuous public discourse and participatory approaches are essential to shape AI's future in a way that reflects diverse societal values and aspirations.</a:t>
            </a:r>
          </a:p>
          <a:p>
            <a:r>
              <a:t>Striking a balance between fostering innovation and implementing necessary safeguards will be a continuous challenge for policymakers and the AI community.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Bias and Fairness: Understanding AI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 bias refers to systematic and repeatable errors in an AI system that create unfair outcomes, such as favoring one group over others.</a:t>
            </a:r>
          </a:p>
          <a:p>
            <a:r>
              <a:t>Bias can originate from various stages of the AI lifecycle, primarily from biased training data, algorithmic design choices, or flawed evaluation metrics.</a:t>
            </a:r>
          </a:p>
          <a:p>
            <a:r>
              <a:t>**Historical Bias (Societal Bias):** Data reflects existing societal prejudices and inequalities, which are then learned and perpetuated by the AI model.</a:t>
            </a:r>
          </a:p>
          <a:p>
            <a:r>
              <a:t>**Selection Bias:** Occurs when the data used for training is not representative of the real-world population or distribution it's intended to serve.</a:t>
            </a:r>
          </a:p>
          <a:p>
            <a:r>
              <a:t>**Measurement Bias:** Arises from errors in how data is collected, labeled, or measured, leading to inaccurate or incomplete representations.</a:t>
            </a:r>
          </a:p>
          <a:p>
            <a:r>
              <a:t>**Algorithmic Bias:** Can be introduced through specific design choices within the algorithm itself, such as feature selection, model architecture, or optimization objectives.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Bias and Fairness: Manifestations and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**Gender Bias:** AI systems can exhibit gender stereotypes, for example, associating specific professions with one gender, leading to discriminatory hiring recommendations.</a:t>
            </a:r>
          </a:p>
          <a:p>
            <a:r>
              <a:t>**Racial Bias:** Facial recognition systems have shown higher error rates for individuals with darker skin tones, leading to misidentification and disproportionate surveillance.</a:t>
            </a:r>
          </a:p>
          <a:p>
            <a:r>
              <a:t>**Socioeconomic Bias:** Loan approval algorithms might unfairly deny credit to individuals from certain socioeconomic backgrounds based on irrelevant proxies in the data.</a:t>
            </a:r>
          </a:p>
          <a:p>
            <a:r>
              <a:t>**Healthcare Disparities:** AI diagnostic tools trained on data from predominantly certain demographics may perform poorly or inaccurately for underrepresented groups, exacerbating health inequalities.</a:t>
            </a:r>
          </a:p>
          <a:p>
            <a:r>
              <a:t>**Justice System Bias:** Predictive policing algorithms or recidivism prediction tools can perpetuate racial disparities in sentencing and surveillance, based on biased historical arrest data.</a:t>
            </a:r>
          </a:p>
          <a:p>
            <a:r>
              <a:t>The cumulative impact of these biases is the reinforcement of systemic discrimination, erosion of trust in AI, and significant social and economic harms to marginalized communities.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Bias and Fairness: Defining and Measuring Fairness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Fairness in AI is a complex, multi-faceted concept with no single universally accepted definition, often depending on the specific application and context.</a:t>
            </a:r>
          </a:p>
          <a:p>
            <a:r>
              <a:t>**Demographic Parity (Statistical Parity):** Requires that a positive outcome (e.g., loan approval, job offer) is granted at the same rate across different protected groups.</a:t>
            </a:r>
          </a:p>
          <a:p>
            <a:r>
              <a:t>**Equalized Odds:** Demands that a model has equal true positive rates and equal false positive rates across different groups, aiming for equal accuracy for everyone.</a:t>
            </a:r>
          </a:p>
          <a:p>
            <a:r>
              <a:t>**Equality of Opportunity:** Focuses on achieving equal true positive rates across groups, meaning all qualified individuals have an equal chance of receiving a positive outcome.</a:t>
            </a:r>
          </a:p>
          <a:p>
            <a:r>
              <a:t>Other metrics include predictive parity (equal precision), treatment equality (equal false negative and false positive rates), and group unwittingness (outputs are independent of protected attributes).</a:t>
            </a:r>
          </a:p>
          <a:p>
            <a:r>
              <a:t>Measuring fairness often involves identifying 'protected attributes' (e.g., race, gender, age) and then analyzing model performance and outcomes across subgroups defined by these attributes.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Bias and Fairness: Mitigation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**Pre-processing Techniques:** Address bias directly in the data by re-sampling, re-weighting, or modifying features to achieve more balanced and representative datasets before model training.</a:t>
            </a:r>
          </a:p>
          <a:p>
            <a:r>
              <a:t>**In-processing Techniques:** Integrate fairness constraints directly into the model training algorithm, for example, by adding regularization terms that penalize unfair outcomes.</a:t>
            </a:r>
          </a:p>
          <a:p>
            <a:r>
              <a:t>**Post-processing Techniques:** Adjust model predictions after training, such as by applying a different decision threshold for different demographic groups to equalize outcomes.</a:t>
            </a:r>
          </a:p>
          <a:p>
            <a:r>
              <a:t>**Diverse Data Collection:** Actively seek out and incorporate data from underrepresented groups to ensure comprehensive coverage and reduce selection bias.</a:t>
            </a:r>
          </a:p>
          <a:p>
            <a:r>
              <a:t>**Algorithmic Transparency and Auditing:** Regularly audit AI models for bias throughout their lifecycle, using explainable AI (XAI) techniques to understand decision-making.</a:t>
            </a:r>
          </a:p>
          <a:p>
            <a:r>
              <a:t>**Human Oversight and Feedback Loops:** Implement human-in-the-loop systems to review and correct biased AI outputs, using human feedback to continuously refine and improve models.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Bias and Fairness: Policy, Ethics, and Future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Legal and regulatory frameworks, such as anti-discrimination laws, are increasingly being adapted to address algorithmic bias (e.g., the EU AI Act).</a:t>
            </a:r>
          </a:p>
          <a:p>
            <a:r>
              <a:t>Ethical guidelines for AI emphasize fairness, accountability, and transparency as fundamental principles for responsible AI development and deployment.</a:t>
            </a:r>
          </a:p>
          <a:p>
            <a:r>
              <a:t>The concept of 'fairness by design' promotes proactive integration of fairness considerations from the initial stages of AI system development.</a:t>
            </a:r>
          </a:p>
          <a:p>
            <a:r>
              <a:t>Research focuses on developing more robust and context-aware fairness metrics, as well as universal methods for bias detection and mitigation across different AI tasks.</a:t>
            </a:r>
          </a:p>
          <a:p>
            <a:r>
              <a:t>Interdisciplinary collaboration between AI researchers, ethicists, sociologists, and legal scholars is essential to tackle the complex societal dimensions of AI fairness.</a:t>
            </a:r>
          </a:p>
          <a:p>
            <a:r>
              <a:t>Ongoing challenge is the trade-off between fairness and accuracy, as optimizing for one may sometimes come at the expense of the other, requiring careful societal value judgments.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Privacy Concerns: AI and 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AI systems are inherently data-hungry, requiring vast amounts of personal information for training, operation, and personalization, leading to significant privacy concerns.</a:t>
            </a:r>
          </a:p>
          <a:p>
            <a:r>
              <a:t>Data collection often occurs through diverse channels: direct user input, device sensors, online activity tracking, public records, and third-party data brokers.</a:t>
            </a:r>
          </a:p>
          <a:p>
            <a:r>
              <a:t>The sheer volume and variety of data (text, images, audio, biometrics) processed by AI increase the surface area for privacy breaches and misuse.</a:t>
            </a:r>
          </a:p>
          <a:p>
            <a:r>
              <a:t>Even anonymized data can be re-identified when combined with other data sources, posing risks to individual privacy as demonstrated by various studies.</a:t>
            </a:r>
          </a:p>
          <a:p>
            <a:r>
              <a:t>Surveillance technologies powered by AI, such as facial recognition and behavioral analytics, raise concerns about constant monitoring and the erosion of personal space.</a:t>
            </a:r>
          </a:p>
          <a:p>
            <a:r>
              <a:t>User consent mechanisms often lack transparency and granularity, making it difficult for individuals to understand or control how their data is used by AI systems.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Privacy Concerns: Legal and Regulatory Landscape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General Data Protection Regulation (GDPR) in the EU sets stringent rules for data processing, including requirements for lawful basis, transparency, and data subject rights.</a:t>
            </a:r>
          </a:p>
          <a:p>
            <a:r>
              <a:t>The California Consumer Privacy Act (CCPA) and California Privacy Rights Act (CPRA) in the US grant consumers rights over their personal information, including the right to know, delete, and opt-out of sales.</a:t>
            </a:r>
          </a:p>
          <a:p>
            <a:r>
              <a:t>HIPAA (Health Insurance Portability and Accountability Act) specifically protects sensitive health information, imposing strict rules on AI applications in healthcare.</a:t>
            </a:r>
          </a:p>
          <a:p>
            <a:r>
              <a:t>Emerging AI-specific regulations, like the EU AI Act, aim to categorize AI systems by risk level and impose corresponding compliance requirements, including privacy safeguards.</a:t>
            </a:r>
          </a:p>
          <a:p>
            <a:r>
              <a:t>Key legal principles such as data minimization, purpose limitation, and accountability are central to addressing privacy risks in AI development and deployment.</a:t>
            </a:r>
          </a:p>
          <a:p>
            <a:r>
              <a:t>The challenges lie in adapting existing privacy laws, often designed for traditional data processing, to the unique characteristics and complexities of AI systems.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Privacy Concerns: Privacy-Preserving AI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**Differential Privacy:** Adds carefully calibrated noise to data or query results to protect individual privacy while allowing for aggregate statistical analysis.</a:t>
            </a:r>
          </a:p>
          <a:p>
            <a:r>
              <a:t>**Federated Learning:** Enables AI models to be trained on decentralized datasets located on individual devices (e.g., smartphones) without raw data ever leaving the device, enhancing privacy.</a:t>
            </a:r>
          </a:p>
          <a:p>
            <a:r>
              <a:t>**Homomorphic Encryption:** Allows computations to be performed directly on encrypted data without decrypting it first, providing strong privacy guarantees for cloud-based AI processing.</a:t>
            </a:r>
          </a:p>
          <a:p>
            <a:r>
              <a:t>**Secure Multi-Party Computation (SMC):** Allows multiple parties to jointly compute a function over their inputs while keeping those inputs private from each other.</a:t>
            </a:r>
          </a:p>
          <a:p>
            <a:r>
              <a:t>**Generative Adversarial Networks (GANs) for Synthetic Data:** Can generate synthetic data that mimics the statistical properties of real data but contains no actual individual records, used for training models.</a:t>
            </a:r>
          </a:p>
          <a:p>
            <a:r>
              <a:t>**Anonymization and Pseudonymization:** Techniques that remove or replace direct identifiers in data to reduce the risk of re-identification, though not foolproof against advanced attacks.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Privacy Concerns: Balancing Innovation and Privacy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Achieving a balance between leveraging data for AI innovation and protecting individual privacy is a fundamental challenge for policymakers and developers.</a:t>
            </a:r>
          </a:p>
          <a:p>
            <a:r>
              <a:t>Overly restrictive privacy regulations can stifle AI research and development, particularly for applications requiring extensive personal data.</a:t>
            </a:r>
          </a:p>
          <a:p>
            <a:r>
              <a:t>Lack of adequate privacy safeguards, conversely, can lead to public distrust, ethical breaches, and potential societal harms, hindering AI adoption.</a:t>
            </a:r>
          </a:p>
          <a:p>
            <a:r>
              <a:t>The 'privacy paradox' describes the discrepancy between individuals' expressed privacy concerns and their actual behavior in sharing personal data online.</a:t>
            </a:r>
          </a:p>
          <a:p>
            <a:r>
              <a:t>Strategies for balance include 'Privacy-by-Design' principles, ensuring privacy is baked into AI systems from conception, rather than being an afterthought.</a:t>
            </a:r>
          </a:p>
          <a:p>
            <a:r>
              <a:t>Promoting ethical data governance frameworks and fostering a culture of responsible data stewardship within organizations are essential for navigating this balance.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Privacy Concerns: Future of Privacy in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advent of increasingly sophisticated AI models and ubiquitous data collection necessitates continuous evolution of privacy safeguards and regulatory frameworks.</a:t>
            </a:r>
          </a:p>
          <a:p>
            <a:r>
              <a:t>Research into robust and scalable privacy-preserving AI (PPAI) techniques will continue to be critical for unlocking AI's potential in sensitive domains like healthcare.</a:t>
            </a:r>
          </a:p>
          <a:p>
            <a:r>
              <a:t>The concept of 'data sovereignty,' empowering individuals with greater control over their personal data and its use by AI, is gaining traction.</a:t>
            </a:r>
          </a:p>
          <a:p>
            <a:r>
              <a:t>Developing AI systems that are transparent about their data usage and provide intelligible explanations for privacy-related decisions will enhance user trust.</a:t>
            </a:r>
          </a:p>
          <a:p>
            <a:r>
              <a:t>International cooperation will be vital to establish harmonized privacy standards for AI, addressing the global nature of data flows and AI deployments.</a:t>
            </a:r>
          </a:p>
          <a:p>
            <a:r>
              <a:t>The ongoing challenge is to anticipate future privacy risks posed by novel AI applications (e.g., brain-computer interfaces, pervasive biometric AI) and develop proactive solutions.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Explainable AI (XAI): The Need for Interpretability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Explainable AI (XAI) refers to methods and techniques that make AI systems understandable to humans, addressing the 'black box' problem of complex machine learning models.</a:t>
            </a:r>
          </a:p>
          <a:p>
            <a:r>
              <a:t>The need for XAI stems from requirements for transparency, accountability, and trust, especially in high-stakes domains like healthcare, finance, and autonomous systems.</a:t>
            </a:r>
          </a:p>
          <a:p>
            <a:r>
              <a:t>**Trust:** Users and stakeholders are more likely to trust an AI system if they understand its reasoning and can verify its decisions.</a:t>
            </a:r>
          </a:p>
          <a:p>
            <a:r>
              <a:t>**Accountability:** XAI helps assign responsibility when AI systems make errors or produce biased outcomes, supporting regulatory compliance.</a:t>
            </a:r>
          </a:p>
          <a:p>
            <a:r>
              <a:t>**Debugging and Improvement:** Explanations can help developers identify and fix flaws, biases, or unexpected behaviors within AI models.</a:t>
            </a:r>
          </a:p>
          <a:p>
            <a:r>
              <a:t>**Regulatory Compliance:** Emerging regulations (e.g., GDPR's 'right to explanation', EU AI Act) are increasingly mandating interpretability for certain AI applications.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Explainable AI (XAI): Types of Explanations and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**Local Interpretability:** Explains why a model made a specific prediction for a single instance (e.g., why a loan was denied to a particular applicant).</a:t>
            </a:r>
          </a:p>
          <a:p>
            <a:r>
              <a:t>**Global Interpretability:** Provides an understanding of the overall model behavior, how it generally makes decisions across its entire input space.</a:t>
            </a:r>
          </a:p>
          <a:p>
            <a:r>
              <a:t>**Intrinsic Interpretability:** Refers to models that are inherently understandable due to their simple structure (e.g., linear regression, decision trees, rule-based systems).</a:t>
            </a:r>
          </a:p>
          <a:p>
            <a:r>
              <a:t>**Post-hoc Interpretability:** Applies explanation techniques to complex, opaque models (e.g., deep neural networks) after they have been trained.</a:t>
            </a:r>
          </a:p>
          <a:p>
            <a:r>
              <a:t>Explanations can take various forms: feature importance scores, decision rules, counterfactual examples, textual justifications, or visual saliency maps.</a:t>
            </a:r>
          </a:p>
          <a:p>
            <a:r>
              <a:t>The choice of XAI technique depends on the model type, the audience for the explanation (developer, user, regulator), and the specific context of the AI application.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Explainable AI (XAI): Key Techniques and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**LIME (Local Interpretable Model-agnostic Explanations):** Explains individual predictions by locally approximating the black-box model with an interpretable model (e.g., linear model).</a:t>
            </a:r>
          </a:p>
          <a:p>
            <a:r>
              <a:t>**SHAP (SHapley Additive exPlanations):** Based on cooperative game theory, SHAP attributes the contribution of each feature to a prediction, providing consistent and robust explanations.</a:t>
            </a:r>
          </a:p>
          <a:p>
            <a:r>
              <a:t>**Feature Importance (Permutation Importance, Gini Importance):** Measures how much a model's performance decreases when a specific feature's values are permuted or removed.</a:t>
            </a:r>
          </a:p>
          <a:p>
            <a:r>
              <a:t>**Partial Dependence Plots (PDPs) and Individual Conditional Expectation (ICE) Plots:** Visualize the marginal effect of one or two features on the predicted outcome, globally or locally.</a:t>
            </a:r>
          </a:p>
          <a:p>
            <a:r>
              <a:t>**Saliency Maps (for Computer Vision):** Highlight regions in an input image that are most influential for a CNN's prediction, showing what the model 'looked' at.</a:t>
            </a:r>
          </a:p>
          <a:p>
            <a:r>
              <a:t>**Counterfactual Explanations:** Identify the smallest change to an input that would alter the model's prediction to a desired outcome (e.g., 'If your income were X, you would get the loan').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Explainable AI (XAI): Benefits and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**Benefits:** Enhances user trust and adoption, facilitates debugging and auditing of AI systems, aids in compliance with ethical and legal standards, and fosters scientific discovery.</a:t>
            </a:r>
          </a:p>
          <a:p>
            <a:r>
              <a:t>**Challenges of Fidelity vs. Interpretability:** Often, there's a trade-off between model accuracy and the simplicity required for human interpretability; highly complex models are harder to explain.</a:t>
            </a:r>
          </a:p>
          <a:p>
            <a:r>
              <a:t>**Complexity of Explanations:** Generating human-understandable explanations for highly complex, high-dimensional models can itself be a computationally intensive and difficult task.</a:t>
            </a:r>
          </a:p>
          <a:p>
            <a:r>
              <a:t>**Evaluation of Explanations:** Objectively evaluating the quality, completeness, and usefulness of an explanation remains an open research problem, often relying on subjective human judgment.</a:t>
            </a:r>
          </a:p>
          <a:p>
            <a:r>
              <a:t>**Context Dependence:** What constitutes a 'good' explanation varies significantly based on the user's background, task, and the specific domain of the AI application.</a:t>
            </a:r>
          </a:p>
          <a:p>
            <a:r>
              <a:t>**Ethical Implications:** XAI can reveal hidden biases or flaws, but also raise questions about selective explanations or the potential for 'explanation laundering' to hide problematic behavior.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Explainable AI (XAI): Applications and Future Directions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**Healthcare:** XAI aids clinicians in understanding AI diagnostic recommendations, fostering trust and improving patient care by justifying predictions.</a:t>
            </a:r>
          </a:p>
          <a:p>
            <a:r>
              <a:t>**Finance:** Critical for loan applications, fraud detection, and regulatory compliance, XAI provides justifications for decisions impacting individuals and institutions.</a:t>
            </a:r>
          </a:p>
          <a:p>
            <a:r>
              <a:t>**Autonomous Systems:** Essential for building trust and safety in self-driving cars or drones, explaining why a system made a particular decision in a critical situation.</a:t>
            </a:r>
          </a:p>
          <a:p>
            <a:r>
              <a:t>**Scientific Discovery:** XAI can help scientists uncover new relationships and hypotheses by making complex AI models more transparent, accelerating research.</a:t>
            </a:r>
          </a:p>
          <a:p>
            <a:r>
              <a:t>Future research focuses on developing more robust, user-centric, and interactive XAI tools that can adapt explanations to different stakeholders and provide causal reasoning.</a:t>
            </a:r>
          </a:p>
          <a:p>
            <a:r>
              <a:t>Integrating XAI seamlessly into the entire AI development pipeline, from data preparation to deployment and monitoring, is a key objective for responsible AI.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of AI: Emerging Trends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**Generative AI and Foundation Models:** The rapid evolution of large-scale pre-trained models (e.g., GPT-4, LLaMA) capable of generating diverse content (text, images, code, audio) is transforming industries.</a:t>
            </a:r>
          </a:p>
          <a:p>
            <a:r>
              <a:t>**Multimodal AI:** Integration of various data types (text, vision, audio, sensor data) to create AI systems with a more comprehensive understanding of the world, mimicking human perception.</a:t>
            </a:r>
          </a:p>
          <a:p>
            <a:r>
              <a:t>**Embodied AI and Robotics:** Advancements in robotics, reinforcement learning, and sim-to-real transfer are enabling AI agents to interact with and learn from the physical world.</a:t>
            </a:r>
          </a:p>
          <a:p>
            <a:r>
              <a:t>**Small AI / Edge AI:** Development of efficient AI models that can run on resource-constrained devices at the 'edge' of networks, reducing latency and enhancing privacy.</a:t>
            </a:r>
          </a:p>
          <a:p>
            <a:r>
              <a:t>**AI for Science:** Applying AI to accelerate scientific discovery, from drug design and material science to climate modeling and fundamental physics research.</a:t>
            </a:r>
          </a:p>
          <a:p>
            <a:r>
              <a:t>**Neuro-symbolic AI:** Combining the strengths of deep learning (pattern recognition) with symbolic AI (reasoning, knowledge representation) to achieve more robust and explainable intelligence.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of AI: Societal Transformation and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**Workforce Transformation:** AI will automate many routine tasks, potentially displacing jobs but also creating new roles requiring human-AI collaboration and higher-order skills.</a:t>
            </a:r>
          </a:p>
          <a:p>
            <a:r>
              <a:t>**Healthcare Revolution:** Personalized medicine, advanced diagnostics, AI-driven drug discovery, and intelligent health management systems promise to significantly improve human well-being.</a:t>
            </a:r>
          </a:p>
          <a:p>
            <a:r>
              <a:t>**Education Enhancement:** AI tutors, adaptive learning platforms, and intelligent content creation tools could personalize education and make learning more accessible and effective.</a:t>
            </a:r>
          </a:p>
          <a:p>
            <a:r>
              <a:t>**Economic Growth and Productivity:** AI is expected to drive substantial economic growth through increased automation, efficiency, and innovation across sectors.</a:t>
            </a:r>
          </a:p>
          <a:p>
            <a:r>
              <a:t>**Ethical Governance:** The increasing power of AI necessitates robust global governance frameworks, policies, and ethical guidelines to ensure responsible development and deployment.</a:t>
            </a:r>
          </a:p>
          <a:p>
            <a:r>
              <a:t>**Environmental Impact:** While AI can optimize energy grids and climate models, the energy consumption of large-scale AI models also presents an environmental challenge.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of AI: Towards Artificial General Intelligence (AGI)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Artificial General Intelligence (AGI) refers to hypothetical AI that can understand, learn, and apply intelligence to any intellectual task that a human being can.</a:t>
            </a:r>
          </a:p>
          <a:p>
            <a:r>
              <a:t>Current AI, often termed Narrow AI, excels at specific tasks but lacks the versatility, common sense, and adaptability characteristic of human intelligence.</a:t>
            </a:r>
          </a:p>
          <a:p>
            <a:r>
              <a:t>The path to AGI involves overcoming fundamental challenges in common sense reasoning, transfer learning, open-ended learning, and multimodal integration.</a:t>
            </a:r>
          </a:p>
          <a:p>
            <a:r>
              <a:t>Debates exist on the feasibility and timelines for AGI, with predictions ranging from decades to centuries, or even questions about its ultimate attainability.</a:t>
            </a:r>
          </a:p>
          <a:p>
            <a:r>
              <a:t>The development of AGI would represent a profound inflection point for humanity, potentially leading to unprecedented technological progress but also existential risks.</a:t>
            </a:r>
          </a:p>
          <a:p>
            <a:r>
              <a:t>Research into AGI requires careful consideration of safety, alignment with human values, and robust control mechanisms to prevent unintended consequences.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of AI: Challenges and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**Misuse and Malicious Use:** The potential for AI to be used for autonomous weapons, mass surveillance, cyberattacks, or sophisticated disinformation campaigns.</a:t>
            </a:r>
          </a:p>
          <a:p>
            <a:r>
              <a:t>**Existential Risk:** Advanced AGI or superintelligence, if not properly aligned with human values, could pose an existential threat to humanity.</a:t>
            </a:r>
          </a:p>
          <a:p>
            <a:r>
              <a:t>**Geopolitical Instability:** The global race for AI supremacy could exacerbate international tensions and create new forms of power imbalance.</a:t>
            </a:r>
          </a:p>
          <a:p>
            <a:r>
              <a:t>**Exacerbation of Inequality:** Unequal access to AI technologies and benefits could widen socioeconomic divides, both within and between nations.</a:t>
            </a:r>
          </a:p>
          <a:p>
            <a:r>
              <a:t>**Loss of Control:** As AI systems become more complex and autonomous, maintaining human oversight and control over their decision-making processes becomes increasingly challenging.</a:t>
            </a:r>
          </a:p>
          <a:p>
            <a:r>
              <a:t>**Ethical Dilemmas:** Continual emergence of complex ethical questions that require careful societal deliberation and robust regulatory responses.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of AI: Human-AI Collaboration and The Path Forward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future is likely to be characterized by 'augmented intelligence,' where AI enhances human capabilities rather than fully replacing them, fostering new modes of collaboration.</a:t>
            </a:r>
          </a:p>
          <a:p>
            <a:r>
              <a:t>Developing effective human-AI interfaces and interaction paradigms is crucial to maximize the benefits of intelligent systems while maintaining human agency.</a:t>
            </a:r>
          </a:p>
          <a:p>
            <a:r>
              <a:t>Prioritizing 'responsible AI' development, emphasizing ethics, safety, fairness, privacy, and transparency from conception to deployment, is paramount.</a:t>
            </a:r>
          </a:p>
          <a:p>
            <a:r>
              <a:t>Investing in AI literacy and continuous education across all levels of society is essential to prepare the workforce and citizenry for an AI-integrated future.</a:t>
            </a:r>
          </a:p>
          <a:p>
            <a:r>
              <a:t>Fostering international cooperation and multi-stakeholder dialogue to develop global norms, standards, and governance mechanisms for AI development and deployment.</a:t>
            </a:r>
          </a:p>
          <a:p>
            <a:r>
              <a:t>Embracing a proactive and adaptive approach to AI regulation, allowing for innovation while safeguarding against potential harms and societal disruption.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