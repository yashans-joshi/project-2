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Introduction: Integration and Synthesis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a comprehensive unit exploring the fundamental principles and advanced applications of Artificial Intelligence.</a:t>
            </a:r>
          </a:p>
          <a:p>
            <a:r>
              <a:t>This unit emphasizes the integration of various AI sub-fields, particularly Natural Language Processing (NLP), with broader ethical and societal considerations.</a:t>
            </a:r>
          </a:p>
          <a:p>
            <a:r>
              <a:t>We will synthesize theoretical knowledge with practical implications, preparing students for responsible and innovative AI development.</a:t>
            </a:r>
          </a:p>
          <a:p>
            <a:r>
              <a:t>Key themes include algorithmic fairness, data privacy, model interpretability, and the future trajectory of AI technologies.</a:t>
            </a:r>
          </a:p>
          <a:p>
            <a:r>
              <a:t>The curriculum is designed to foster critical thinking about the complex interplay between AI capabilities and human values.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NLP: Defining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Processing (NLP) is a subfield of AI that focuses on enabling computers to understand, interpret, and generate human language.</a:t>
            </a:r>
          </a:p>
          <a:p>
            <a:r>
              <a:t>It combines principles from computer science, artificial intelligence, and computational linguistics to bridge the gap between human communication and machine understanding.</a:t>
            </a:r>
          </a:p>
          <a:p>
            <a:r>
              <a:t>The core objective of NLP is to process and analyze large volumes of natural language data, extracting meaning and facilitating human-computer interaction.</a:t>
            </a:r>
          </a:p>
          <a:p>
            <a:r>
              <a:t>NLP is inherently interdisciplinary, drawing upon theories from cognitive science and linguistics while employing advanced statistical and machine learning techniques.</a:t>
            </a:r>
          </a:p>
          <a:p>
            <a:r>
              <a:t>The evolution of NLP has progressed from symbolic rule-based systems to statistical models, and more recently, deep learning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NLP: Historical Context and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NLP efforts in the 1950s and 60s focused on symbolic AI, utilizing hand-crafted rules and expert systems (e.g., ELIZA, SHRDLU).</a:t>
            </a:r>
          </a:p>
          <a:p>
            <a:r>
              <a:t>The 1980s and 90s saw a shift towards statistical NLP, driven by increased computational power and the availability of large text corpora.</a:t>
            </a:r>
          </a:p>
          <a:p>
            <a:r>
              <a:t>Machine learning techniques like Hidden Markov Models (HMMs) and Support Vector Machines (SVMs) became prominent for tasks such as part-of-speech tagging and parsing.</a:t>
            </a:r>
          </a:p>
          <a:p>
            <a:r>
              <a:t>The deep learning revolution in the 2010s transformed NLP, with neural networks (RNNs, LSTMs, Transformers) achieving state-of-the-art performance across various benchmarks.</a:t>
            </a:r>
          </a:p>
          <a:p>
            <a:r>
              <a:t>Current trends emphasize large pre-trained language models (LLMs) that learn universal language representations from vast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NLP: Core Linguistic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Syntactic analysis involves parsing sentences to determine their grammatical structure, including part-of-speech tagging and dependency parsing.</a:t>
            </a:r>
          </a:p>
          <a:p>
            <a:r>
              <a:t>Semantic analysis aims to understand the meaning of words, phrases, and sentences, encompassing word sense disambiguation and named entity recognition.</a:t>
            </a:r>
          </a:p>
          <a:p>
            <a:r>
              <a:t>Pragmatic analysis focuses on understanding language in context, considering speaker intent and implied meanings.</a:t>
            </a:r>
          </a:p>
          <a:p>
            <a:r>
              <a:t>Discourse analysis examines how sentences combine to form coherent texts and how meaning is constructed across longer stretches of language.</a:t>
            </a:r>
          </a:p>
          <a:p>
            <a:r>
              <a:t>Core tasks also include morphological analysis (breaking words into morphemes) and phonological analysis (sound patterns).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NLP: Key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Translation (MT) systems automatically translate text or speech from one language to another, essential for global communication.</a:t>
            </a:r>
          </a:p>
          <a:p>
            <a:r>
              <a:t>Information Retrieval (IR) and Question Answering (QA) systems help users find relevant documents or direct answers from vast data repositories.</a:t>
            </a:r>
          </a:p>
          <a:p>
            <a:r>
              <a:t>Text Summarization condenses longer texts into shorter, coherent versions, crucial for information overload management.</a:t>
            </a:r>
          </a:p>
          <a:p>
            <a:r>
              <a:t>Speech Recognition (SR) converts spoken language into text, enabling voice assistants and transcription services.</a:t>
            </a:r>
          </a:p>
          <a:p>
            <a:r>
              <a:t>Sentiment Analysis determines the emotional tone or opinion expressed in a piece of text, vital for market research and customer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NLP: Challenges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Ambiguity in natural language (lexical, syntactic, semantic) remains a significant challenge, requiring sophisticated contextual understanding.</a:t>
            </a:r>
          </a:p>
          <a:p>
            <a:r>
              <a:t>The scarcity of high-quality annotated data for less-resourced languages hinders universal applicability of advanced NLP models.</a:t>
            </a:r>
          </a:p>
          <a:p>
            <a:r>
              <a:t>Developing truly generalizable NLP models that perform robustly across diverse domains, genres, and dialects is an ongoing research area.</a:t>
            </a:r>
          </a:p>
          <a:p>
            <a:r>
              <a:t>The rise of multimodal NLP, integrating text with images, audio, and video, presents opportunities for richer understanding.</a:t>
            </a:r>
          </a:p>
          <a:p>
            <a:r>
              <a:t>Ethical considerations, including bias, fairness, and privacy, are paramount as NLP models become more powerful and pervasive in society.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Preprocessing: The Foundation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preprocessing is the initial and crucial step in any NLP pipeline, transforming raw text into a clean, normalized, and suitable format for analysis.</a:t>
            </a:r>
          </a:p>
          <a:p>
            <a:r>
              <a:t>It aims to reduce noise, inconsistency, and redundancy in textual data, thereby improving the efficiency and accuracy of subsequent NLP tasks.</a:t>
            </a:r>
          </a:p>
          <a:p>
            <a:r>
              <a:t>Improper or insufficient preprocessing can lead to suboptimal model performance, increased computational cost, and skewed analytical results.</a:t>
            </a:r>
          </a:p>
          <a:p>
            <a:r>
              <a:t>The specific preprocessing steps applied often depend on the nature of the data, the target NLP task, and the language being processed.</a:t>
            </a:r>
          </a:p>
          <a:p>
            <a:r>
              <a:t>It ensures that variations in text formatting do not adversely impact the learning capabilities of machine learning or deep learning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Preprocessing: Common Steps -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Lowercasing converts all text to lowercase, treating 'Apple' and 'apple' as the same word, which reduces vocabulary size and improves matching.</a:t>
            </a:r>
          </a:p>
          <a:p>
            <a:r>
              <a:t>Punctuation removal eliminates characters like periods, commas, and question marks, which are often irrelevant for many analytical tasks but critical for others like sentiment.</a:t>
            </a:r>
          </a:p>
          <a:p>
            <a:r>
              <a:t>Handling numbers involves deciding whether to remove them, convert them to a generic token (e.g., `&lt;NUM&gt;`), or keep them based on task relevance.</a:t>
            </a:r>
          </a:p>
          <a:p>
            <a:r>
              <a:t>Contraction expansion (e.g., 'don't' to 'do not') standardizes word forms and ensures full semantic representation.</a:t>
            </a:r>
          </a:p>
          <a:p>
            <a:r>
              <a:t>Removal of special characters and symbols (e.g., emojis, mathematical symbols) cleans text unless they carry specific semantic meaning for the task.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Preprocessing: Common Steps - Feature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word removal involves eliminating common words (e.g., 'the', 'is', 'a') that typically carry little semantic meaning and can clutter analysis.</a:t>
            </a:r>
          </a:p>
          <a:p>
            <a:r>
              <a:t>Stemming reduces words to their root or stem form (e.g., 'running', 'runs', 'ran' to 'run'), often using heuristic rules and potentially resulting in non-dictionary words.</a:t>
            </a:r>
          </a:p>
          <a:p>
            <a:r>
              <a:t>Lemmatization is a more sophisticated process that converts words to their base or dictionary form (lemma), considering context and part-of-speech (e.g., 'better' to 'good').</a:t>
            </a:r>
          </a:p>
          <a:p>
            <a:r>
              <a:t>These techniques help in reducing the dimensionality of the feature space and focusing on the most informative terms.</a:t>
            </a:r>
          </a:p>
          <a:p>
            <a:r>
              <a:t>Care must be taken, as removing stop words or aggressive stemming can sometimes lead to loss of nuanced meaning, particularly in tasks like sentiment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Preprocessing: Advanced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Noise reduction can involve removing HTML tags, URLs, or other non-textual elements that are artifacts of data collection.</a:t>
            </a:r>
          </a:p>
          <a:p>
            <a:r>
              <a:t>Character normalization addresses variations in character representation, such as converting different hyphen types or unicode variations to a standard form.</a:t>
            </a:r>
          </a:p>
          <a:p>
            <a:r>
              <a:t>Handling encoding issues ensures consistent interpretation of characters, preventing 'mojibake' or corrupted text during processing.</a:t>
            </a:r>
          </a:p>
          <a:p>
            <a:r>
              <a:t>Tokenization (covered separately) is often considered a preprocessing step, breaking text into meaningful units.</a:t>
            </a:r>
          </a:p>
          <a:p>
            <a:r>
              <a:t>Spell correction and grammatical error detection can be applied to noisy data (e.g., social media text) to improve quality, though it's computationally intensive.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Preprocessing: Impact on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choice of preprocessing steps directly influences the vocabulary size, feature representation, and ultimately the performance of NLP models.</a:t>
            </a:r>
          </a:p>
          <a:p>
            <a:r>
              <a:t>Aggressive preprocessing can lead to information loss, making it harder for models to capture subtle semantic distinctions.</a:t>
            </a:r>
          </a:p>
          <a:p>
            <a:r>
              <a:t>Insufficient preprocessing, conversely, can introduce noise and increase model complexity, leading to overfitting or poor generalization.</a:t>
            </a:r>
          </a:p>
          <a:p>
            <a:r>
              <a:t>For tasks like sentiment analysis, retaining punctuation or even stop words might be crucial for understanding nuances and negation.</a:t>
            </a:r>
          </a:p>
          <a:p>
            <a:r>
              <a:t>Experimentation with different preprocessing pipelines is often necessary to optimize results for a specific NLP task and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Tokenization: Breaking Down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Tokenization is the process of splitting text into smaller units called tokens, which can be words, subwords, characters, or even sentences.</a:t>
            </a:r>
          </a:p>
          <a:p>
            <a:r>
              <a:t>It forms the basic input units for most NLP models, enabling them to process and understand the textual data effectively.</a:t>
            </a:r>
          </a:p>
          <a:p>
            <a:r>
              <a:t>The choice of tokenization strategy significantly impacts the vocabulary size, model complexity, and ability to handle out-of-vocabulary (OOV) words.</a:t>
            </a:r>
          </a:p>
          <a:p>
            <a:r>
              <a:t>Effective tokenization is crucial for tasks ranging from text classification and information retrieval to machine translation and language generation.</a:t>
            </a:r>
          </a:p>
          <a:p>
            <a:r>
              <a:t>Different languages and linguistic phenomena often require specialized tokenization rules to correctly segment 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Tokenization: Word-Level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Whitespace tokenization is the simplest method, splitting text based on spaces, but it struggles with contractions ('don't') and punctuation attached to words ('hello.').</a:t>
            </a:r>
          </a:p>
          <a:p>
            <a:r>
              <a:t>Rule-based tokenizers use predefined patterns and exceptions to handle specific linguistic constructions, such as separating punctuation or common suffixes.</a:t>
            </a:r>
          </a:p>
          <a:p>
            <a:r>
              <a:t>Regular expressions offer a powerful way to define custom tokenization rules, allowing for flexible and precise segmentation.</a:t>
            </a:r>
          </a:p>
          <a:p>
            <a:r>
              <a:t>Challenges include handling hyphenated words (e.g., 'state-of-the-art'), numerical expressions, and language-specific compounds.</a:t>
            </a:r>
          </a:p>
          <a:p>
            <a:r>
              <a:t>Word tokenization is typically followed by normalization steps like lowercasing and stemming/lemmatization to reduce variations.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Tokenization: Subword-Level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Subword tokenization addresses the OOV problem and manages vocabulary size by breaking words into smaller, frequently occurring units.</a:t>
            </a:r>
          </a:p>
          <a:p>
            <a:r>
              <a:t>Byte Pair Encoding (BPE) iteratively merges the most frequent pairs of characters or character sequences until a specified vocabulary size is reached.</a:t>
            </a:r>
          </a:p>
          <a:p>
            <a:r>
              <a:t>WordPiece, used by models like BERT, is similar to BPE but prioritizes merging pairs that maximize the likelihood of a language model.</a:t>
            </a:r>
          </a:p>
          <a:p>
            <a:r>
              <a:t>SentencePiece, often used in Transformer models, treats the input as a raw stream of characters, including whitespace, which helps in consistent handling of different languages.</a:t>
            </a:r>
          </a:p>
          <a:p>
            <a:r>
              <a:t>These methods allow models to represent rare words by composing them from known subwords, capturing morphological information more effectively.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Tokenization: Character-Level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Character tokenization treats each character as a token, resulting in a very small vocabulary size and eliminating the OOV problem entirely.</a:t>
            </a:r>
          </a:p>
          <a:p>
            <a:r>
              <a:t>It is particularly useful for tasks involving text with many misspellings, noisy data, or languages with complex morphology where word boundaries are ambiguous.</a:t>
            </a:r>
          </a:p>
          <a:p>
            <a:r>
              <a:t>Character-level models can be effective for tasks like optical character recognition (OCR), text generation at fine granularity, and some security applications.</a:t>
            </a:r>
          </a:p>
          <a:p>
            <a:r>
              <a:t>The main drawback is that it requires deeper neural networks to learn meaningful semantic relationships from individual characters, increasing computational cost.</a:t>
            </a:r>
          </a:p>
          <a:p>
            <a:r>
              <a:t>While less common for high-level semantic tasks, it forms the basis for subword tokenization by providing the initial character units.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Tokenization: Advanced Issues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Multi-word expressions (MWEs), such as 'New York' or 'kick the bucket', are challenging as they function as single semantic units but are often tokenized as separate words.</a:t>
            </a:r>
          </a:p>
          <a:p>
            <a:r>
              <a:t>Sentence boundary detection is a critical preprocessing step for many NLP tasks, identifying where one sentence ends and another begins, often complex due to abbreviations or varied punctuation.</a:t>
            </a:r>
          </a:p>
          <a:p>
            <a:r>
              <a:t>Language-specific tokenizers are essential for languages without clear word boundaries (e.g., Chinese, Japanese) or with rich morphology (e.g., agglutinative languages).</a:t>
            </a:r>
          </a:p>
          <a:p>
            <a:r>
              <a:t>The choice of tokenizer impacts the size and quality of embeddings, directly influencing model performance and generalizability.</a:t>
            </a:r>
          </a:p>
          <a:p>
            <a:r>
              <a:t>Modern deep learning models often integrate tokenization directly into the architecture, leveraging pre-trained subword tokenizers for efficiency and robustness.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Analysis: Understanding Emotions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analysis, also known as opinion mining, is the computational study of opinions, sentiments, and emotions expressed in text.</a:t>
            </a:r>
          </a:p>
          <a:p>
            <a:r>
              <a:t>Its primary goal is to determine the emotional tone behind a body of text, whether it is positive, negative, or neutral.</a:t>
            </a:r>
          </a:p>
          <a:p>
            <a:r>
              <a:t>Applications span diverse fields, including customer feedback analysis, market research, social media monitoring, and political analysis.</a:t>
            </a:r>
          </a:p>
          <a:p>
            <a:r>
              <a:t>It helps businesses understand customer perceptions of products/services and gain insights into brand reputation.</a:t>
            </a:r>
          </a:p>
          <a:p>
            <a:r>
              <a:t>The task involves classifying text into predefined sentiment categories or assigning a sentiment score along a continuum.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Analysis: Lexicon-Based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Lexicon-based methods rely on pre-compiled dictionaries (lexicons) of words annotated with their associated sentiment scores (e.g., positive, negative, polarity strength).</a:t>
            </a:r>
          </a:p>
          <a:p>
            <a:r>
              <a:t>Rule-based systems use linguistic rules and patterns, along with lexicons, to identify sentiment-bearing phrases and combine their scores.</a:t>
            </a:r>
          </a:p>
          <a:p>
            <a:r>
              <a:t>Dictionary-based approaches sum or average the sentiment scores of words present in a text to determine its overall sentiment.</a:t>
            </a:r>
          </a:p>
          <a:p>
            <a:r>
              <a:t>Popular sentiment lexicons include SentiWordNet, VADER (Valence Aware Dictionary and sEntiment Reasoner), and AFINN.</a:t>
            </a:r>
          </a:p>
          <a:p>
            <a:r>
              <a:t>While simple and interpretable, lexicon-based methods often struggle with context-dependent sentiment, sarcasm, and negation without complex rule sets.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Analysis: Machine Learning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approaches treat sentiment analysis as a text classification problem, learning patterns from labeled training data.</a:t>
            </a:r>
          </a:p>
          <a:p>
            <a:r>
              <a:t>Traditional ML models like Naive Bayes, Support Vector Machines (SVMs), and Logistic Regression were historically popular, using features like TF-IDF word vectors.</a:t>
            </a:r>
          </a:p>
          <a:p>
            <a:r>
              <a:t>Deep learning models, particularly Convolutional Neural Networks (CNNs), Recurrent Neural Networks (RNNs/LSTMs), and Transformer-based models, now achieve state-of-the-art results.</a:t>
            </a:r>
          </a:p>
          <a:p>
            <a:r>
              <a:t>These models can learn complex representations and contextual dependencies from raw text, often outperforming lexicon-based methods in accuracy.</a:t>
            </a:r>
          </a:p>
          <a:p>
            <a:r>
              <a:t>Requires large, diverse, and accurately labeled datasets for training, making data acquisition and annotation a significant challenge.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Analysis: Granularity and Nuances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Document-level sentiment analysis classifies the overall sentiment of an entire document or text block.</a:t>
            </a:r>
          </a:p>
          <a:p>
            <a:r>
              <a:t>Sentence-level sentiment analysis determines the sentiment of each individual sentence within a document, providing finer granularity.</a:t>
            </a:r>
          </a:p>
          <a:p>
            <a:r>
              <a:t>Aspect-based sentiment analysis (ABSA) identifies sentiments expressed towards specific entities or aspects within a sentence (e.g., 'The phone's camera is great, but its battery life is poor').</a:t>
            </a:r>
          </a:p>
          <a:p>
            <a:r>
              <a:t>Opinion target extraction identifies the specific entities or features about which an opinion is expressed.</a:t>
            </a:r>
          </a:p>
          <a:p>
            <a:r>
              <a:t>Distinguishing between positive/negative/neutral is basic; more advanced systems may detect emotions like joy, anger, sadness, or perform intensity scoring.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Analysis: Challenges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sarcasm and irony remains a significant challenge, as the literal meaning often contradicts the intended sentiment.</a:t>
            </a:r>
          </a:p>
          <a:p>
            <a:r>
              <a:t>Context dependency means the sentiment of a word can change based on its surrounding words or the overall domain (e.g., 'sick' in slang vs. medical context).</a:t>
            </a:r>
          </a:p>
          <a:p>
            <a:r>
              <a:t>Handling negation (e.g., 'not good') and intensifiers ('very good') requires careful linguistic analysis.</a:t>
            </a:r>
          </a:p>
          <a:p>
            <a:r>
              <a:t>Cross-cultural and cross-lingual sentiment analysis is complex due to varying expressions, cultural norms, and translation difficulties.</a:t>
            </a:r>
          </a:p>
          <a:p>
            <a:r>
              <a:t>Future research focuses on multimodal sentiment analysis, incorporating visual and auditory cues, and developing more robust context-aware models capable of subtle emotional understanding.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Chatbots and Language Models: Conversational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Chatbots are AI programs designed to simulate human conversation through text or voice, facilitating interaction between users and systems.</a:t>
            </a:r>
          </a:p>
          <a:p>
            <a:r>
              <a:t>Their evolution began with early rule-based systems like ELIZA (1966) and PARRY (1972), which mimicked human dialogue through pattern matching.</a:t>
            </a:r>
          </a:p>
          <a:p>
            <a:r>
              <a:t>Modern chatbots range from task-oriented bots (e.g., customer service, booking systems) to generative conversational agents capable of open-ended dialogue.</a:t>
            </a:r>
          </a:p>
          <a:p>
            <a:r>
              <a:t>Underlying these chatbots are sophisticated language models that learn to predict and generate human-like text.</a:t>
            </a:r>
          </a:p>
          <a:p>
            <a:r>
              <a:t>The core functionality of a chatbot relies on understanding user input (Natural Language Understanding) and generating appropriate responses (Natural Language Generation).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Chatbots and Language Models: Introduction to 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language model (LM) is a probabilistic model that assigns a probability to a sequence of words or predicts the next word in a sequence.</a:t>
            </a:r>
          </a:p>
          <a:p>
            <a:r>
              <a:t>N-gram models were early statistical LMs that estimated the probability of a word given the preceding N-1 words based on their frequency in training corpora.</a:t>
            </a:r>
          </a:p>
          <a:p>
            <a:r>
              <a:t>They operate on the Markov assumption, where the prediction of the next word depends only on a fixed number of preceding words, simplifying computation.</a:t>
            </a:r>
          </a:p>
          <a:p>
            <a:r>
              <a:t>While simple and interpretable, N-gram models suffer from data sparsity for longer N-grams and cannot capture long-range dependencies.</a:t>
            </a:r>
          </a:p>
          <a:p>
            <a:r>
              <a:t>Language models are fundamental for various NLP tasks, including speech recognition, machine translation, and text generation, forming the 'brain' of many conversational systems.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Chatbots and Language Models: Neural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language models (NLMs) emerged to overcome the limitations of N-gram models by using continuous vector representations (embeddings) for words.</a:t>
            </a:r>
          </a:p>
          <a:p>
            <a:r>
              <a:t>Recurrent Neural Networks (RNNs), specifically Long Short-Term Memory (LSTM) and Gated Recurrent Unit (GRU) networks, were instrumental.</a:t>
            </a:r>
          </a:p>
          <a:p>
            <a:r>
              <a:t>RNNs process sequences word by word, maintaining an internal 'state' that allows them to capture dependencies over longer sequences of text.</a:t>
            </a:r>
          </a:p>
          <a:p>
            <a:r>
              <a:t>LSTMs and GRUs address the vanishing gradient problem inherent in vanilla RNNs, enabling them to learn and remember information over much longer contexts.</a:t>
            </a:r>
          </a:p>
          <a:p>
            <a:r>
              <a:t>These models learn rich, distributed representations of words and sentences, improving performance on tasks requiring nuanced contextual understanding.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Chatbots and Language Models: Transformer Architecture and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Transformer architecture, introduced in 2017, revolutionized LMs by replacing recurrence with a self-attention mechanism, allowing parallel processing of input sequences.</a:t>
            </a:r>
          </a:p>
          <a:p>
            <a:r>
              <a:t>Self-attention enables the model to weigh the importance of different words in the input sequence when processing each word, capturing global dependencies.</a:t>
            </a:r>
          </a:p>
          <a:p>
            <a:r>
              <a:t>Large Language Models (LLMs) like BERT, GPT series (GPT-3, GPT-4), T5, and LLaMA are built upon the Transformer architecture and pre-trained on massive text datasets.</a:t>
            </a:r>
          </a:p>
          <a:p>
            <a:r>
              <a:t>Pre-training involves tasks like masked language modeling and next-sentence prediction, allowing models to learn deep contextual language representations.</a:t>
            </a:r>
          </a:p>
          <a:p>
            <a:r>
              <a:t>Fine-tuning these pre-trained models on specific downstream tasks (e.g., question answering, summarization) achieves state-of-the-art results with less task-specific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Chatbots and Language Models: Applications and Limitations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power highly sophisticated chatbots capable of complex conversations, content creation (articles, code), summarization, and creative writing.</a:t>
            </a:r>
          </a:p>
          <a:p>
            <a:r>
              <a:t>They excel at zero-shot and few-shot learning, performing tasks without extensive fine-tuning by leveraging their vast pre-trained knowledge.</a:t>
            </a:r>
          </a:p>
          <a:p>
            <a:r>
              <a:t>Limitations include the potential for generating factually incorrect information ('hallucinations'), exhibiting biases present in their training data, and a lack of true common sense reasoning.</a:t>
            </a:r>
          </a:p>
          <a:p>
            <a:r>
              <a:t>Ethical concerns arise regarding their misuse for misinformation, deepfakes, copyright infringement, and the environmental impact of their massive training computations.</a:t>
            </a:r>
          </a:p>
          <a:p>
            <a:r>
              <a:t>Ongoing research focuses on improving factual accuracy, reducing bias, increasing transparency, and developing more controllable and aligned LLMs.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in AI: Foundations of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rapid advancement and widespread deployment of AI necessitate a rigorous examination of its ethical implications and societal impact.</a:t>
            </a:r>
          </a:p>
          <a:p>
            <a:r>
              <a:t>AI ethics is a field dedicated to understanding and addressing the moral, social, and legal challenges posed by the development and use of artificial intelligence.</a:t>
            </a:r>
          </a:p>
          <a:p>
            <a:r>
              <a:t>Responsible AI development requires developers and deployers to consider the broader consequences of their creations beyond technical functionality.</a:t>
            </a:r>
          </a:p>
          <a:p>
            <a:r>
              <a:t>Ignoring ethical considerations can lead to unintended harm, erosion of public trust, and regulatory backlash, hindering AI's positive potential.</a:t>
            </a:r>
          </a:p>
          <a:p>
            <a:r>
              <a:t>Frameworks for ethical AI often emphasize human-centric design, ensuring AI serves human well-being and respects fundamental rights.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in AI: Core Ethical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 and Explainability: AI systems should be comprehensible, allowing users to understand how decisions are made, especially in critical applications.</a:t>
            </a:r>
          </a:p>
          <a:p>
            <a:r>
              <a:t>Fairness and Non-discrimination: AI systems must treat all individuals and groups equitably, avoiding unfair bias in outcomes or access.</a:t>
            </a:r>
          </a:p>
          <a:p>
            <a:r>
              <a:t>Accountability and Responsibility: Clear mechanisms must be established to determine who is responsible for AI system actions and their consequences.</a:t>
            </a:r>
          </a:p>
          <a:p>
            <a:r>
              <a:t>Beneficence and Non-maleficence: AI should be designed to promote human well-being and prevent harm, both direct and indirect.</a:t>
            </a:r>
          </a:p>
          <a:p>
            <a:r>
              <a:t>Privacy and Data Governance: Respecting individual privacy and ensuring secure, ethical handling of data are paramount for AI systems.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in AI: Societal Impact and Displacement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automation driven by AI can lead to significant workforce displacement, particularly in routine and repetitive tasks, raising concerns about economic inequality.</a:t>
            </a:r>
          </a:p>
          <a:p>
            <a:r>
              <a:t>The deployment of AI in critical sectors like healthcare, education, and finance can exacerbate existing societal disparities if not carefully managed.</a:t>
            </a:r>
          </a:p>
          <a:p>
            <a:r>
              <a:t>AI-driven personalization algorithms can create 'filter bubbles' or 'echo chambers,' potentially polarizing public discourse and impacting democratic processes.</a:t>
            </a:r>
          </a:p>
          <a:p>
            <a:r>
              <a:t>Autonomous decision-making systems in areas like criminal justice or credit scoring can perpetuate and amplify systemic biases, impacting vulnerable populations.</a:t>
            </a:r>
          </a:p>
          <a:p>
            <a:r>
              <a:t>Impact on human interaction and social structures, with AI potentially replacing or mediating human relationships, raises questions about authenticity and emotional intelligence.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in AI: Autonomy and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increasing autonomy of AI systems, especially in areas like self-driving cars or autonomous weapons, raises questions about human control and intervention.</a:t>
            </a:r>
          </a:p>
          <a:p>
            <a:r>
              <a:t>Defining the appropriate level of human oversight and 'human-in-the-loop' mechanisms is crucial for safety and ethical decision-making.</a:t>
            </a:r>
          </a:p>
          <a:p>
            <a:r>
              <a:t>The delegation of significant decision-making power to AI systems can diminish human agency and moral responsibility in critical contexts.</a:t>
            </a:r>
          </a:p>
          <a:p>
            <a:r>
              <a:t>Legal implications of autonomous AI include determining liability for accidents or errors when no direct human control is exercised.</a:t>
            </a:r>
          </a:p>
          <a:p>
            <a:r>
              <a:t>The 'control problem' in advanced AI explores how to ensure superintelligent AI systems remain aligned with human values and goals without unintended consequences.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in AI: Accountability and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Establishing clear lines of accountability for AI system failures, harms, or biased outcomes is complex due to the distributed nature of development and deployment.</a:t>
            </a:r>
          </a:p>
          <a:p>
            <a:r>
              <a:t>Traditional legal frameworks may not adequately address AI-specific issues, necessitating new regulations, certifications, and standards.</a:t>
            </a:r>
          </a:p>
          <a:p>
            <a:r>
              <a:t>The 'black box' nature of many advanced AI models (e.g., deep learning) makes it difficult to trace causality and pinpoint responsibility for erroneous decisions.</a:t>
            </a:r>
          </a:p>
          <a:p>
            <a:r>
              <a:t>Proposals for addressing accountability include requiring impact assessments, mandating human oversight, and developing formal auditing mechanisms for AI systems.</a:t>
            </a:r>
          </a:p>
          <a:p>
            <a:r>
              <a:t>The concept of 'moral agency' for AI systems is debated, but current consensus places moral responsibility firmly with human designers, deployers, and operators.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Fairness: Understanding Algorithmic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AI refers to systematic errors or prejudices in an AI system's output that lead to unfair or discriminatory outcomes against certain groups.</a:t>
            </a:r>
          </a:p>
          <a:p>
            <a:r>
              <a:t>It can manifest in various stages of the AI lifecycle, from data collection and model training to deployment and interpretation.</a:t>
            </a:r>
          </a:p>
          <a:p>
            <a:r>
              <a:t>Fairness in AI aims to ensure that AI systems produce equitable outcomes for different individuals and groups, preventing unjust or prejudicial treatment.</a:t>
            </a:r>
          </a:p>
          <a:p>
            <a:r>
              <a:t>Understanding the sources and manifestations of bias is critical for building trustworthy and ethically responsible AI systems.</a:t>
            </a:r>
          </a:p>
          <a:p>
            <a:r>
              <a:t>Ignoring bias perpetuates and amplifies existing societal inequalities, leading to real-world harm and erosion of trust in AI.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Fairness: Sources of Data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bias reflects societal prejudices that existed when the data was collected (e.g., historical loan approval rates reflecting past discrimination).</a:t>
            </a:r>
          </a:p>
          <a:p>
            <a:r>
              <a:t>Selection bias occurs when the data used to train the model is not representative of the real-world population or distribution the model will encounter.</a:t>
            </a:r>
          </a:p>
          <a:p>
            <a:r>
              <a:t>Measurement bias arises from inaccuracies or inconsistencies in how data is collected or labeled, leading to skewed representations.</a:t>
            </a:r>
          </a:p>
          <a:p>
            <a:r>
              <a:t>Stereotype bias can be introduced when training data reinforces existing societal stereotypes, leading the model to learn and perpetuate them.</a:t>
            </a:r>
          </a:p>
          <a:p>
            <a:r>
              <a:t>Reporting bias occurs when certain outcomes or behaviors are more likely to be reported or documented than others, skewing the available data.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Fairness: Algorithmic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Algorithmic bias can stem from the choices made during model design, feature engineering, or objective function definition, even with unbiased data.</a:t>
            </a:r>
          </a:p>
          <a:p>
            <a:r>
              <a:t>Proxy variables: models may inadvertently use seemingly neutral features (e.g., zip code) as proxies for sensitive attributes (e.g., race), leading to indirect discrimination.</a:t>
            </a:r>
          </a:p>
          <a:p>
            <a:r>
              <a:t>Amplification of existing biases: even small biases in training data can be magnified by complex learning algorithms, leading to significantly biased outputs.</a:t>
            </a:r>
          </a:p>
          <a:p>
            <a:r>
              <a:t>Interaction effects: intricate relationships between features can make it difficult to pinpoint where bias originates or how it manifests.</a:t>
            </a:r>
          </a:p>
          <a:p>
            <a:r>
              <a:t>Lack of group-specific optimization: models optimized for overall accuracy may perform poorly for minority groups if their data is underrepresented.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Fairness: Fairness Metrics and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Demographic Parity (Statistical Parity): Requires that different protected groups receive positive outcomes at equal rates, irrespective of their input features.</a:t>
            </a:r>
          </a:p>
          <a:p>
            <a:r>
              <a:t>Equal Opportunity: Requires that protected groups have equal true positive rates, meaning they are equally likely to be correctly identified as positive when they truly are positive.</a:t>
            </a:r>
          </a:p>
          <a:p>
            <a:r>
              <a:t>Predictive Equality: Requires that protected groups have equal false positive rates, meaning they are equally likely to be incorrectly identified as positive.</a:t>
            </a:r>
          </a:p>
          <a:p>
            <a:r>
              <a:t>Individual Fairness: Demands that similar individuals should receive similar outcomes, often formalized through distance metrics in feature space.</a:t>
            </a:r>
          </a:p>
          <a:p>
            <a:r>
              <a:t>Disparate Impact: A legal concept in the US, indicating that a neutral policy or system disproportionately harms a protected group, even without explicit intent to discriminate.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Fairness: Mitigating Bias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Pre-processing techniques: Include data augmentation for underrepresented groups, re-weighting training samples, or debiasing word embeddings to remove social stereotypes.</a:t>
            </a:r>
          </a:p>
          <a:p>
            <a:r>
              <a:t>In-processing techniques: Modify the learning algorithm itself, such as adding fairness constraints to the objective function or using adversarial debiasing methods during training.</a:t>
            </a:r>
          </a:p>
          <a:p>
            <a:r>
              <a:t>Post-processing techniques: Adjust the model's predictions after training, for example, by threshold adjustment or re-calibration of scores to achieve fairness goals.</a:t>
            </a:r>
          </a:p>
          <a:p>
            <a:r>
              <a:t>Transparency and Explainability (XAI): Critical for identifying and diagnosing bias by understanding how models arrive at their decisions.</a:t>
            </a:r>
          </a:p>
          <a:p>
            <a:r>
              <a:t>Human-in-the-loop systems, regular auditing, and diverse development teams are essential for continuous monitoring and ethical oversight of AI systems.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Concerns: AI and Data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systems, particularly those involving machine learning, are inherently data-intensive, often requiring vast amounts of personal information for training and operation.</a:t>
            </a:r>
          </a:p>
          <a:p>
            <a:r>
              <a:t>This reliance on data raises significant privacy concerns, including unauthorized access, re-identification risks, and misuse of sensitive personal data.</a:t>
            </a:r>
          </a:p>
          <a:p>
            <a:r>
              <a:t>Privacy concerns span the entire data lifecycle: collection, storage, processing, sharing, and eventual deletion.</a:t>
            </a:r>
          </a:p>
          <a:p>
            <a:r>
              <a:t>The ability of AI to infer highly personal attributes (e.g., health conditions, sexual orientation, political views) from seemingly innocuous data poses a major threat to privacy.</a:t>
            </a:r>
          </a:p>
          <a:p>
            <a:r>
              <a:t>Balancing the benefits of data-driven AI with individuals' fundamental right to privacy is a critical ethical and regulatory challenge.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Concerns: Data Collection and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Informed consent is paramount: individuals must clearly understand what data is being collected, how it will be used, and their rights regarding that data.</a:t>
            </a:r>
          </a:p>
          <a:p>
            <a:r>
              <a:t>Data minimization principle: AI systems should only collect and retain the minimum amount of personal data necessary for their stated purpose.</a:t>
            </a:r>
          </a:p>
          <a:p>
            <a:r>
              <a:t>Secure data storage is essential to prevent unauthorized access, breaches, and data exfiltration, employing robust encryption and access controls.</a:t>
            </a:r>
          </a:p>
          <a:p>
            <a:r>
              <a:t>Data retention policies dictate how long personal data can be stored, ensuring it is deleted when no longer necessary or legally required.</a:t>
            </a:r>
          </a:p>
          <a:p>
            <a:r>
              <a:t>The increasing prevalence of connected devices (IoT) and pervasive sensing expands the scope of data collection, amplifying privacy risks.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Concerns: Anonymization and De-identification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Anonymization aims to irreversibly remove or encrypt personal identifiers from data so that individuals cannot be linked to it.</a:t>
            </a:r>
          </a:p>
          <a:p>
            <a:r>
              <a:t>Pseudonymization replaces direct identifiers with artificial identifiers, making it difficult but not impossible to re-identify individuals.</a:t>
            </a:r>
          </a:p>
          <a:p>
            <a:r>
              <a:t>K-anonymity ensures that each record in a dataset is indistinguishable from at least K-1 other records based on quasi-identifiers, preventing linking attacks.</a:t>
            </a:r>
          </a:p>
          <a:p>
            <a:r>
              <a:t>L-diversity extends k-anonymity by requiring diversity in sensitive attributes within each k-anonymous group, protecting against attribute disclosure.</a:t>
            </a:r>
          </a:p>
          <a:p>
            <a:r>
              <a:t>Differential Privacy adds random noise to data or queries to protect individual records, guaranteeing that the presence or absence of any single data point does not significantly affect the output.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Concerns: Privacy-Preserving AI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Federated Learning allows AI models to be trained on decentralized datasets (e.g., on individual devices) without raw data ever leaving the source, protecting privacy.</a:t>
            </a:r>
          </a:p>
          <a:p>
            <a:r>
              <a:t>Homomorphic Encryption enables computations to be performed directly on encrypted data, yielding an encrypted result that, when decrypted, matches the result of the same computation on plaintext data.</a:t>
            </a:r>
          </a:p>
          <a:p>
            <a:r>
              <a:t>Secure Multi-Party Computation (SMC) allows multiple parties to jointly compute a function over their inputs while keeping those inputs private.</a:t>
            </a:r>
          </a:p>
          <a:p>
            <a:r>
              <a:t>Trusted Execution Environments (TEEs) provide hardware-level isolation for data and computation, creating a secure enclave where AI models can process sensitive information.</a:t>
            </a:r>
          </a:p>
          <a:p>
            <a:r>
              <a:t>Synthetic Data Generation creates artificial data that statistically mimics real data but contains no actual personal information, suitable for model training and testing.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Concerns: Regulatory Frameworks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Data Protection Regulation (GDPR) in the EU sets strict rules for data protection and privacy, granting individuals significant control over their personal data.</a:t>
            </a:r>
          </a:p>
          <a:p>
            <a:r>
              <a:t>California Consumer Privacy Act (CCPA) and its successor CPRA provide California residents with rights similar to GDPR concerning their personal information.</a:t>
            </a:r>
          </a:p>
          <a:p>
            <a:r>
              <a:t>Personal Information Protection Law (PIPL) in China similarly imposes stringent requirements on data processing, storage, and cross-border transfer.</a:t>
            </a:r>
          </a:p>
          <a:p>
            <a:r>
              <a:t>These regulations mandate transparent data practices, require explicit consent, enforce data breach notifications, and stipulate severe penalties for non-compliance.</a:t>
            </a:r>
          </a:p>
          <a:p>
            <a:r>
              <a:t>Compliance with these evolving legal frameworks is crucial for organizations developing and deploying AI systems, often requiring privacy-by-design principles.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(XAI): Unveiling the Black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Explainable AI (XAI) is a field of AI research focused on developing methods and techniques that allow humans to understand the output of AI models.</a:t>
            </a:r>
          </a:p>
          <a:p>
            <a:r>
              <a:t>The 'black box' problem refers to the opaque nature of complex AI models (especially deep neural networks), where their decision-making process is not readily interpretable.</a:t>
            </a:r>
          </a:p>
          <a:p>
            <a:r>
              <a:t>XAI addresses the growing need for transparency, trust, and accountability in AI systems, particularly in high-stakes domains like healthcare, finance, and criminal justice.</a:t>
            </a:r>
          </a:p>
          <a:p>
            <a:r>
              <a:t>Understanding model decisions is crucial for debugging, identifying biases, ensuring fairness, and complying with regulatory requirements.</a:t>
            </a:r>
          </a:p>
          <a:p>
            <a:r>
              <a:t>It aims to provide insights into *why* an AI system made a particular prediction or decision, not just *what* the prediction was.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(XAI): Dimensions of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Transparency: Refers to how easily one can understand the internal workings of a model (e.g., rule-based systems are transparent, deep networks are not).</a:t>
            </a:r>
          </a:p>
          <a:p>
            <a:r>
              <a:t>Interpretability: The degree to which a human can understand the cause and effect of a model's behavior, allowing them to comprehend the relationship between input and output.</a:t>
            </a:r>
          </a:p>
          <a:p>
            <a:r>
              <a:t>Fidelity: How accurately the explanation reflects the underlying model's behavior, ensuring the explanation is not misleading.</a:t>
            </a:r>
          </a:p>
          <a:p>
            <a:r>
              <a:t>Comprehensibility: How easily a human can understand the explanation provided, tailored to the target audience (e.g., domain expert vs. layperson).</a:t>
            </a:r>
          </a:p>
          <a:p>
            <a:r>
              <a:t>Trustworthiness: The degree to which users can rely on the model's decisions and the explanations provided.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(XAI): Post-hoc Explainability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Post-hoc explanations are generated *after* a model has been trained, attempting to shed light on its predictions without altering its internal structure.</a:t>
            </a:r>
          </a:p>
          <a:p>
            <a:r>
              <a:t>LIME (Local Interpretable Model-agnostic Explanations) explains individual predictions by training a simple, interpretable model locally around the prediction point.</a:t>
            </a:r>
          </a:p>
          <a:p>
            <a:r>
              <a:t>SHAP (SHapley Additive exPlanations) uses concepts from cooperative game theory to assign an importance value (Shapley value) to each feature for a given prediction.</a:t>
            </a:r>
          </a:p>
          <a:p>
            <a:r>
              <a:t>Partial Dependence Plots (PDPs) show the marginal effect of one or two features on the predicted outcome of a black-box model.</a:t>
            </a:r>
          </a:p>
          <a:p>
            <a:r>
              <a:t>Permutation Feature Importance assesses the importance of a feature by measuring how much the model's performance decreases when that feature's values are randomly shuffled.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(XAI): Inherently Interpretable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Inherently interpretable models are designed from the ground up to be understandable, where their internal logic is transparent to humans.</a:t>
            </a:r>
          </a:p>
          <a:p>
            <a:r>
              <a:t>Linear Regression and Logistic Regression models provide coefficient weights for each feature, directly indicating their impact on the outcome.</a:t>
            </a:r>
          </a:p>
          <a:p>
            <a:r>
              <a:t>Decision Trees and Rule-based Systems offer clear, tree-like structures or sets of IF-THEN rules that are easy for humans to follow and comprehend.</a:t>
            </a:r>
          </a:p>
          <a:p>
            <a:r>
              <a:t>Generalized Additive Models (GAMs) allow for modeling non-linear relationships while maintaining interpretability by showing the individual contribution of each feature.</a:t>
            </a:r>
          </a:p>
          <a:p>
            <a:r>
              <a:t>These models often involve a trade-off between interpretability and predictive power, as complex relationships may not be captured as effectively as by deep learning models.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(XAI): Challenges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Evaluating the quality of explanations is a significant challenge; metrics are often subjective and context-dependent, requiring human evaluation.</a:t>
            </a:r>
          </a:p>
          <a:p>
            <a:r>
              <a:t>The trade-off between explainability and model performance often means that highly accurate complex models are less interpretable.</a:t>
            </a:r>
          </a:p>
          <a:p>
            <a:r>
              <a:t>Ensuring explanations are actionable and useful for different stakeholders (developers, regulators, end-users) requires tailored approaches.</a:t>
            </a:r>
          </a:p>
          <a:p>
            <a:r>
              <a:t>Human-Computer Interaction (HCI) research is crucial for designing effective interfaces that present explanations in an understandable and trustworthy manner.</a:t>
            </a:r>
          </a:p>
          <a:p>
            <a:r>
              <a:t>Future research focuses on developing more robust and consistent XAI methods, integrating explainability directly into model design, and creating personalized explanations.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AI: Emerging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Multimodal AI is an emerging trend that processes and integrates information from multiple modalities, such as text, images, audio, and video, for a richer understanding.</a:t>
            </a:r>
          </a:p>
          <a:p>
            <a:r>
              <a:t>Foundation Models (e.g., large language models) are becoming a central paradigm, pre-trained on vast datasets and adaptable to a wide range of downstream tasks.</a:t>
            </a:r>
          </a:p>
          <a:p>
            <a:r>
              <a:t>Embodied AI focuses on creating intelligent agents that interact with and learn from the physical world through sensory perception and action.</a:t>
            </a:r>
          </a:p>
          <a:p>
            <a:r>
              <a:t>AI for Science: AI is increasingly being used to accelerate scientific discovery in fields like material science, drug discovery, and climate modeling.</a:t>
            </a:r>
          </a:p>
          <a:p>
            <a:r>
              <a:t>Edge AI deployment allows AI models to run directly on local devices, improving privacy, reducing latency, and enabling offline functionality.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AI: Advanced Capabilities and AGI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distinction between Narrow AI (task-specific intelligence) and Artificial General Intelligence (AGI), capable of human-like intelligence across diverse tasks, remains a key discussion.</a:t>
            </a:r>
          </a:p>
          <a:p>
            <a:r>
              <a:t>Research is advancing towards more generalizable AI, with LLMs showing emergent capabilities previously thought to require AGI.</a:t>
            </a:r>
          </a:p>
          <a:p>
            <a:r>
              <a:t>Emergent behaviors refer to capabilities that are not explicitly programmed or obvious from a model's design but arise from scale and complexity.</a:t>
            </a:r>
          </a:p>
          <a:p>
            <a:r>
              <a:t>The concept of Superintelligence, an intellect significantly smarter than the best human brains in virtually every field, poses profound questions about humanity's future.</a:t>
            </a:r>
          </a:p>
          <a:p>
            <a:r>
              <a:t>Ongoing efforts aim to develop AI that can perform complex reasoning, possess common sense, and learn continuously from dynamic environments.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AI: Societal Implications and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Healthcare: AI promises revolutionary advancements in diagnostics, personalized medicine, drug discovery, and surgical assistance, extending human lifespan and improving quality of life.</a:t>
            </a:r>
          </a:p>
          <a:p>
            <a:r>
              <a:t>Education: AI-powered adaptive learning platforms can personalize educational experiences, provide intelligent tutoring, and make learning more accessible.</a:t>
            </a:r>
          </a:p>
          <a:p>
            <a:r>
              <a:t>Climate Change: AI can optimize energy grids, model climate patterns, develop sustainable materials, and manage natural resources more efficiently to combat environmental crises.</a:t>
            </a:r>
          </a:p>
          <a:p>
            <a:r>
              <a:t>Creative Industries: AI is becoming a powerful tool for artists, musicians, and writers, assisting in content generation, design, and new forms of creative expression.</a:t>
            </a:r>
          </a:p>
          <a:p>
            <a:r>
              <a:t>Economic Transformation: AI can boost productivity, drive innovation, and create new industries, but also demands thoughtful policy for workforce adaptation and equitable distribution of benefits.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AI: Risks and Challenges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'control problem' or AI alignment problem focuses on how to ensure highly intelligent AI systems operate in accordance with human values and intentions, preventing unintended harm.</a:t>
            </a:r>
          </a:p>
          <a:p>
            <a:r>
              <a:t>Existential Risk: Concerns that misaligned or runaway superintelligence could pose an existential threat to humanity, as theorized by some researchers.</a:t>
            </a:r>
          </a:p>
          <a:p>
            <a:r>
              <a:t>Weaponization of AI: The development of autonomous weapon systems raises profound ethical questions about moral responsibility and the future of warfare.</a:t>
            </a:r>
          </a:p>
          <a:p>
            <a:r>
              <a:t>Economic Disruption: Further automation could lead to mass unemployment and widening wealth inequality if not managed with proactive social and economic policies.</a:t>
            </a:r>
          </a:p>
          <a:p>
            <a:r>
              <a:t>Misinformation and Manipulation: Advanced generative AI can produce highly convincing fake content (deepfakes, fake news), posing threats to democracy and public trust.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AI: Responsible Development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International cooperation and multi-stakeholder engagement are crucial for establishing global norms and standards for AI development and deployment.</a:t>
            </a:r>
          </a:p>
          <a:p>
            <a:r>
              <a:t>Developing comprehensive ethical guidelines and regulatory frameworks (e.g., AI Acts) is essential to govern the responsible creation and use of AI technologies.</a:t>
            </a:r>
          </a:p>
          <a:p>
            <a:r>
              <a:t>Investment in AI safety research, focusing on alignment, robustness, and interpretability, is critical to mitigate potential risks.</a:t>
            </a:r>
          </a:p>
          <a:p>
            <a:r>
              <a:t>Promoting AI literacy and public education is vital to enable informed societal discourse and democratic participation in shaping AI's future.</a:t>
            </a:r>
          </a:p>
          <a:p>
            <a:r>
              <a:t>Fostering diverse and inclusive AI development teams helps ensure that ethical considerations and societal impacts are broadly represented and addressed.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